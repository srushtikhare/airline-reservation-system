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3"/>
  </p:sldMasterIdLst>
  <p:sldIdLst>
    <p:sldId id="256" r:id="rId4"/>
    <p:sldId id="263" r:id="rId5"/>
    <p:sldId id="264" r:id="rId6"/>
    <p:sldId id="266" r:id="rId7"/>
    <p:sldId id="268" r:id="rId8"/>
    <p:sldId id="269" r:id="rId9"/>
    <p:sldId id="270" r:id="rId10"/>
    <p:sldId id="271" r:id="rId11"/>
    <p:sldId id="272" r:id="rId12"/>
    <p:sldId id="273" r:id="rId13"/>
    <p:sldId id="274" r:id="rId14"/>
    <p:sldId id="275" r:id="rId15"/>
    <p:sldId id="27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60"/>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tags" Target="../tags/tag63.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tags" Target="../tags/tag69.xml"/><Relationship Id="rId2" Type="http://schemas.openxmlformats.org/officeDocument/2006/relationships/tags" Target="../tags/tag68.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6" Type="http://schemas.openxmlformats.org/officeDocument/2006/relationships/tags" Target="../tags/tag77.xml"/><Relationship Id="rId5" Type="http://schemas.openxmlformats.org/officeDocument/2006/relationships/tags" Target="../tags/tag76.xml"/><Relationship Id="rId4" Type="http://schemas.openxmlformats.org/officeDocument/2006/relationships/tags" Target="../tags/tag75.xml"/><Relationship Id="rId3" Type="http://schemas.openxmlformats.org/officeDocument/2006/relationships/tags" Target="../tags/tag74.xml"/><Relationship Id="rId2" Type="http://schemas.openxmlformats.org/officeDocument/2006/relationships/tags" Target="../tags/tag73.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83.xml"/><Relationship Id="rId6" Type="http://schemas.openxmlformats.org/officeDocument/2006/relationships/tags" Target="../tags/tag82.xml"/><Relationship Id="rId5" Type="http://schemas.openxmlformats.org/officeDocument/2006/relationships/tags" Target="../tags/tag81.xml"/><Relationship Id="rId4" Type="http://schemas.openxmlformats.org/officeDocument/2006/relationships/tags" Target="../tags/tag80.xml"/><Relationship Id="rId3" Type="http://schemas.openxmlformats.org/officeDocument/2006/relationships/tags" Target="../tags/tag79.xml"/><Relationship Id="rId2" Type="http://schemas.openxmlformats.org/officeDocument/2006/relationships/tags" Target="../tags/tag78.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9" Type="http://schemas.openxmlformats.org/officeDocument/2006/relationships/tags" Target="../tags/tag91.xml"/><Relationship Id="rId8" Type="http://schemas.openxmlformats.org/officeDocument/2006/relationships/tags" Target="../tags/tag90.xml"/><Relationship Id="rId7" Type="http://schemas.openxmlformats.org/officeDocument/2006/relationships/tags" Target="../tags/tag89.xml"/><Relationship Id="rId6" Type="http://schemas.openxmlformats.org/officeDocument/2006/relationships/tags" Target="../tags/tag88.xml"/><Relationship Id="rId5" Type="http://schemas.openxmlformats.org/officeDocument/2006/relationships/tags" Target="../tags/tag87.xml"/><Relationship Id="rId4" Type="http://schemas.openxmlformats.org/officeDocument/2006/relationships/tags" Target="../tags/tag86.xml"/><Relationship Id="rId3" Type="http://schemas.openxmlformats.org/officeDocument/2006/relationships/tags" Target="../tags/tag85.xml"/><Relationship Id="rId2" Type="http://schemas.openxmlformats.org/officeDocument/2006/relationships/tags" Target="../tags/tag84.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95.xml"/><Relationship Id="rId4" Type="http://schemas.openxmlformats.org/officeDocument/2006/relationships/tags" Target="../tags/tag94.xml"/><Relationship Id="rId3" Type="http://schemas.openxmlformats.org/officeDocument/2006/relationships/tags" Target="../tags/tag93.xml"/><Relationship Id="rId2" Type="http://schemas.openxmlformats.org/officeDocument/2006/relationships/tags" Target="../tags/tag92.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4" Type="http://schemas.openxmlformats.org/officeDocument/2006/relationships/tags" Target="../tags/tag98.xml"/><Relationship Id="rId3" Type="http://schemas.openxmlformats.org/officeDocument/2006/relationships/tags" Target="../tags/tag97.xml"/><Relationship Id="rId2" Type="http://schemas.openxmlformats.org/officeDocument/2006/relationships/tags" Target="../tags/tag96.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7" Type="http://schemas.openxmlformats.org/officeDocument/2006/relationships/tags" Target="../tags/tag104.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6" Type="http://schemas.openxmlformats.org/officeDocument/2006/relationships/tags" Target="../tags/tag109.xml"/><Relationship Id="rId5" Type="http://schemas.openxmlformats.org/officeDocument/2006/relationships/tags" Target="../tags/tag108.xml"/><Relationship Id="rId4" Type="http://schemas.openxmlformats.org/officeDocument/2006/relationships/tags" Target="../tags/tag107.xml"/><Relationship Id="rId3" Type="http://schemas.openxmlformats.org/officeDocument/2006/relationships/tags" Target="../tags/tag106.xml"/><Relationship Id="rId2" Type="http://schemas.openxmlformats.org/officeDocument/2006/relationships/tags" Target="../tags/tag105.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5" Type="http://schemas.openxmlformats.org/officeDocument/2006/relationships/tags" Target="../tags/tag113.xml"/><Relationship Id="rId4" Type="http://schemas.openxmlformats.org/officeDocument/2006/relationships/tags" Target="../tags/tag112.xml"/><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118.xml"/><Relationship Id="rId5" Type="http://schemas.openxmlformats.org/officeDocument/2006/relationships/tags" Target="../tags/tag117.xml"/><Relationship Id="rId4" Type="http://schemas.openxmlformats.org/officeDocument/2006/relationships/tags" Target="../tags/tag116.xml"/><Relationship Id="rId3" Type="http://schemas.openxmlformats.org/officeDocument/2006/relationships/tags" Target="../tags/tag115.xml"/><Relationship Id="rId2" Type="http://schemas.openxmlformats.org/officeDocument/2006/relationships/tags" Target="../tags/tag114.xml"/><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9AE70B2-8BF9-45C0-BB95-33D1B9D3A854}"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1.xml"/><Relationship Id="rId8" Type="http://schemas.openxmlformats.org/officeDocument/2006/relationships/slideLayout" Target="../slideLayouts/slideLayout20.xml"/><Relationship Id="rId7" Type="http://schemas.openxmlformats.org/officeDocument/2006/relationships/slideLayout" Target="../slideLayouts/slideLayout19.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 Id="rId3" Type="http://schemas.openxmlformats.org/officeDocument/2006/relationships/slideLayout" Target="../slideLayouts/slideLayout15.xml"/><Relationship Id="rId2" Type="http://schemas.openxmlformats.org/officeDocument/2006/relationships/slideLayout" Target="../slideLayouts/slideLayout14.xml"/><Relationship Id="rId19" Type="http://schemas.openxmlformats.org/officeDocument/2006/relationships/theme" Target="../theme/theme2.xml"/><Relationship Id="rId18" Type="http://schemas.openxmlformats.org/officeDocument/2006/relationships/tags" Target="../tags/tag124.xml"/><Relationship Id="rId17" Type="http://schemas.openxmlformats.org/officeDocument/2006/relationships/tags" Target="../tags/tag123.xml"/><Relationship Id="rId16" Type="http://schemas.openxmlformats.org/officeDocument/2006/relationships/tags" Target="../tags/tag122.xml"/><Relationship Id="rId15" Type="http://schemas.openxmlformats.org/officeDocument/2006/relationships/tags" Target="../tags/tag121.xml"/><Relationship Id="rId14" Type="http://schemas.openxmlformats.org/officeDocument/2006/relationships/tags" Target="../tags/tag120.xml"/><Relationship Id="rId13" Type="http://schemas.openxmlformats.org/officeDocument/2006/relationships/tags" Target="../tags/tag119.xml"/><Relationship Id="rId12" Type="http://schemas.openxmlformats.org/officeDocument/2006/relationships/slideLayout" Target="../slideLayouts/slideLayout24.xml"/><Relationship Id="rId11" Type="http://schemas.openxmlformats.org/officeDocument/2006/relationships/slideLayout" Target="../slideLayouts/slideLayout23.xml"/><Relationship Id="rId10" Type="http://schemas.openxmlformats.org/officeDocument/2006/relationships/slideLayout" Target="../slideLayouts/slideLayout2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3"/>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4"/>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5"/>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6"/>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7"/>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8"/>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3"/>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4"/>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5"/>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6"/>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7"/>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8"/>
    </p:custData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125.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126.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129.xml"/><Relationship Id="rId3" Type="http://schemas.openxmlformats.org/officeDocument/2006/relationships/image" Target="../media/image3.png"/><Relationship Id="rId2" Type="http://schemas.openxmlformats.org/officeDocument/2006/relationships/tags" Target="../tags/tag128.xml"/><Relationship Id="rId1" Type="http://schemas.openxmlformats.org/officeDocument/2006/relationships/tags" Target="../tags/tag127.xml"/></Relationships>
</file>

<file path=ppt/slides/_rels/slide4.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31.xml"/><Relationship Id="rId2" Type="http://schemas.openxmlformats.org/officeDocument/2006/relationships/image" Target="../media/image4.png"/><Relationship Id="rId1" Type="http://schemas.openxmlformats.org/officeDocument/2006/relationships/tags" Target="../tags/tag130.xml"/></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33.xml"/><Relationship Id="rId2" Type="http://schemas.openxmlformats.org/officeDocument/2006/relationships/image" Target="../media/image5.png"/><Relationship Id="rId1" Type="http://schemas.openxmlformats.org/officeDocument/2006/relationships/tags" Target="../tags/tag132.xml"/></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35.xml"/><Relationship Id="rId2" Type="http://schemas.openxmlformats.org/officeDocument/2006/relationships/image" Target="../media/image6.png"/><Relationship Id="rId1" Type="http://schemas.openxmlformats.org/officeDocument/2006/relationships/tags" Target="../tags/tag134.xml"/></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37.xml"/><Relationship Id="rId2" Type="http://schemas.openxmlformats.org/officeDocument/2006/relationships/image" Target="../media/image7.png"/><Relationship Id="rId1" Type="http://schemas.openxmlformats.org/officeDocument/2006/relationships/tags" Target="../tags/tag136.xml"/></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39.xml"/><Relationship Id="rId2" Type="http://schemas.openxmlformats.org/officeDocument/2006/relationships/image" Target="../media/image8.png"/><Relationship Id="rId1" Type="http://schemas.openxmlformats.org/officeDocument/2006/relationships/tags" Target="../tags/tag138.xml"/></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41.xml"/><Relationship Id="rId2" Type="http://schemas.openxmlformats.org/officeDocument/2006/relationships/image" Target="../media/image9.png"/><Relationship Id="rId1" Type="http://schemas.openxmlformats.org/officeDocument/2006/relationships/tags" Target="../tags/tag140.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18.xml"/><Relationship Id="rId3" Type="http://schemas.openxmlformats.org/officeDocument/2006/relationships/tags" Target="../tags/tag143.xml"/><Relationship Id="rId2" Type="http://schemas.openxmlformats.org/officeDocument/2006/relationships/image" Target="../media/image10.png"/><Relationship Id="rId1" Type="http://schemas.openxmlformats.org/officeDocument/2006/relationships/tags" Target="../tags/tag14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5.xml"/><Relationship Id="rId1" Type="http://schemas.openxmlformats.org/officeDocument/2006/relationships/tags" Target="../tags/tag144.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7.xml"/><Relationship Id="rId1" Type="http://schemas.openxmlformats.org/officeDocument/2006/relationships/tags" Target="../tags/tag146.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9.xml"/><Relationship Id="rId1" Type="http://schemas.openxmlformats.org/officeDocument/2006/relationships/tags" Target="../tags/tag1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hatGPT Image Jul 30, 2026, 07_45_14 PM"/>
          <p:cNvPicPr>
            <a:picLocks noChangeAspect="1"/>
          </p:cNvPicPr>
          <p:nvPr/>
        </p:nvPicPr>
        <p:blipFill>
          <a:blip r:embed="rId1"/>
          <a:stretch>
            <a:fillRect/>
          </a:stretch>
        </p:blipFill>
        <p:spPr>
          <a:xfrm>
            <a:off x="0" y="0"/>
            <a:ext cx="12192000" cy="6858000"/>
          </a:xfrm>
          <a:prstGeom prst="rect">
            <a:avLst/>
          </a:prstGeom>
        </p:spPr>
      </p:pic>
    </p:spTree>
    <p:custDataLst>
      <p:tags r:id="rId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ChatGPT Image Jul 30, 2026, 08_07_18 PM"/>
          <p:cNvPicPr>
            <a:picLocks noChangeAspect="1"/>
          </p:cNvPicPr>
          <p:nvPr/>
        </p:nvPicPr>
        <p:blipFill>
          <a:blip r:embed="rId1"/>
          <a:stretch>
            <a:fillRect/>
          </a:stretch>
        </p:blipFill>
        <p:spPr>
          <a:xfrm>
            <a:off x="3175" y="0"/>
            <a:ext cx="12185015" cy="6858000"/>
          </a:xfrm>
          <a:prstGeom prst="rect">
            <a:avLst/>
          </a:prstGeom>
        </p:spPr>
      </p:pic>
    </p:spTree>
    <p:custDataLst>
      <p:tags r:id="rId2"/>
    </p:custDataLst>
  </p:cSld>
  <p:clrMapOvr>
    <a:masterClrMapping/>
  </p:clrMapOvr>
  <mc:AlternateContent xmlns:mc="http://schemas.openxmlformats.org/markup-compatibility/2006">
    <mc:Choice xmlns:p14="http://schemas.microsoft.com/office/powerpoint/2010/main" Requires="p14">
      <p:transition spd="med" p14:dur="699"/>
    </mc:Choice>
    <mc:Fallback>
      <p:transition spd="med"/>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0730" cy="786765"/>
          </a:xfrm>
        </p:spPr>
        <p:style>
          <a:lnRef idx="2">
            <a:schemeClr val="accent1"/>
          </a:lnRef>
          <a:fillRef idx="2">
            <a:schemeClr val="accent1"/>
          </a:fillRef>
          <a:effectRef idx="0">
            <a:srgbClr val="FFFFFF"/>
          </a:effectRef>
          <a:fontRef idx="minor">
            <a:schemeClr val="lt1"/>
          </a:fontRef>
        </p:style>
        <p:txBody>
          <a:bodyPr/>
          <a:p>
            <a:pPr algn="ctr">
              <a:lnSpc>
                <a:spcPct val="100000"/>
              </a:lnSpc>
            </a:pPr>
            <a:r>
              <a:rPr lang="en-US" sz="4000" b="1">
                <a:solidFill>
                  <a:schemeClr val="accent1">
                    <a:lumMod val="50000"/>
                  </a:schemeClr>
                </a:solidFill>
                <a:latin typeface="Cambria" panose="02040503050406030204" charset="0"/>
                <a:cs typeface="Cambria" panose="02040503050406030204" charset="0"/>
              </a:rPr>
              <a:t>ER-Diagram</a:t>
            </a:r>
            <a:endParaRPr lang="en-US" sz="4000" b="1">
              <a:solidFill>
                <a:schemeClr val="accent1">
                  <a:lumMod val="50000"/>
                </a:schemeClr>
              </a:solidFill>
              <a:latin typeface="Cambria" panose="02040503050406030204" charset="0"/>
              <a:cs typeface="Cambria" panose="02040503050406030204" charset="0"/>
            </a:endParaRPr>
          </a:p>
        </p:txBody>
      </p:sp>
      <p:pic>
        <p:nvPicPr>
          <p:cNvPr id="7" name="Content Placeholder 6" descr="ER Diagram"/>
          <p:cNvPicPr>
            <a:picLocks noChangeAspect="1"/>
          </p:cNvPicPr>
          <p:nvPr>
            <p:ph idx="1"/>
            <p:custDataLst>
              <p:tags r:id="rId2"/>
            </p:custDataLst>
          </p:nvPr>
        </p:nvPicPr>
        <p:blipFill>
          <a:blip r:embed="rId3"/>
          <a:stretch>
            <a:fillRect/>
          </a:stretch>
        </p:blipFill>
        <p:spPr>
          <a:xfrm>
            <a:off x="0" y="787400"/>
            <a:ext cx="12191365" cy="6070600"/>
          </a:xfrm>
          <a:prstGeom prst="rect">
            <a:avLst/>
          </a:prstGeom>
        </p:spPr>
      </p:pic>
    </p:spTree>
    <p:custDataLst>
      <p:tags r:id="rId4"/>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1: Airlines</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rcRect t="549"/>
          <a:stretch>
            <a:fillRect/>
          </a:stretch>
        </p:blipFill>
        <p:spPr>
          <a:xfrm>
            <a:off x="0" y="825500"/>
            <a:ext cx="6095365" cy="3794125"/>
          </a:xfrm>
          <a:prstGeom prst="rect">
            <a:avLst/>
          </a:prstGeom>
        </p:spPr>
      </p:pic>
      <p:sp>
        <p:nvSpPr>
          <p:cNvPr id="3" name="Text Box 2"/>
          <p:cNvSpPr txBox="1"/>
          <p:nvPr/>
        </p:nvSpPr>
        <p:spPr>
          <a:xfrm>
            <a:off x="6404610" y="1183005"/>
            <a:ext cx="5787390" cy="5674995"/>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Airlines Table</a:t>
            </a:r>
            <a:endParaRPr lang="en-US" sz="3200" b="1">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This table stores information about different airlines operating flights in the system. It contains details such as airline identification, airline name, country, and contact information. The table helps maintain airline-related records and establishes a relationship with the Flights table for managing flight operations.</a:t>
            </a:r>
            <a:r>
              <a:rPr lang="en-US" sz="2400">
                <a:solidFill>
                  <a:srgbClr val="002060"/>
                </a:solidFill>
                <a:latin typeface="Cambria" panose="02040503050406030204" charset="0"/>
                <a:cs typeface="Cambria" panose="02040503050406030204" charset="0"/>
              </a:rPr>
              <a:t> </a:t>
            </a:r>
            <a:endParaRPr lang="en-US" sz="2400">
              <a:solidFill>
                <a:srgbClr val="002060"/>
              </a:solidFill>
              <a:latin typeface="Cambria" panose="02040503050406030204" charset="0"/>
              <a:cs typeface="Cambria" panose="02040503050406030204" charset="0"/>
            </a:endParaRPr>
          </a:p>
          <a:p>
            <a:endParaRPr lang="en-US" sz="2400">
              <a:solidFill>
                <a:srgbClr val="002060"/>
              </a:solidFill>
              <a:latin typeface="Cambria" panose="02040503050406030204" charset="0"/>
              <a:cs typeface="Cambria" panose="02040503050406030204" charset="0"/>
            </a:endParaRPr>
          </a:p>
          <a:p>
            <a:r>
              <a:rPr lang="en-US" sz="2400">
                <a:solidFill>
                  <a:srgbClr val="002060"/>
                </a:solidFill>
                <a:latin typeface="Cambria" panose="02040503050406030204" charset="0"/>
                <a:cs typeface="Cambria" panose="02040503050406030204" charset="0"/>
              </a:rPr>
              <a:t>SYNTAX:- DESC Airlines;</a:t>
            </a:r>
            <a:endParaRPr 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2: Airports</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tretch>
            <a:fillRect/>
          </a:stretch>
        </p:blipFill>
        <p:spPr>
          <a:xfrm>
            <a:off x="-635" y="805180"/>
            <a:ext cx="6096000" cy="5052060"/>
          </a:xfrm>
          <a:prstGeom prst="rect">
            <a:avLst/>
          </a:prstGeom>
        </p:spPr>
      </p:pic>
      <p:sp>
        <p:nvSpPr>
          <p:cNvPr id="3" name="Text Box 2"/>
          <p:cNvSpPr txBox="1"/>
          <p:nvPr/>
        </p:nvSpPr>
        <p:spPr>
          <a:xfrm>
            <a:off x="6544310" y="1333500"/>
            <a:ext cx="5023485" cy="2424430"/>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Airports Table</a:t>
            </a:r>
            <a:endParaRPr lang="en-US"/>
          </a:p>
          <a:p>
            <a:r>
              <a:rPr lang="en-US" altLang="en-US" sz="2400">
                <a:solidFill>
                  <a:srgbClr val="002060"/>
                </a:solidFill>
                <a:latin typeface="Cambria" panose="02040503050406030204" charset="0"/>
                <a:cs typeface="Cambria" panose="02040503050406030204" charset="0"/>
              </a:rPr>
              <a:t>This table stores information about different airports involved in flight operations. It contains details such as airport identification, airport name, city, country, and airport code. The table helps manage departure and arrival locations of flights and maintains airport-related records within the airline reservation system.</a:t>
            </a:r>
            <a:endParaRPr lang="en-US" altLang="en-US" sz="2400">
              <a:solidFill>
                <a:srgbClr val="002060"/>
              </a:solidFill>
              <a:latin typeface="Cambria" panose="02040503050406030204" charset="0"/>
              <a:cs typeface="Cambria" panose="02040503050406030204" charset="0"/>
            </a:endParaRPr>
          </a:p>
          <a:p>
            <a:endParaRPr lang="en-US" alt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SYNTAX:- DESC Airports;</a:t>
            </a:r>
            <a:endParaRPr lang="en-US" alt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3: Flights</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tretch>
            <a:fillRect/>
          </a:stretch>
        </p:blipFill>
        <p:spPr>
          <a:xfrm>
            <a:off x="-635" y="805180"/>
            <a:ext cx="6096635" cy="5250815"/>
          </a:xfrm>
          <a:prstGeom prst="rect">
            <a:avLst/>
          </a:prstGeom>
        </p:spPr>
      </p:pic>
      <p:sp>
        <p:nvSpPr>
          <p:cNvPr id="3" name="Text Box 2"/>
          <p:cNvSpPr txBox="1"/>
          <p:nvPr/>
        </p:nvSpPr>
        <p:spPr>
          <a:xfrm>
            <a:off x="6470650" y="1132840"/>
            <a:ext cx="5426075" cy="5724525"/>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Flights Table</a:t>
            </a:r>
            <a:endParaRPr 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This table stores information about all flights available in the airline reservation system. It contains details such as flight identification, flight number, airline information, departure and arrival locations, travel dates, and flight timing. The table helps manage flight schedules and establishes relationships between airlines, airports, and ticket bookings.</a:t>
            </a:r>
            <a:endParaRPr lang="en-US" altLang="en-US" sz="2400">
              <a:solidFill>
                <a:srgbClr val="002060"/>
              </a:solidFill>
              <a:latin typeface="Cambria" panose="02040503050406030204" charset="0"/>
              <a:cs typeface="Cambria" panose="02040503050406030204" charset="0"/>
            </a:endParaRPr>
          </a:p>
          <a:p>
            <a:endParaRPr lang="en-US" alt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SYNTAX:- DESC Flights;</a:t>
            </a:r>
            <a:endParaRPr lang="en-US" alt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4: Passengers</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rcRect b="8325"/>
          <a:stretch>
            <a:fillRect/>
          </a:stretch>
        </p:blipFill>
        <p:spPr>
          <a:xfrm>
            <a:off x="0" y="805180"/>
            <a:ext cx="6095365" cy="4700905"/>
          </a:xfrm>
          <a:prstGeom prst="rect">
            <a:avLst/>
          </a:prstGeom>
        </p:spPr>
      </p:pic>
      <p:sp>
        <p:nvSpPr>
          <p:cNvPr id="3" name="Text Box 2"/>
          <p:cNvSpPr txBox="1"/>
          <p:nvPr/>
        </p:nvSpPr>
        <p:spPr>
          <a:xfrm>
            <a:off x="6541135" y="1126490"/>
            <a:ext cx="5650230" cy="5731510"/>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Passengers Table</a:t>
            </a:r>
            <a:endParaRPr lang="en-US" sz="2800" b="1">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This table stores information about passengers who use the airline reservation system. It contains personal details of passengers such as their identification number, name, contact information, and other relevant details required for ticket booking and travel management. The table helps maintain passenger records and establishes a relationship with ticket bookings.</a:t>
            </a:r>
            <a:endParaRPr lang="en-US" altLang="en-US" sz="2400">
              <a:solidFill>
                <a:srgbClr val="002060"/>
              </a:solidFill>
              <a:latin typeface="Cambria" panose="02040503050406030204" charset="0"/>
              <a:cs typeface="Cambria" panose="02040503050406030204" charset="0"/>
            </a:endParaRPr>
          </a:p>
          <a:p>
            <a:endParaRPr lang="en-US" alt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SYNTAX:- DESC Passengers;</a:t>
            </a:r>
            <a:endParaRPr lang="en-US" alt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5: Tickets</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tretch>
            <a:fillRect/>
          </a:stretch>
        </p:blipFill>
        <p:spPr>
          <a:xfrm>
            <a:off x="0" y="805180"/>
            <a:ext cx="6096000" cy="4612005"/>
          </a:xfrm>
          <a:prstGeom prst="rect">
            <a:avLst/>
          </a:prstGeom>
        </p:spPr>
      </p:pic>
      <p:sp>
        <p:nvSpPr>
          <p:cNvPr id="3" name="Text Box 2"/>
          <p:cNvSpPr txBox="1"/>
          <p:nvPr/>
        </p:nvSpPr>
        <p:spPr>
          <a:xfrm>
            <a:off x="6446520" y="1173480"/>
            <a:ext cx="5744210" cy="5683885"/>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Tickets Table</a:t>
            </a:r>
            <a:endParaRPr lang="en-US" sz="2800" b="1">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This table stores information about flight ticket bookings made by passengers in the airline reservation system. It contains details such as ticket identification, passenger details, flight details, seat information, travel class, booking date, and booking status. The table helps manage passenger reservations and maintains the connection between passengers and flights.</a:t>
            </a:r>
            <a:endParaRPr lang="en-US" altLang="en-US" sz="2400">
              <a:solidFill>
                <a:srgbClr val="002060"/>
              </a:solidFill>
              <a:latin typeface="Cambria" panose="02040503050406030204" charset="0"/>
              <a:cs typeface="Cambria" panose="02040503050406030204" charset="0"/>
            </a:endParaRPr>
          </a:p>
          <a:p>
            <a:endParaRPr lang="en-US" alt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SYNTAX:- DESC Tickets;</a:t>
            </a:r>
            <a:endParaRPr lang="en-US" alt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6: Crew</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tretch>
            <a:fillRect/>
          </a:stretch>
        </p:blipFill>
        <p:spPr>
          <a:xfrm>
            <a:off x="-635" y="805180"/>
            <a:ext cx="6096000" cy="3938270"/>
          </a:xfrm>
          <a:prstGeom prst="rect">
            <a:avLst/>
          </a:prstGeom>
        </p:spPr>
      </p:pic>
      <p:sp>
        <p:nvSpPr>
          <p:cNvPr id="3" name="Text Box 2"/>
          <p:cNvSpPr txBox="1"/>
          <p:nvPr/>
        </p:nvSpPr>
        <p:spPr>
          <a:xfrm>
            <a:off x="6496685" y="1075055"/>
            <a:ext cx="5695315" cy="5782945"/>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Crew Table</a:t>
            </a:r>
            <a:endParaRPr lang="en-US" sz="2800" b="1">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This table stores information about the crew members assigned to flights in the airline reservation system. It contains details such as crew identification, name, role, contact information, and assigned flight details. The table helps manage airline staff records and maintains information about crew members responsible for flight operations.</a:t>
            </a:r>
            <a:endParaRPr lang="en-US" altLang="en-US" sz="2400">
              <a:solidFill>
                <a:srgbClr val="002060"/>
              </a:solidFill>
              <a:latin typeface="Cambria" panose="02040503050406030204" charset="0"/>
              <a:cs typeface="Cambria" panose="02040503050406030204" charset="0"/>
            </a:endParaRPr>
          </a:p>
          <a:p>
            <a:endParaRPr lang="en-US" alt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SYNTAX:- DESC Crew;</a:t>
            </a:r>
            <a:endParaRPr lang="en-US" alt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7: Fight_Status</a:t>
            </a:r>
            <a:endParaRPr lang="en-US" altLang="en-US" sz="4000" b="1">
              <a:solidFill>
                <a:srgbClr val="002060"/>
              </a:solidFill>
              <a:latin typeface="Cambria" panose="02040503050406030204" charset="0"/>
              <a:cs typeface="Cambria" panose="02040503050406030204" charset="0"/>
            </a:endParaRPr>
          </a:p>
        </p:txBody>
      </p:sp>
      <p:pic>
        <p:nvPicPr>
          <p:cNvPr id="2" name="Picture 1"/>
          <p:cNvPicPr>
            <a:picLocks noChangeAspect="1"/>
          </p:cNvPicPr>
          <p:nvPr/>
        </p:nvPicPr>
        <p:blipFill>
          <a:blip r:embed="rId2"/>
          <a:stretch>
            <a:fillRect/>
          </a:stretch>
        </p:blipFill>
        <p:spPr>
          <a:xfrm>
            <a:off x="0" y="805180"/>
            <a:ext cx="6096000" cy="4822825"/>
          </a:xfrm>
          <a:prstGeom prst="rect">
            <a:avLst/>
          </a:prstGeom>
        </p:spPr>
      </p:pic>
      <p:sp>
        <p:nvSpPr>
          <p:cNvPr id="3" name="Text Box 2"/>
          <p:cNvSpPr txBox="1"/>
          <p:nvPr/>
        </p:nvSpPr>
        <p:spPr>
          <a:xfrm>
            <a:off x="6459855" y="1123950"/>
            <a:ext cx="5730875" cy="5733415"/>
          </a:xfrm>
          <a:prstGeom prst="rect">
            <a:avLst/>
          </a:prstGeom>
          <a:noFill/>
        </p:spPr>
        <p:txBody>
          <a:bodyPr wrap="square" rtlCol="0">
            <a:noAutofit/>
          </a:bodyPr>
          <a:p>
            <a:r>
              <a:rPr lang="en-US" sz="2800" b="1">
                <a:solidFill>
                  <a:srgbClr val="002060"/>
                </a:solidFill>
                <a:latin typeface="Cambria" panose="02040503050406030204" charset="0"/>
                <a:cs typeface="Cambria" panose="02040503050406030204" charset="0"/>
              </a:rPr>
              <a:t>Flight_Status Table</a:t>
            </a:r>
            <a:endParaRPr lang="en-US" sz="2800" b="1">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This table stores the current and historical status information of flights in the airline reservation system. It contains details such as flight status identification, flight reference, status type, update time, and additional remarks. The table helps track flight operations and provides real-time information about scheduled, delayed, cancelled, or completed flights.</a:t>
            </a:r>
            <a:endParaRPr lang="en-US" altLang="en-US" sz="2400">
              <a:solidFill>
                <a:srgbClr val="002060"/>
              </a:solidFill>
              <a:latin typeface="Cambria" panose="02040503050406030204" charset="0"/>
              <a:cs typeface="Cambria" panose="02040503050406030204" charset="0"/>
            </a:endParaRPr>
          </a:p>
          <a:p>
            <a:endParaRPr lang="en-US" altLang="en-US" sz="2400">
              <a:solidFill>
                <a:srgbClr val="002060"/>
              </a:solidFill>
              <a:latin typeface="Cambria" panose="02040503050406030204" charset="0"/>
              <a:cs typeface="Cambria" panose="02040503050406030204" charset="0"/>
            </a:endParaRPr>
          </a:p>
          <a:p>
            <a:r>
              <a:rPr lang="en-US" altLang="en-US" sz="2400">
                <a:solidFill>
                  <a:srgbClr val="002060"/>
                </a:solidFill>
                <a:latin typeface="Cambria" panose="02040503050406030204" charset="0"/>
                <a:cs typeface="Cambria" panose="02040503050406030204" charset="0"/>
              </a:rPr>
              <a:t>SYNTAX:- DESC Flight_Status;</a:t>
            </a:r>
            <a:endParaRPr lang="en-US" altLang="en-US" sz="2400">
              <a:solidFill>
                <a:srgbClr val="002060"/>
              </a:solidFill>
              <a:latin typeface="Cambria" panose="02040503050406030204" charset="0"/>
              <a:cs typeface="Cambria" panose="02040503050406030204" charset="0"/>
            </a:endParaRPr>
          </a:p>
        </p:txBody>
      </p:sp>
    </p:spTree>
    <p:custDataLst>
      <p:tags r:id="rId3"/>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8: Delays</a:t>
            </a:r>
            <a:endParaRPr lang="en-US" altLang="en-US" sz="4000" b="1">
              <a:solidFill>
                <a:srgbClr val="002060"/>
              </a:solidFill>
              <a:latin typeface="Cambria" panose="02040503050406030204" charset="0"/>
              <a:cs typeface="Cambria" panose="02040503050406030204" charset="0"/>
            </a:endParaRPr>
          </a:p>
        </p:txBody>
      </p:sp>
    </p:spTree>
    <p:custDataLst>
      <p:tags r:id="rId2"/>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9: Payments</a:t>
            </a:r>
            <a:endParaRPr lang="en-US" altLang="en-US" sz="4000" b="1">
              <a:solidFill>
                <a:srgbClr val="002060"/>
              </a:solidFill>
              <a:latin typeface="Cambria" panose="02040503050406030204" charset="0"/>
              <a:cs typeface="Cambria" panose="02040503050406030204" charset="0"/>
            </a:endParaRPr>
          </a:p>
        </p:txBody>
      </p:sp>
    </p:spTree>
    <p:custDataLst>
      <p:tags r:id="rId2"/>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custDataLst>
              <p:tags r:id="rId1"/>
            </p:custDataLst>
          </p:nvPr>
        </p:nvSpPr>
        <p:spPr>
          <a:xfrm>
            <a:off x="-635" y="-635"/>
            <a:ext cx="12192000" cy="805815"/>
          </a:xfrm>
        </p:spPr>
        <p:style>
          <a:lnRef idx="2">
            <a:schemeClr val="accent1"/>
          </a:lnRef>
          <a:fillRef idx="2">
            <a:schemeClr val="accent1"/>
          </a:fillRef>
          <a:effectRef idx="0">
            <a:srgbClr val="FFFFFF"/>
          </a:effectRef>
          <a:fontRef idx="minor">
            <a:schemeClr val="lt1"/>
          </a:fontRef>
        </p:style>
        <p:txBody>
          <a:bodyPr/>
          <a:p>
            <a:pPr algn="ctr"/>
            <a:r>
              <a:rPr lang="en-US" altLang="en-US" sz="4000" b="1">
                <a:solidFill>
                  <a:srgbClr val="002060"/>
                </a:solidFill>
                <a:latin typeface="Cambria" panose="02040503050406030204" charset="0"/>
                <a:cs typeface="Cambria" panose="02040503050406030204" charset="0"/>
              </a:rPr>
              <a:t>Table 10: Baggage</a:t>
            </a:r>
            <a:endParaRPr lang="en-US" altLang="en-US" sz="4000" b="1">
              <a:solidFill>
                <a:srgbClr val="002060"/>
              </a:solidFill>
              <a:latin typeface="Cambria" panose="02040503050406030204" charset="0"/>
              <a:cs typeface="Cambria" panose="02040503050406030204" charset="0"/>
            </a:endParaRPr>
          </a:p>
        </p:txBody>
      </p:sp>
    </p:spTree>
    <p:custDataLst>
      <p:tags r:id="rId2"/>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4.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2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26.xml><?xml version="1.0" encoding="utf-8"?>
<p:tagLst xmlns:p="http://schemas.openxmlformats.org/presentationml/2006/main">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29.xml><?xml version="1.0" encoding="utf-8"?>
<p:tagLst xmlns:p="http://schemas.openxmlformats.org/presentationml/2006/main">
  <p:tag name="KSO_WM_BEAUTIFY_FLAG" val="#wm#"/>
  <p:tag name="KSO_WM_TEMPLATE_CATEGORY" val="custom"/>
  <p:tag name="KSO_WM_TEMPLATE_INDEX" val="20205081"/>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31.xml><?xml version="1.0" encoding="utf-8"?>
<p:tagLst xmlns:p="http://schemas.openxmlformats.org/presentationml/2006/main">
  <p:tag name="KSO_WM_BEAUTIFY_FLAG" val="#wm#"/>
  <p:tag name="KSO_WM_TEMPLATE_CATEGORY" val="custom"/>
  <p:tag name="KSO_WM_TEMPLATE_INDEX" val="20205081"/>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33.xml><?xml version="1.0" encoding="utf-8"?>
<p:tagLst xmlns:p="http://schemas.openxmlformats.org/presentationml/2006/main">
  <p:tag name="KSO_WM_BEAUTIFY_FLAG" val="#wm#"/>
  <p:tag name="KSO_WM_TEMPLATE_CATEGORY" val="custom"/>
  <p:tag name="KSO_WM_TEMPLATE_INDEX" val="20205081"/>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35.xml><?xml version="1.0" encoding="utf-8"?>
<p:tagLst xmlns:p="http://schemas.openxmlformats.org/presentationml/2006/main">
  <p:tag name="KSO_WM_BEAUTIFY_FLAG" val="#wm#"/>
  <p:tag name="KSO_WM_TEMPLATE_CATEGORY" val="custom"/>
  <p:tag name="KSO_WM_TEMPLATE_INDEX" val="20205081"/>
</p:tagLst>
</file>

<file path=ppt/tags/tag1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37.xml><?xml version="1.0" encoding="utf-8"?>
<p:tagLst xmlns:p="http://schemas.openxmlformats.org/presentationml/2006/main">
  <p:tag name="KSO_WM_BEAUTIFY_FLAG" val="#wm#"/>
  <p:tag name="KSO_WM_TEMPLATE_CATEGORY" val="custom"/>
  <p:tag name="KSO_WM_TEMPLATE_INDEX" val="20205081"/>
</p:tagLst>
</file>

<file path=ppt/tags/tag1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39.xml><?xml version="1.0" encoding="utf-8"?>
<p:tagLst xmlns:p="http://schemas.openxmlformats.org/presentationml/2006/main">
  <p:tag name="KSO_WM_BEAUTIFY_FLAG" val="#wm#"/>
  <p:tag name="KSO_WM_TEMPLATE_CATEGORY" val="custom"/>
  <p:tag name="KSO_WM_TEMPLATE_INDEX" val="20205081"/>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41.xml><?xml version="1.0" encoding="utf-8"?>
<p:tagLst xmlns:p="http://schemas.openxmlformats.org/presentationml/2006/main">
  <p:tag name="KSO_WM_BEAUTIFY_FLAG" val="#wm#"/>
  <p:tag name="KSO_WM_TEMPLATE_CATEGORY" val="custom"/>
  <p:tag name="KSO_WM_TEMPLATE_INDEX" val="20205081"/>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43.xml><?xml version="1.0" encoding="utf-8"?>
<p:tagLst xmlns:p="http://schemas.openxmlformats.org/presentationml/2006/main">
  <p:tag name="KSO_WM_BEAUTIFY_FLAG" val="#wm#"/>
  <p:tag name="KSO_WM_TEMPLATE_CATEGORY" val="custom"/>
  <p:tag name="KSO_WM_TEMPLATE_INDEX" val="20205081"/>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45.xml><?xml version="1.0" encoding="utf-8"?>
<p:tagLst xmlns:p="http://schemas.openxmlformats.org/presentationml/2006/main">
  <p:tag name="KSO_WM_BEAUTIFY_FLAG" val="#wm#"/>
  <p:tag name="KSO_WM_TEMPLATE_CATEGORY" val="custom"/>
  <p:tag name="KSO_WM_TEMPLATE_INDEX" val="20205081"/>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47.xml><?xml version="1.0" encoding="utf-8"?>
<p:tagLst xmlns:p="http://schemas.openxmlformats.org/presentationml/2006/main">
  <p:tag name="KSO_WM_BEAUTIFY_FLAG" val="#wm#"/>
  <p:tag name="KSO_WM_TEMPLATE_CATEGORY" val="custom"/>
  <p:tag name="KSO_WM_TEMPLATE_INDEX" val="20205081"/>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49.xml><?xml version="1.0" encoding="utf-8"?>
<p:tagLst xmlns:p="http://schemas.openxmlformats.org/presentationml/2006/main">
  <p:tag name="KSO_WM_BEAUTIFY_FLAG" val="#wm#"/>
  <p:tag name="KSO_WM_TEMPLATE_CATEGORY" val="custom"/>
  <p:tag name="KSO_WM_TEMPLATE_INDEX" val="2020508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2903</Words>
  <Application>WPS Presentation</Application>
  <PresentationFormat>Widescreen</PresentationFormat>
  <Paragraphs>57</Paragraphs>
  <Slides>13</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13</vt:i4>
      </vt:variant>
    </vt:vector>
  </HeadingPairs>
  <TitlesOfParts>
    <vt:vector size="23" baseType="lpstr">
      <vt:lpstr>Arial</vt:lpstr>
      <vt:lpstr>SimSun</vt:lpstr>
      <vt:lpstr>Wingdings</vt:lpstr>
      <vt:lpstr>Wingdings</vt:lpstr>
      <vt:lpstr>Cambria</vt:lpstr>
      <vt:lpstr>Microsoft YaHei</vt:lpstr>
      <vt:lpstr>Arial Unicode MS</vt:lpstr>
      <vt:lpstr>Calibri</vt:lpstr>
      <vt:lpstr>WPS</vt:lpstr>
      <vt:lpstr>1_WPS</vt:lpstr>
      <vt:lpstr>PowerPoint 演示文稿</vt:lpstr>
      <vt:lpstr>PowerPoint 演示文稿</vt:lpstr>
      <vt:lpstr>ER-Diagram</vt:lpstr>
      <vt:lpstr>Table 1: Airlines</vt:lpstr>
      <vt:lpstr>Table 2: Airports</vt:lpstr>
      <vt:lpstr>Table 3: Flights</vt:lpstr>
      <vt:lpstr>Table 4: Passengers</vt:lpstr>
      <vt:lpstr>Table 5: Tickets</vt:lpstr>
      <vt:lpstr>Table 6: Crew</vt:lpstr>
      <vt:lpstr>Table 7: Fight_Status</vt:lpstr>
      <vt:lpstr>Table 8: Delays</vt:lpstr>
      <vt:lpstr>Table 9: Payments</vt:lpstr>
      <vt:lpstr>Table 10: Baggage</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Blank Presentation</dc:title>
  <dc:creator>X260</dc:creator>
  <cp:lastModifiedBy>Prashant Khare</cp:lastModifiedBy>
  <cp:revision>4</cp:revision>
  <dcterms:created xsi:type="dcterms:W3CDTF">2026-07-30T15:45:00Z</dcterms:created>
  <dcterms:modified xsi:type="dcterms:W3CDTF">2026-07-30T18:06:33Z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1033-12.1.0.27458</vt:lpwstr>
  </property>
  <property fmtid="{D5CDD505-2E9C-101B-9397-08002B2CF9AE}" pid="3" name="ICV">
    <vt:lpwstr>01D53DEBF3C94290BE4ABAFCB60C654D_11</vt:lpwstr>
  </property>
</Properties>
</file>
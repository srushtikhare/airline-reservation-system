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Lst>
  <p:notesMasterIdLst>
    <p:notesMasterId r:id="rId24"/>
  </p:notesMasterIdLst>
  <p:sldIdLst>
    <p:sldId id="256" r:id="rId4"/>
    <p:sldId id="263" r:id="rId5"/>
    <p:sldId id="264" r:id="rId6"/>
    <p:sldId id="290" r:id="rId7"/>
    <p:sldId id="266" r:id="rId8"/>
    <p:sldId id="268" r:id="rId9"/>
    <p:sldId id="269" r:id="rId10"/>
    <p:sldId id="270" r:id="rId11"/>
    <p:sldId id="271" r:id="rId12"/>
    <p:sldId id="272" r:id="rId13"/>
    <p:sldId id="273" r:id="rId14"/>
    <p:sldId id="274" r:id="rId15"/>
    <p:sldId id="275" r:id="rId16"/>
    <p:sldId id="276" r:id="rId17"/>
    <p:sldId id="292" r:id="rId18"/>
    <p:sldId id="277" r:id="rId19"/>
    <p:sldId id="278" r:id="rId20"/>
    <p:sldId id="279" r:id="rId21"/>
    <p:sldId id="280" r:id="rId22"/>
    <p:sldId id="281" r:id="rId23"/>
    <p:sldId id="282" r:id="rId25"/>
    <p:sldId id="283" r:id="rId26"/>
    <p:sldId id="284" r:id="rId27"/>
    <p:sldId id="285" r:id="rId28"/>
    <p:sldId id="286" r:id="rId29"/>
    <p:sldId id="294" r:id="rId30"/>
    <p:sldId id="287" r:id="rId31"/>
    <p:sldId id="295" r:id="rId32"/>
    <p:sldId id="296" r:id="rId33"/>
    <p:sldId id="297" r:id="rId34"/>
    <p:sldId id="298" r:id="rId35"/>
    <p:sldId id="299" r:id="rId36"/>
    <p:sldId id="300" r:id="rId37"/>
    <p:sldId id="301" r:id="rId38"/>
    <p:sldId id="302" r:id="rId39"/>
    <p:sldId id="303" r:id="rId40"/>
    <p:sldId id="310" r:id="rId41"/>
    <p:sldId id="304" r:id="rId42"/>
    <p:sldId id="289" r:id="rId43"/>
    <p:sldId id="305" r:id="rId44"/>
    <p:sldId id="306" r:id="rId45"/>
    <p:sldId id="308" r:id="rId46"/>
    <p:sldId id="311" r:id="rId47"/>
    <p:sldId id="309" r:id="rId48"/>
    <p:sldId id="312" r:id="rId49"/>
    <p:sldId id="313" r:id="rId50"/>
    <p:sldId id="316" r:id="rId51"/>
    <p:sldId id="314" r:id="rId52"/>
    <p:sldId id="317" r:id="rId53"/>
    <p:sldId id="318" r:id="rId54"/>
    <p:sldId id="319" r:id="rId55"/>
    <p:sldId id="320" r:id="rId56"/>
    <p:sldId id="322" r:id="rId57"/>
    <p:sldId id="321" r:id="rId58"/>
    <p:sldId id="323" r:id="rId59"/>
    <p:sldId id="324" r:id="rId60"/>
    <p:sldId id="325" r:id="rId61"/>
    <p:sldId id="327" r:id="rId62"/>
    <p:sldId id="326" r:id="rId63"/>
    <p:sldId id="329" r:id="rId64"/>
    <p:sldId id="330" r:id="rId65"/>
    <p:sldId id="328" r:id="rId66"/>
    <p:sldId id="331" r:id="rId6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90B62"/>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0" Type="http://schemas.openxmlformats.org/officeDocument/2006/relationships/tableStyles" Target="tableStyles.xml"/><Relationship Id="rId7" Type="http://schemas.openxmlformats.org/officeDocument/2006/relationships/slide" Target="slides/slide4.xml"/><Relationship Id="rId69" Type="http://schemas.openxmlformats.org/officeDocument/2006/relationships/viewProps" Target="viewProps.xml"/><Relationship Id="rId68" Type="http://schemas.openxmlformats.org/officeDocument/2006/relationships/presProps" Target="presProps.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3.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slide" Target="slides/slide2.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notesMaster" Target="notesMasters/notesMaster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6" Type="http://schemas.openxmlformats.org/officeDocument/2006/relationships/tags" Target="../tags/tag67.xml"/><Relationship Id="rId5" Type="http://schemas.openxmlformats.org/officeDocument/2006/relationships/tags" Target="../tags/tag66.xml"/><Relationship Id="rId4" Type="http://schemas.openxmlformats.org/officeDocument/2006/relationships/tags" Target="../tags/tag65.xml"/><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6" Type="http://schemas.openxmlformats.org/officeDocument/2006/relationships/tags" Target="../tags/tag72.xml"/><Relationship Id="rId5" Type="http://schemas.openxmlformats.org/officeDocument/2006/relationships/tags" Target="../tags/tag71.xml"/><Relationship Id="rId4" Type="http://schemas.openxmlformats.org/officeDocument/2006/relationships/tags" Target="../tags/tag70.xml"/><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6" Type="http://schemas.openxmlformats.org/officeDocument/2006/relationships/tags" Target="../tags/tag77.xml"/><Relationship Id="rId5" Type="http://schemas.openxmlformats.org/officeDocument/2006/relationships/tags" Target="../tags/tag76.xml"/><Relationship Id="rId4" Type="http://schemas.openxmlformats.org/officeDocument/2006/relationships/tags" Target="../tags/tag75.xml"/><Relationship Id="rId3" Type="http://schemas.openxmlformats.org/officeDocument/2006/relationships/tags" Target="../tags/tag74.xml"/><Relationship Id="rId2" Type="http://schemas.openxmlformats.org/officeDocument/2006/relationships/tags" Target="../tags/tag73.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7" Type="http://schemas.openxmlformats.org/officeDocument/2006/relationships/tags" Target="../tags/tag83.xml"/><Relationship Id="rId6" Type="http://schemas.openxmlformats.org/officeDocument/2006/relationships/tags" Target="../tags/tag82.xml"/><Relationship Id="rId5" Type="http://schemas.openxmlformats.org/officeDocument/2006/relationships/tags" Target="../tags/tag81.xml"/><Relationship Id="rId4" Type="http://schemas.openxmlformats.org/officeDocument/2006/relationships/tags" Target="../tags/tag80.xml"/><Relationship Id="rId3" Type="http://schemas.openxmlformats.org/officeDocument/2006/relationships/tags" Target="../tags/tag79.xml"/><Relationship Id="rId2" Type="http://schemas.openxmlformats.org/officeDocument/2006/relationships/tags" Target="../tags/tag78.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9" Type="http://schemas.openxmlformats.org/officeDocument/2006/relationships/tags" Target="../tags/tag91.xml"/><Relationship Id="rId8" Type="http://schemas.openxmlformats.org/officeDocument/2006/relationships/tags" Target="../tags/tag90.xml"/><Relationship Id="rId7" Type="http://schemas.openxmlformats.org/officeDocument/2006/relationships/tags" Target="../tags/tag89.xml"/><Relationship Id="rId6" Type="http://schemas.openxmlformats.org/officeDocument/2006/relationships/tags" Target="../tags/tag88.xml"/><Relationship Id="rId5" Type="http://schemas.openxmlformats.org/officeDocument/2006/relationships/tags" Target="../tags/tag87.xml"/><Relationship Id="rId4" Type="http://schemas.openxmlformats.org/officeDocument/2006/relationships/tags" Target="../tags/tag86.xml"/><Relationship Id="rId3" Type="http://schemas.openxmlformats.org/officeDocument/2006/relationships/tags" Target="../tags/tag85.xml"/><Relationship Id="rId2" Type="http://schemas.openxmlformats.org/officeDocument/2006/relationships/tags" Target="../tags/tag84.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5" Type="http://schemas.openxmlformats.org/officeDocument/2006/relationships/tags" Target="../tags/tag95.xml"/><Relationship Id="rId4" Type="http://schemas.openxmlformats.org/officeDocument/2006/relationships/tags" Target="../tags/tag94.xml"/><Relationship Id="rId3" Type="http://schemas.openxmlformats.org/officeDocument/2006/relationships/tags" Target="../tags/tag93.xml"/><Relationship Id="rId2" Type="http://schemas.openxmlformats.org/officeDocument/2006/relationships/tags" Target="../tags/tag92.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4" Type="http://schemas.openxmlformats.org/officeDocument/2006/relationships/tags" Target="../tags/tag98.xml"/><Relationship Id="rId3" Type="http://schemas.openxmlformats.org/officeDocument/2006/relationships/tags" Target="../tags/tag97.xml"/><Relationship Id="rId2" Type="http://schemas.openxmlformats.org/officeDocument/2006/relationships/tags" Target="../tags/tag96.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7" Type="http://schemas.openxmlformats.org/officeDocument/2006/relationships/tags" Target="../tags/tag104.xml"/><Relationship Id="rId6" Type="http://schemas.openxmlformats.org/officeDocument/2006/relationships/tags" Target="../tags/tag103.xml"/><Relationship Id="rId5" Type="http://schemas.openxmlformats.org/officeDocument/2006/relationships/tags" Target="../tags/tag102.xml"/><Relationship Id="rId4" Type="http://schemas.openxmlformats.org/officeDocument/2006/relationships/tags" Target="../tags/tag101.xml"/><Relationship Id="rId3" Type="http://schemas.openxmlformats.org/officeDocument/2006/relationships/tags" Target="../tags/tag100.xml"/><Relationship Id="rId2" Type="http://schemas.openxmlformats.org/officeDocument/2006/relationships/tags" Target="../tags/tag99.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6" Type="http://schemas.openxmlformats.org/officeDocument/2006/relationships/tags" Target="../tags/tag109.xml"/><Relationship Id="rId5" Type="http://schemas.openxmlformats.org/officeDocument/2006/relationships/tags" Target="../tags/tag108.xml"/><Relationship Id="rId4" Type="http://schemas.openxmlformats.org/officeDocument/2006/relationships/tags" Target="../tags/tag107.xml"/><Relationship Id="rId3" Type="http://schemas.openxmlformats.org/officeDocument/2006/relationships/tags" Target="../tags/tag106.xml"/><Relationship Id="rId2" Type="http://schemas.openxmlformats.org/officeDocument/2006/relationships/tags" Target="../tags/tag105.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5" Type="http://schemas.openxmlformats.org/officeDocument/2006/relationships/tags" Target="../tags/tag113.xml"/><Relationship Id="rId4" Type="http://schemas.openxmlformats.org/officeDocument/2006/relationships/tags" Target="../tags/tag112.xml"/><Relationship Id="rId3" Type="http://schemas.openxmlformats.org/officeDocument/2006/relationships/tags" Target="../tags/tag111.xml"/><Relationship Id="rId2" Type="http://schemas.openxmlformats.org/officeDocument/2006/relationships/tags" Target="../tags/tag110.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6" Type="http://schemas.openxmlformats.org/officeDocument/2006/relationships/tags" Target="../tags/tag118.xml"/><Relationship Id="rId5" Type="http://schemas.openxmlformats.org/officeDocument/2006/relationships/tags" Target="../tags/tag117.xml"/><Relationship Id="rId4" Type="http://schemas.openxmlformats.org/officeDocument/2006/relationships/tags" Target="../tags/tag116.xml"/><Relationship Id="rId3" Type="http://schemas.openxmlformats.org/officeDocument/2006/relationships/tags" Target="../tags/tag115.xml"/><Relationship Id="rId2" Type="http://schemas.openxmlformats.org/officeDocument/2006/relationships/tags" Target="../tags/tag114.xml"/><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en-US" dirty="0"/>
              <a:t>Click to edit Master title style</a:t>
            </a:r>
            <a:endParaRPr lang="en-US" dirty="0"/>
          </a:p>
        </p:txBody>
      </p:sp>
      <p:sp>
        <p:nvSpPr>
          <p:cNvPr id="3" name="Subtitle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16" name="Date Placeholder 15"/>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17" name="Footer Placeholder 16"/>
          <p:cNvSpPr>
            <a:spLocks noGrp="1"/>
          </p:cNvSpPr>
          <p:nvPr>
            <p:ph type="ftr" sz="quarter" idx="11"/>
            <p:custDataLst>
              <p:tags r:id="rId5"/>
            </p:custDataLst>
          </p:nvPr>
        </p:nvSpPr>
        <p:spPr/>
        <p:txBody>
          <a:bodyPr/>
          <a:lstStyle/>
          <a:p>
            <a:endParaRPr lang="en-US" dirty="0"/>
          </a:p>
        </p:txBody>
      </p:sp>
      <p:sp>
        <p:nvSpPr>
          <p:cNvPr id="18" name="Slide Number Placeholder 17"/>
          <p:cNvSpPr>
            <a:spLocks noGrp="1"/>
          </p:cNvSpPr>
          <p:nvPr>
            <p:ph type="sldNum" sz="quarter" idx="12"/>
            <p:custDataLst>
              <p:tags r:id="rId6"/>
            </p:custDataLst>
          </p:nvPr>
        </p:nvSpPr>
        <p:spPr/>
        <p:txBody>
          <a:bodyPr/>
          <a:lstStyle/>
          <a:p>
            <a:fld id="{49AE70B2-8BF9-45C0-BB95-33D1B9D3A854}" type="slidenum">
              <a:rPr lang="en-US" smtClean="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Content Placeholder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en-US" dirty="0"/>
              <a:t>Click to edit title</a:t>
            </a:r>
            <a:endParaRPr lang="en-US" dirty="0"/>
          </a:p>
        </p:txBody>
      </p:sp>
      <p:sp>
        <p:nvSpPr>
          <p:cNvPr id="3" name="Text Placeholder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text</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Content Placeholder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Date Placeholder 4"/>
          <p:cNvSpPr>
            <a:spLocks noGrp="1"/>
          </p:cNvSpPr>
          <p:nvPr>
            <p:ph type="dt" sz="half" idx="10"/>
            <p:custDataLst>
              <p:tags r:id="rId5"/>
            </p:custDataLst>
          </p:nvPr>
        </p:nvSpPr>
        <p:spPr/>
        <p:txBody>
          <a:bodyPr/>
          <a:lstStyle/>
          <a:p>
            <a:fld id="{760FBDFE-C587-4B4C-A407-44438C67B59E}" type="datetimeFigureOut">
              <a:rPr lang="en-US" smtClean="0"/>
            </a:fld>
            <a:endParaRPr lang="en-US"/>
          </a:p>
        </p:txBody>
      </p:sp>
      <p:sp>
        <p:nvSpPr>
          <p:cNvPr id="6" name="Footer Placeholder 5"/>
          <p:cNvSpPr>
            <a:spLocks noGrp="1"/>
          </p:cNvSpPr>
          <p:nvPr>
            <p:ph type="ftr" sz="quarter" idx="11"/>
            <p:custDataLst>
              <p:tags r:id="rId6"/>
            </p:custDataLst>
          </p:nvPr>
        </p:nvSpPr>
        <p:spPr/>
        <p:txBody>
          <a:bodyPr/>
          <a:lstStyle/>
          <a:p>
            <a:endParaRPr lang="en-US"/>
          </a:p>
        </p:txBody>
      </p:sp>
      <p:sp>
        <p:nvSpPr>
          <p:cNvPr id="7" name="Slide Number Placeholder 6"/>
          <p:cNvSpPr>
            <a:spLocks noGrp="1"/>
          </p:cNvSpPr>
          <p:nvPr>
            <p:ph type="sldNum" sz="quarter" idx="12"/>
            <p:custDataLst>
              <p:tags r:id="rId7"/>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Text Placeholder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text</a:t>
            </a:r>
            <a:endParaRPr lang="en-US" dirty="0"/>
          </a:p>
        </p:txBody>
      </p:sp>
      <p:sp>
        <p:nvSpPr>
          <p:cNvPr id="4" name="Content Placeholder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text</a:t>
            </a:r>
            <a:endParaRPr lang="en-US"/>
          </a:p>
        </p:txBody>
      </p:sp>
      <p:sp>
        <p:nvSpPr>
          <p:cNvPr id="6" name="Content Placeholder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custDataLst>
              <p:tags r:id="rId7"/>
            </p:custDataLst>
          </p:nvPr>
        </p:nvSpPr>
        <p:spPr/>
        <p:txBody>
          <a:bodyPr/>
          <a:lstStyle/>
          <a:p>
            <a:fld id="{760FBDFE-C587-4B4C-A407-44438C67B59E}" type="datetimeFigureOut">
              <a:rPr lang="en-US" smtClean="0"/>
            </a:fld>
            <a:endParaRPr lang="en-US"/>
          </a:p>
        </p:txBody>
      </p:sp>
      <p:sp>
        <p:nvSpPr>
          <p:cNvPr id="8" name="Footer Placeholder 7"/>
          <p:cNvSpPr>
            <a:spLocks noGrp="1"/>
          </p:cNvSpPr>
          <p:nvPr>
            <p:ph type="ftr" sz="quarter" idx="11"/>
            <p:custDataLst>
              <p:tags r:id="rId8"/>
            </p:custDataLst>
          </p:nvPr>
        </p:nvSpPr>
        <p:spPr/>
        <p:txBody>
          <a:bodyPr/>
          <a:lstStyle/>
          <a:p>
            <a:endParaRPr lang="en-US"/>
          </a:p>
        </p:txBody>
      </p:sp>
      <p:sp>
        <p:nvSpPr>
          <p:cNvPr id="9" name="Slide Number Placeholder 8"/>
          <p:cNvSpPr>
            <a:spLocks noGrp="1"/>
          </p:cNvSpPr>
          <p:nvPr>
            <p:ph type="sldNum" sz="quarter" idx="12"/>
            <p:custDataLst>
              <p:tags r:id="rId9"/>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Date Placeholder 2"/>
          <p:cNvSpPr>
            <a:spLocks noGrp="1"/>
          </p:cNvSpPr>
          <p:nvPr>
            <p:ph type="dt" sz="half" idx="10"/>
            <p:custDataLst>
              <p:tags r:id="rId3"/>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4"/>
            </p:custDataLst>
          </p:nvPr>
        </p:nvSpPr>
        <p:spPr/>
        <p:txBody>
          <a:bodyPr/>
          <a:lstStyle/>
          <a:p>
            <a:endParaRPr lang="en-US"/>
          </a:p>
        </p:txBody>
      </p:sp>
      <p:sp>
        <p:nvSpPr>
          <p:cNvPr id="5" name="Slide Number Placeholder 4"/>
          <p:cNvSpPr>
            <a:spLocks noGrp="1"/>
          </p:cNvSpPr>
          <p:nvPr>
            <p:ph type="sldNum" sz="quarter" idx="12"/>
            <p:custDataLst>
              <p:tags r:id="rId5"/>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3" name="Footer Placeholder 2"/>
          <p:cNvSpPr>
            <a:spLocks noGrp="1"/>
          </p:cNvSpPr>
          <p:nvPr>
            <p:ph type="ftr" sz="quarter" idx="11"/>
            <p:custDataLst>
              <p:tags r:id="rId3"/>
            </p:custDataLst>
          </p:nvPr>
        </p:nvSpPr>
        <p:spPr/>
        <p:txBody>
          <a:bodyPr/>
          <a:lstStyle/>
          <a:p>
            <a:endParaRPr lang="en-US"/>
          </a:p>
        </p:txBody>
      </p:sp>
      <p:sp>
        <p:nvSpPr>
          <p:cNvPr id="4" name="Slide Number Placeholder 3"/>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en-US"/>
          </a:p>
        </p:txBody>
      </p:sp>
      <p:sp>
        <p:nvSpPr>
          <p:cNvPr id="4" name="Text Placeholder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en-US" smtClean="0"/>
              <a:t>Click to edit Master text styles</a:t>
            </a:r>
            <a:endParaRPr lang="en-US"/>
          </a:p>
        </p:txBody>
      </p:sp>
      <p:sp>
        <p:nvSpPr>
          <p:cNvPr id="5" name="Date Placeholder 4"/>
          <p:cNvSpPr>
            <a:spLocks noGrp="1"/>
          </p:cNvSpPr>
          <p:nvPr>
            <p:ph type="dt" sz="half" idx="10"/>
            <p:custDataLst>
              <p:tags r:id="rId4"/>
            </p:custDataLst>
          </p:nvPr>
        </p:nvSpPr>
        <p:spPr/>
        <p:txBody>
          <a:bodyPr/>
          <a:lstStyle/>
          <a:p>
            <a:fld id="{9EFD9D74-47D9-4702-A33C-335B63B48DBF}" type="datetimeFigureOut">
              <a:rPr lang="en-US" smtClean="0"/>
            </a:fld>
            <a:endParaRPr lang="en-US" dirty="0"/>
          </a:p>
        </p:txBody>
      </p:sp>
      <p:sp>
        <p:nvSpPr>
          <p:cNvPr id="6" name="Footer Placeholder 5"/>
          <p:cNvSpPr>
            <a:spLocks noGrp="1"/>
          </p:cNvSpPr>
          <p:nvPr>
            <p:ph type="ftr" sz="quarter" idx="11"/>
            <p:custDataLst>
              <p:tags r:id="rId5"/>
            </p:custDataLst>
          </p:nvPr>
        </p:nvSpPr>
        <p:spPr/>
        <p:txBody>
          <a:bodyPr/>
          <a:lstStyle/>
          <a:p>
            <a:endParaRPr lang="en-US" dirty="0"/>
          </a:p>
        </p:txBody>
      </p:sp>
      <p:sp>
        <p:nvSpPr>
          <p:cNvPr id="7" name="Slide Number Placeholder 6"/>
          <p:cNvSpPr>
            <a:spLocks noGrp="1"/>
          </p:cNvSpPr>
          <p:nvPr>
            <p:ph type="sldNum" sz="quarter" idx="12"/>
            <p:custDataLst>
              <p:tags r:id="rId6"/>
            </p:custDataLst>
          </p:nvPr>
        </p:nvSpPr>
        <p:spPr/>
        <p:txBody>
          <a:bodyPr/>
          <a:lstStyle/>
          <a:p>
            <a:fld id="{FABC47A4-756D-490B-A52F-7D9E2C9FC05F}" type="slidenum">
              <a:rPr lang="en-US" smtClean="0"/>
            </a:fld>
            <a:endParaRPr lang="en-US"/>
          </a:p>
        </p:txBody>
      </p:sp>
      <p:sp>
        <p:nvSpPr>
          <p:cNvPr id="9" name="Title 8"/>
          <p:cNvSpPr>
            <a:spLocks noGrp="1"/>
          </p:cNvSpPr>
          <p:nvPr>
            <p:ph type="title"/>
            <p:custDataLst>
              <p:tags r:id="rId7"/>
            </p:custDataLst>
          </p:nvPr>
        </p:nvSpPr>
        <p:spPr/>
        <p:txBody>
          <a:bodyPr/>
          <a:p>
            <a:r>
              <a:rPr lang="en-US"/>
              <a:t>Click to edit Master title style</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en-US" smtClean="0"/>
              <a:t>Click to edit title</a:t>
            </a:r>
            <a:endParaRPr lang="en-US"/>
          </a:p>
        </p:txBody>
      </p:sp>
      <p:sp>
        <p:nvSpPr>
          <p:cNvPr id="3" name="Vertical Text Placeholder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7" name="Content Placeholder 6"/>
          <p:cNvSpPr>
            <a:spLocks noGrp="1"/>
          </p:cNvSpPr>
          <p:nvPr>
            <p:ph sz="quarter" idx="13"/>
            <p:custDataLst>
              <p:tags r:id="rId5"/>
            </p:custDataLst>
          </p:nvPr>
        </p:nvSpPr>
        <p:spPr>
          <a:xfrm>
            <a:off x="608400" y="774000"/>
            <a:ext cx="10972800" cy="5482800"/>
          </a:xfrm>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2" name="Title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en-US" smtClean="0"/>
              <a:t>Click to edit title</a:t>
            </a:r>
            <a:endParaRPr lang="en-US"/>
          </a:p>
        </p:txBody>
      </p:sp>
      <p:sp>
        <p:nvSpPr>
          <p:cNvPr id="7" name="Text Placeholder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en-US" dirty="0"/>
              <a:t>Click to edit Master text styles</a:t>
            </a:r>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9AE70B2-8BF9-45C0-BB95-33D1B9D3A854}" type="slidenum">
              <a:rPr lang="en-US" smtClean="0"/>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en-US" dirty="0"/>
              <a:t>Click to edit Master title style</a:t>
            </a:r>
            <a:endParaRPr lang="en-US" dirty="0"/>
          </a:p>
        </p:txBody>
      </p:sp>
      <p:sp>
        <p:nvSpPr>
          <p:cNvPr id="3" name="Subtitle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16" name="Date Placeholder 15"/>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17" name="Footer Placeholder 16"/>
          <p:cNvSpPr>
            <a:spLocks noGrp="1"/>
          </p:cNvSpPr>
          <p:nvPr>
            <p:ph type="ftr" sz="quarter" idx="11"/>
            <p:custDataLst>
              <p:tags r:id="rId5"/>
            </p:custDataLst>
          </p:nvPr>
        </p:nvSpPr>
        <p:spPr/>
        <p:txBody>
          <a:bodyPr/>
          <a:lstStyle/>
          <a:p>
            <a:endParaRPr lang="en-US" dirty="0"/>
          </a:p>
        </p:txBody>
      </p:sp>
      <p:sp>
        <p:nvSpPr>
          <p:cNvPr id="18" name="Slide Number Placeholder 17"/>
          <p:cNvSpPr>
            <a:spLocks noGrp="1"/>
          </p:cNvSpPr>
          <p:nvPr>
            <p:ph type="sldNum" sz="quarter" idx="12"/>
            <p:custDataLst>
              <p:tags r:id="rId6"/>
            </p:custDataLst>
          </p:nvPr>
        </p:nvSpPr>
        <p:spPr/>
        <p:txBody>
          <a:bodyPr/>
          <a:lstStyle/>
          <a:p>
            <a:fld id="{49AE70B2-8BF9-45C0-BB95-33D1B9D3A854}" type="slidenum">
              <a:rPr lang="en-US" smtClean="0"/>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Content Placeholder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en-US" dirty="0"/>
              <a:t>Click to edit title</a:t>
            </a:r>
            <a:endParaRPr lang="en-US" dirty="0"/>
          </a:p>
        </p:txBody>
      </p:sp>
      <p:sp>
        <p:nvSpPr>
          <p:cNvPr id="3" name="Text Placeholder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text</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Content Placeholder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Date Placeholder 4"/>
          <p:cNvSpPr>
            <a:spLocks noGrp="1"/>
          </p:cNvSpPr>
          <p:nvPr>
            <p:ph type="dt" sz="half" idx="10"/>
            <p:custDataLst>
              <p:tags r:id="rId5"/>
            </p:custDataLst>
          </p:nvPr>
        </p:nvSpPr>
        <p:spPr/>
        <p:txBody>
          <a:bodyPr/>
          <a:lstStyle/>
          <a:p>
            <a:fld id="{760FBDFE-C587-4B4C-A407-44438C67B59E}" type="datetimeFigureOut">
              <a:rPr lang="en-US" smtClean="0"/>
            </a:fld>
            <a:endParaRPr lang="en-US"/>
          </a:p>
        </p:txBody>
      </p:sp>
      <p:sp>
        <p:nvSpPr>
          <p:cNvPr id="6" name="Footer Placeholder 5"/>
          <p:cNvSpPr>
            <a:spLocks noGrp="1"/>
          </p:cNvSpPr>
          <p:nvPr>
            <p:ph type="ftr" sz="quarter" idx="11"/>
            <p:custDataLst>
              <p:tags r:id="rId6"/>
            </p:custDataLst>
          </p:nvPr>
        </p:nvSpPr>
        <p:spPr/>
        <p:txBody>
          <a:bodyPr/>
          <a:lstStyle/>
          <a:p>
            <a:endParaRPr lang="en-US"/>
          </a:p>
        </p:txBody>
      </p:sp>
      <p:sp>
        <p:nvSpPr>
          <p:cNvPr id="7" name="Slide Number Placeholder 6"/>
          <p:cNvSpPr>
            <a:spLocks noGrp="1"/>
          </p:cNvSpPr>
          <p:nvPr>
            <p:ph type="sldNum" sz="quarter" idx="12"/>
            <p:custDataLst>
              <p:tags r:id="rId7"/>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Text Placeholder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text</a:t>
            </a:r>
            <a:endParaRPr lang="en-US" dirty="0"/>
          </a:p>
        </p:txBody>
      </p:sp>
      <p:sp>
        <p:nvSpPr>
          <p:cNvPr id="4" name="Content Placeholder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text</a:t>
            </a:r>
            <a:endParaRPr lang="en-US"/>
          </a:p>
        </p:txBody>
      </p:sp>
      <p:sp>
        <p:nvSpPr>
          <p:cNvPr id="6" name="Content Placeholder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custDataLst>
              <p:tags r:id="rId7"/>
            </p:custDataLst>
          </p:nvPr>
        </p:nvSpPr>
        <p:spPr/>
        <p:txBody>
          <a:bodyPr/>
          <a:lstStyle/>
          <a:p>
            <a:fld id="{760FBDFE-C587-4B4C-A407-44438C67B59E}" type="datetimeFigureOut">
              <a:rPr lang="en-US" smtClean="0"/>
            </a:fld>
            <a:endParaRPr lang="en-US"/>
          </a:p>
        </p:txBody>
      </p:sp>
      <p:sp>
        <p:nvSpPr>
          <p:cNvPr id="8" name="Footer Placeholder 7"/>
          <p:cNvSpPr>
            <a:spLocks noGrp="1"/>
          </p:cNvSpPr>
          <p:nvPr>
            <p:ph type="ftr" sz="quarter" idx="11"/>
            <p:custDataLst>
              <p:tags r:id="rId8"/>
            </p:custDataLst>
          </p:nvPr>
        </p:nvSpPr>
        <p:spPr/>
        <p:txBody>
          <a:bodyPr/>
          <a:lstStyle/>
          <a:p>
            <a:endParaRPr lang="en-US"/>
          </a:p>
        </p:txBody>
      </p:sp>
      <p:sp>
        <p:nvSpPr>
          <p:cNvPr id="9" name="Slide Number Placeholder 8"/>
          <p:cNvSpPr>
            <a:spLocks noGrp="1"/>
          </p:cNvSpPr>
          <p:nvPr>
            <p:ph type="sldNum" sz="quarter" idx="12"/>
            <p:custDataLst>
              <p:tags r:id="rId9"/>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Date Placeholder 2"/>
          <p:cNvSpPr>
            <a:spLocks noGrp="1"/>
          </p:cNvSpPr>
          <p:nvPr>
            <p:ph type="dt" sz="half" idx="10"/>
            <p:custDataLst>
              <p:tags r:id="rId3"/>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4"/>
            </p:custDataLst>
          </p:nvPr>
        </p:nvSpPr>
        <p:spPr/>
        <p:txBody>
          <a:bodyPr/>
          <a:lstStyle/>
          <a:p>
            <a:endParaRPr lang="en-US"/>
          </a:p>
        </p:txBody>
      </p:sp>
      <p:sp>
        <p:nvSpPr>
          <p:cNvPr id="5" name="Slide Number Placeholder 4"/>
          <p:cNvSpPr>
            <a:spLocks noGrp="1"/>
          </p:cNvSpPr>
          <p:nvPr>
            <p:ph type="sldNum" sz="quarter" idx="12"/>
            <p:custDataLst>
              <p:tags r:id="rId5"/>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3" name="Footer Placeholder 2"/>
          <p:cNvSpPr>
            <a:spLocks noGrp="1"/>
          </p:cNvSpPr>
          <p:nvPr>
            <p:ph type="ftr" sz="quarter" idx="11"/>
            <p:custDataLst>
              <p:tags r:id="rId3"/>
            </p:custDataLst>
          </p:nvPr>
        </p:nvSpPr>
        <p:spPr/>
        <p:txBody>
          <a:bodyPr/>
          <a:lstStyle/>
          <a:p>
            <a:endParaRPr lang="en-US"/>
          </a:p>
        </p:txBody>
      </p:sp>
      <p:sp>
        <p:nvSpPr>
          <p:cNvPr id="4" name="Slide Number Placeholder 3"/>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en-US"/>
          </a:p>
        </p:txBody>
      </p:sp>
      <p:sp>
        <p:nvSpPr>
          <p:cNvPr id="4" name="Text Placeholder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en-US" smtClean="0"/>
              <a:t>Click to edit Master text styles</a:t>
            </a:r>
            <a:endParaRPr lang="en-US"/>
          </a:p>
        </p:txBody>
      </p:sp>
      <p:sp>
        <p:nvSpPr>
          <p:cNvPr id="5" name="Date Placeholder 4"/>
          <p:cNvSpPr>
            <a:spLocks noGrp="1"/>
          </p:cNvSpPr>
          <p:nvPr>
            <p:ph type="dt" sz="half" idx="10"/>
            <p:custDataLst>
              <p:tags r:id="rId4"/>
            </p:custDataLst>
          </p:nvPr>
        </p:nvSpPr>
        <p:spPr/>
        <p:txBody>
          <a:bodyPr/>
          <a:lstStyle/>
          <a:p>
            <a:fld id="{9EFD9D74-47D9-4702-A33C-335B63B48DBF}" type="datetimeFigureOut">
              <a:rPr lang="en-US" smtClean="0"/>
            </a:fld>
            <a:endParaRPr lang="en-US" dirty="0"/>
          </a:p>
        </p:txBody>
      </p:sp>
      <p:sp>
        <p:nvSpPr>
          <p:cNvPr id="6" name="Footer Placeholder 5"/>
          <p:cNvSpPr>
            <a:spLocks noGrp="1"/>
          </p:cNvSpPr>
          <p:nvPr>
            <p:ph type="ftr" sz="quarter" idx="11"/>
            <p:custDataLst>
              <p:tags r:id="rId5"/>
            </p:custDataLst>
          </p:nvPr>
        </p:nvSpPr>
        <p:spPr/>
        <p:txBody>
          <a:bodyPr/>
          <a:lstStyle/>
          <a:p>
            <a:endParaRPr lang="en-US" dirty="0"/>
          </a:p>
        </p:txBody>
      </p:sp>
      <p:sp>
        <p:nvSpPr>
          <p:cNvPr id="7" name="Slide Number Placeholder 6"/>
          <p:cNvSpPr>
            <a:spLocks noGrp="1"/>
          </p:cNvSpPr>
          <p:nvPr>
            <p:ph type="sldNum" sz="quarter" idx="12"/>
            <p:custDataLst>
              <p:tags r:id="rId6"/>
            </p:custDataLst>
          </p:nvPr>
        </p:nvSpPr>
        <p:spPr/>
        <p:txBody>
          <a:bodyPr/>
          <a:lstStyle/>
          <a:p>
            <a:fld id="{FABC47A4-756D-490B-A52F-7D9E2C9FC05F}" type="slidenum">
              <a:rPr lang="en-US" smtClean="0"/>
            </a:fld>
            <a:endParaRPr lang="en-US"/>
          </a:p>
        </p:txBody>
      </p:sp>
      <p:sp>
        <p:nvSpPr>
          <p:cNvPr id="9" name="Title 8"/>
          <p:cNvSpPr>
            <a:spLocks noGrp="1"/>
          </p:cNvSpPr>
          <p:nvPr>
            <p:ph type="title"/>
            <p:custDataLst>
              <p:tags r:id="rId7"/>
            </p:custDataLst>
          </p:nvPr>
        </p:nvSpPr>
        <p:spPr/>
        <p:txBody>
          <a:bodyPr/>
          <a:p>
            <a:r>
              <a:rPr lang="en-US"/>
              <a:t>Click to edit Master title style</a:t>
            </a:r>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en-US" smtClean="0"/>
              <a:t>Click to edit title</a:t>
            </a:r>
            <a:endParaRPr lang="en-US"/>
          </a:p>
        </p:txBody>
      </p:sp>
      <p:sp>
        <p:nvSpPr>
          <p:cNvPr id="3" name="Vertical Text Placeholder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7" name="Content Placeholder 6"/>
          <p:cNvSpPr>
            <a:spLocks noGrp="1"/>
          </p:cNvSpPr>
          <p:nvPr>
            <p:ph sz="quarter" idx="13"/>
            <p:custDataLst>
              <p:tags r:id="rId5"/>
            </p:custDataLst>
          </p:nvPr>
        </p:nvSpPr>
        <p:spPr>
          <a:xfrm>
            <a:off x="608400" y="774000"/>
            <a:ext cx="10972800" cy="5482800"/>
          </a:xfrm>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2" name="Title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en-US" smtClean="0"/>
              <a:t>Click to edit title</a:t>
            </a:r>
            <a:endParaRPr lang="en-US"/>
          </a:p>
        </p:txBody>
      </p:sp>
      <p:sp>
        <p:nvSpPr>
          <p:cNvPr id="7" name="Text Placeholder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en-US" dirty="0"/>
              <a:t>Click to edit Master text styles</a:t>
            </a:r>
            <a:endParaRPr 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9AE70B2-8BF9-45C0-BB95-33D1B9D3A854}"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9" Type="http://schemas.openxmlformats.org/officeDocument/2006/relationships/theme" Target="../theme/theme1.xml"/><Relationship Id="rId18" Type="http://schemas.openxmlformats.org/officeDocument/2006/relationships/tags" Target="../tags/tag62.xml"/><Relationship Id="rId17" Type="http://schemas.openxmlformats.org/officeDocument/2006/relationships/tags" Target="../tags/tag61.xml"/><Relationship Id="rId16" Type="http://schemas.openxmlformats.org/officeDocument/2006/relationships/tags" Target="../tags/tag60.xml"/><Relationship Id="rId15" Type="http://schemas.openxmlformats.org/officeDocument/2006/relationships/tags" Target="../tags/tag59.xml"/><Relationship Id="rId14" Type="http://schemas.openxmlformats.org/officeDocument/2006/relationships/tags" Target="../tags/tag58.xml"/><Relationship Id="rId13" Type="http://schemas.openxmlformats.org/officeDocument/2006/relationships/tags" Target="../tags/tag57.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9" Type="http://schemas.openxmlformats.org/officeDocument/2006/relationships/theme" Target="../theme/theme2.xml"/><Relationship Id="rId18" Type="http://schemas.openxmlformats.org/officeDocument/2006/relationships/tags" Target="../tags/tag124.xml"/><Relationship Id="rId17" Type="http://schemas.openxmlformats.org/officeDocument/2006/relationships/tags" Target="../tags/tag123.xml"/><Relationship Id="rId16" Type="http://schemas.openxmlformats.org/officeDocument/2006/relationships/tags" Target="../tags/tag122.xml"/><Relationship Id="rId15" Type="http://schemas.openxmlformats.org/officeDocument/2006/relationships/tags" Target="../tags/tag121.xml"/><Relationship Id="rId14" Type="http://schemas.openxmlformats.org/officeDocument/2006/relationships/tags" Target="../tags/tag120.xml"/><Relationship Id="rId13" Type="http://schemas.openxmlformats.org/officeDocument/2006/relationships/tags" Target="../tags/tag119.xml"/><Relationship Id="rId12" Type="http://schemas.openxmlformats.org/officeDocument/2006/relationships/slideLayout" Target="../slideLayouts/slideLayout24.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custDataLst>
              <p:tags r:id="rId13"/>
            </p:custDataLst>
          </p:nvPr>
        </p:nvSpPr>
        <p:spPr>
          <a:xfrm>
            <a:off x="608400" y="608400"/>
            <a:ext cx="10969200" cy="705600"/>
          </a:xfrm>
          <a:prstGeom prst="rect">
            <a:avLst/>
          </a:prstGeom>
        </p:spPr>
        <p:txBody>
          <a:bodyPr vert="horz" lIns="90170" tIns="46990" rIns="90170" bIns="46990" rtlCol="0" anchor="ctr" anchorCtr="0">
            <a:normAutofit/>
          </a:bodyPr>
          <a:lstStyle/>
          <a:p>
            <a:r>
              <a:rPr lang="en-US" dirty="0"/>
              <a:t>Click to edit Master title style</a:t>
            </a:r>
            <a:endParaRPr lang="en-US" dirty="0"/>
          </a:p>
        </p:txBody>
      </p:sp>
      <p:sp>
        <p:nvSpPr>
          <p:cNvPr id="3" name="Text Placeholder 2"/>
          <p:cNvSpPr>
            <a:spLocks noGrp="1"/>
          </p:cNvSpPr>
          <p:nvPr>
            <p:ph type="body" idx="1"/>
            <p:custDataLst>
              <p:tags r:id="rId14"/>
            </p:custDataLst>
          </p:nvPr>
        </p:nvSpPr>
        <p:spPr>
          <a:xfrm>
            <a:off x="608400" y="1490400"/>
            <a:ext cx="10969200" cy="4759200"/>
          </a:xfrm>
          <a:prstGeom prst="rect">
            <a:avLst/>
          </a:prstGeom>
        </p:spPr>
        <p:txBody>
          <a:bodyPr vert="horz" lIns="90000" tIns="46800" rIns="90000" bIns="4680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2"/>
            <p:custDataLst>
              <p:tags r:id="rId15"/>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en-US" smtClean="0"/>
            </a:fld>
            <a:endParaRPr lang="en-US"/>
          </a:p>
        </p:txBody>
      </p:sp>
      <p:sp>
        <p:nvSpPr>
          <p:cNvPr id="5" name="Footer Placeholder 4"/>
          <p:cNvSpPr>
            <a:spLocks noGrp="1"/>
          </p:cNvSpPr>
          <p:nvPr>
            <p:ph type="ftr" sz="quarter" idx="3"/>
            <p:custDataLst>
              <p:tags r:id="rId16"/>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en-US" dirty="0"/>
          </a:p>
        </p:txBody>
      </p:sp>
      <p:sp>
        <p:nvSpPr>
          <p:cNvPr id="6" name="Slide Number Placeholder 5"/>
          <p:cNvSpPr>
            <a:spLocks noGrp="1"/>
          </p:cNvSpPr>
          <p:nvPr>
            <p:ph type="sldNum" sz="quarter" idx="4"/>
            <p:custDataLst>
              <p:tags r:id="rId17"/>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en-US" smtClean="0"/>
            </a:fld>
            <a:endParaRPr lang="en-US" dirty="0"/>
          </a:p>
        </p:txBody>
      </p:sp>
    </p:spTree>
    <p:custDataLst>
      <p:tags r:id="rId18"/>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custDataLst>
              <p:tags r:id="rId13"/>
            </p:custDataLst>
          </p:nvPr>
        </p:nvSpPr>
        <p:spPr>
          <a:xfrm>
            <a:off x="608400" y="608400"/>
            <a:ext cx="10969200" cy="705600"/>
          </a:xfrm>
          <a:prstGeom prst="rect">
            <a:avLst/>
          </a:prstGeom>
        </p:spPr>
        <p:txBody>
          <a:bodyPr vert="horz" lIns="90170" tIns="46990" rIns="90170" bIns="46990" rtlCol="0" anchor="ctr" anchorCtr="0">
            <a:normAutofit/>
          </a:bodyPr>
          <a:lstStyle/>
          <a:p>
            <a:r>
              <a:rPr lang="en-US" dirty="0"/>
              <a:t>Click to edit Master title style</a:t>
            </a:r>
            <a:endParaRPr lang="en-US" dirty="0"/>
          </a:p>
        </p:txBody>
      </p:sp>
      <p:sp>
        <p:nvSpPr>
          <p:cNvPr id="3" name="Text Placeholder 2"/>
          <p:cNvSpPr>
            <a:spLocks noGrp="1"/>
          </p:cNvSpPr>
          <p:nvPr>
            <p:ph type="body" idx="1"/>
            <p:custDataLst>
              <p:tags r:id="rId14"/>
            </p:custDataLst>
          </p:nvPr>
        </p:nvSpPr>
        <p:spPr>
          <a:xfrm>
            <a:off x="608400" y="1490400"/>
            <a:ext cx="10969200" cy="4759200"/>
          </a:xfrm>
          <a:prstGeom prst="rect">
            <a:avLst/>
          </a:prstGeom>
        </p:spPr>
        <p:txBody>
          <a:bodyPr vert="horz" lIns="90000" tIns="46800" rIns="90000" bIns="4680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2"/>
            <p:custDataLst>
              <p:tags r:id="rId15"/>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en-US" smtClean="0"/>
            </a:fld>
            <a:endParaRPr lang="en-US"/>
          </a:p>
        </p:txBody>
      </p:sp>
      <p:sp>
        <p:nvSpPr>
          <p:cNvPr id="5" name="Footer Placeholder 4"/>
          <p:cNvSpPr>
            <a:spLocks noGrp="1"/>
          </p:cNvSpPr>
          <p:nvPr>
            <p:ph type="ftr" sz="quarter" idx="3"/>
            <p:custDataLst>
              <p:tags r:id="rId16"/>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en-US" dirty="0"/>
          </a:p>
        </p:txBody>
      </p:sp>
      <p:sp>
        <p:nvSpPr>
          <p:cNvPr id="6" name="Slide Number Placeholder 5"/>
          <p:cNvSpPr>
            <a:spLocks noGrp="1"/>
          </p:cNvSpPr>
          <p:nvPr>
            <p:ph type="sldNum" sz="quarter" idx="4"/>
            <p:custDataLst>
              <p:tags r:id="rId17"/>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en-US" smtClean="0"/>
            </a:fld>
            <a:endParaRPr lang="en-US" dirty="0"/>
          </a:p>
        </p:txBody>
      </p:sp>
    </p:spTree>
    <p:custDataLst>
      <p:tags r:id="rId18"/>
    </p:custData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25.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26.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29.xml"/><Relationship Id="rId3" Type="http://schemas.openxmlformats.org/officeDocument/2006/relationships/image" Target="../media/image3.png"/><Relationship Id="rId2" Type="http://schemas.openxmlformats.org/officeDocument/2006/relationships/tags" Target="../tags/tag128.xml"/><Relationship Id="rId1" Type="http://schemas.openxmlformats.org/officeDocument/2006/relationships/tags" Target="../tags/tag127.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30.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18.xml"/><Relationship Id="rId3" Type="http://schemas.openxmlformats.org/officeDocument/2006/relationships/tags" Target="../tags/tag132.xml"/><Relationship Id="rId2" Type="http://schemas.openxmlformats.org/officeDocument/2006/relationships/image" Target="../media/image5.png"/><Relationship Id="rId1" Type="http://schemas.openxmlformats.org/officeDocument/2006/relationships/tags" Target="../tags/tag131.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18.xml"/><Relationship Id="rId3" Type="http://schemas.openxmlformats.org/officeDocument/2006/relationships/tags" Target="../tags/tag134.xml"/><Relationship Id="rId2" Type="http://schemas.openxmlformats.org/officeDocument/2006/relationships/image" Target="../media/image6.png"/><Relationship Id="rId1" Type="http://schemas.openxmlformats.org/officeDocument/2006/relationships/tags" Target="../tags/tag133.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18.xml"/><Relationship Id="rId3" Type="http://schemas.openxmlformats.org/officeDocument/2006/relationships/tags" Target="../tags/tag136.xml"/><Relationship Id="rId2" Type="http://schemas.openxmlformats.org/officeDocument/2006/relationships/image" Target="../media/image7.png"/><Relationship Id="rId1" Type="http://schemas.openxmlformats.org/officeDocument/2006/relationships/tags" Target="../tags/tag135.xml"/></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18.xml"/><Relationship Id="rId3" Type="http://schemas.openxmlformats.org/officeDocument/2006/relationships/tags" Target="../tags/tag138.xml"/><Relationship Id="rId2" Type="http://schemas.openxmlformats.org/officeDocument/2006/relationships/image" Target="../media/image8.png"/><Relationship Id="rId1" Type="http://schemas.openxmlformats.org/officeDocument/2006/relationships/tags" Target="../tags/tag137.xml"/></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18.xml"/><Relationship Id="rId3" Type="http://schemas.openxmlformats.org/officeDocument/2006/relationships/tags" Target="../tags/tag140.xml"/><Relationship Id="rId2" Type="http://schemas.openxmlformats.org/officeDocument/2006/relationships/image" Target="../media/image9.png"/><Relationship Id="rId1" Type="http://schemas.openxmlformats.org/officeDocument/2006/relationships/tags" Target="../tags/tag139.xml"/></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18.xml"/><Relationship Id="rId3" Type="http://schemas.openxmlformats.org/officeDocument/2006/relationships/tags" Target="../tags/tag142.xml"/><Relationship Id="rId2" Type="http://schemas.openxmlformats.org/officeDocument/2006/relationships/image" Target="../media/image10.png"/><Relationship Id="rId1" Type="http://schemas.openxmlformats.org/officeDocument/2006/relationships/tags" Target="../tags/tag141.xml"/></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18.xml"/><Relationship Id="rId3" Type="http://schemas.openxmlformats.org/officeDocument/2006/relationships/tags" Target="../tags/tag144.xml"/><Relationship Id="rId2" Type="http://schemas.openxmlformats.org/officeDocument/2006/relationships/image" Target="../media/image11.png"/><Relationship Id="rId1" Type="http://schemas.openxmlformats.org/officeDocument/2006/relationships/tags" Target="../tags/tag143.xml"/></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18.xml"/><Relationship Id="rId3" Type="http://schemas.openxmlformats.org/officeDocument/2006/relationships/tags" Target="../tags/tag146.xml"/><Relationship Id="rId2" Type="http://schemas.openxmlformats.org/officeDocument/2006/relationships/image" Target="../media/image12.png"/><Relationship Id="rId1" Type="http://schemas.openxmlformats.org/officeDocument/2006/relationships/tags" Target="../tags/tag145.xml"/></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18.xml"/><Relationship Id="rId3" Type="http://schemas.openxmlformats.org/officeDocument/2006/relationships/tags" Target="../tags/tag148.xml"/><Relationship Id="rId2" Type="http://schemas.openxmlformats.org/officeDocument/2006/relationships/image" Target="../media/image13.png"/><Relationship Id="rId1" Type="http://schemas.openxmlformats.org/officeDocument/2006/relationships/tags" Target="../tags/tag147.xml"/></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18.xml"/><Relationship Id="rId3" Type="http://schemas.openxmlformats.org/officeDocument/2006/relationships/tags" Target="../tags/tag150.xml"/><Relationship Id="rId2" Type="http://schemas.openxmlformats.org/officeDocument/2006/relationships/image" Target="../media/image14.png"/><Relationship Id="rId1" Type="http://schemas.openxmlformats.org/officeDocument/2006/relationships/tags" Target="../tags/tag149.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51.xml"/><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tags" Target="../tags/tag153.xml"/><Relationship Id="rId2" Type="http://schemas.openxmlformats.org/officeDocument/2006/relationships/image" Target="../media/image15.png"/><Relationship Id="rId1" Type="http://schemas.openxmlformats.org/officeDocument/2006/relationships/tags" Target="../tags/tag152.xml"/></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tags" Target="../tags/tag155.xml"/><Relationship Id="rId2" Type="http://schemas.openxmlformats.org/officeDocument/2006/relationships/image" Target="../media/image16.png"/><Relationship Id="rId1" Type="http://schemas.openxmlformats.org/officeDocument/2006/relationships/tags" Target="../tags/tag154.xml"/></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tags" Target="../tags/tag157.xml"/><Relationship Id="rId2" Type="http://schemas.openxmlformats.org/officeDocument/2006/relationships/image" Target="../media/image17.png"/><Relationship Id="rId1" Type="http://schemas.openxmlformats.org/officeDocument/2006/relationships/tags" Target="../tags/tag156.xml"/></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tags" Target="../tags/tag159.xml"/><Relationship Id="rId2" Type="http://schemas.openxmlformats.org/officeDocument/2006/relationships/image" Target="../media/image18.png"/><Relationship Id="rId1" Type="http://schemas.openxmlformats.org/officeDocument/2006/relationships/tags" Target="../tags/tag158.xml"/></Relationships>
</file>

<file path=ppt/slides/_rels/slide20.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6.xml"/><Relationship Id="rId3" Type="http://schemas.openxmlformats.org/officeDocument/2006/relationships/tags" Target="../tags/tag161.xml"/><Relationship Id="rId2" Type="http://schemas.openxmlformats.org/officeDocument/2006/relationships/image" Target="../media/image19.png"/><Relationship Id="rId1" Type="http://schemas.openxmlformats.org/officeDocument/2006/relationships/tags" Target="../tags/tag160.xml"/></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tags" Target="../tags/tag163.xml"/><Relationship Id="rId2" Type="http://schemas.openxmlformats.org/officeDocument/2006/relationships/image" Target="../media/image20.png"/><Relationship Id="rId1" Type="http://schemas.openxmlformats.org/officeDocument/2006/relationships/tags" Target="../tags/tag162.xml"/></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tags" Target="../tags/tag165.xml"/><Relationship Id="rId2" Type="http://schemas.openxmlformats.org/officeDocument/2006/relationships/image" Target="../media/image21.png"/><Relationship Id="rId1" Type="http://schemas.openxmlformats.org/officeDocument/2006/relationships/tags" Target="../tags/tag164.xml"/></Relationships>
</file>

<file path=ppt/slides/_rels/slide23.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tags" Target="../tags/tag167.xml"/><Relationship Id="rId2" Type="http://schemas.openxmlformats.org/officeDocument/2006/relationships/image" Target="../media/image22.png"/><Relationship Id="rId1" Type="http://schemas.openxmlformats.org/officeDocument/2006/relationships/tags" Target="../tags/tag166.xml"/></Relationships>
</file>

<file path=ppt/slides/_rels/slide24.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tags" Target="../tags/tag169.xml"/><Relationship Id="rId2" Type="http://schemas.openxmlformats.org/officeDocument/2006/relationships/image" Target="../media/image23.png"/><Relationship Id="rId1" Type="http://schemas.openxmlformats.org/officeDocument/2006/relationships/tags" Target="../tags/tag168.xml"/></Relationships>
</file>

<file path=ppt/slides/_rels/slide25.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tags" Target="../tags/tag171.xml"/><Relationship Id="rId2" Type="http://schemas.openxmlformats.org/officeDocument/2006/relationships/image" Target="../media/image24.png"/><Relationship Id="rId1" Type="http://schemas.openxmlformats.org/officeDocument/2006/relationships/tags" Target="../tags/tag170.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72.xml"/><Relationship Id="rId1" Type="http://schemas.openxmlformats.org/officeDocument/2006/relationships/image" Target="../media/image4.png"/></Relationships>
</file>

<file path=ppt/slides/_rels/slide27.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tags" Target="../tags/tag174.xml"/><Relationship Id="rId2" Type="http://schemas.openxmlformats.org/officeDocument/2006/relationships/image" Target="../media/image25.png"/><Relationship Id="rId1" Type="http://schemas.openxmlformats.org/officeDocument/2006/relationships/tags" Target="../tags/tag173.xml"/></Relationships>
</file>

<file path=ppt/slides/_rels/slide28.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tags" Target="../tags/tag176.xml"/><Relationship Id="rId2" Type="http://schemas.openxmlformats.org/officeDocument/2006/relationships/image" Target="../media/image26.png"/><Relationship Id="rId1" Type="http://schemas.openxmlformats.org/officeDocument/2006/relationships/tags" Target="../tags/tag175.xml"/></Relationships>
</file>

<file path=ppt/slides/_rels/slide29.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tags" Target="../tags/tag178.xml"/><Relationship Id="rId2" Type="http://schemas.openxmlformats.org/officeDocument/2006/relationships/image" Target="../media/image27.png"/><Relationship Id="rId1" Type="http://schemas.openxmlformats.org/officeDocument/2006/relationships/tags" Target="../tags/tag177.xml"/></Relationships>
</file>

<file path=ppt/slides/_rels/slide30.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tags" Target="../tags/tag180.xml"/><Relationship Id="rId2" Type="http://schemas.openxmlformats.org/officeDocument/2006/relationships/image" Target="../media/image28.png"/><Relationship Id="rId1" Type="http://schemas.openxmlformats.org/officeDocument/2006/relationships/tags" Target="../tags/tag179.xml"/></Relationships>
</file>

<file path=ppt/slides/_rels/slide31.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tags" Target="../tags/tag182.xml"/><Relationship Id="rId2" Type="http://schemas.openxmlformats.org/officeDocument/2006/relationships/image" Target="../media/image29.png"/><Relationship Id="rId1" Type="http://schemas.openxmlformats.org/officeDocument/2006/relationships/tags" Target="../tags/tag181.xml"/></Relationships>
</file>

<file path=ppt/slides/_rels/slide32.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tags" Target="../tags/tag184.xml"/><Relationship Id="rId2" Type="http://schemas.openxmlformats.org/officeDocument/2006/relationships/image" Target="../media/image30.png"/><Relationship Id="rId1" Type="http://schemas.openxmlformats.org/officeDocument/2006/relationships/tags" Target="../tags/tag183.xml"/></Relationships>
</file>

<file path=ppt/slides/_rels/slide33.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tags" Target="../tags/tag186.xml"/><Relationship Id="rId2" Type="http://schemas.openxmlformats.org/officeDocument/2006/relationships/image" Target="../media/image31.png"/><Relationship Id="rId1" Type="http://schemas.openxmlformats.org/officeDocument/2006/relationships/tags" Target="../tags/tag185.xml"/></Relationships>
</file>

<file path=ppt/slides/_rels/slide34.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tags" Target="../tags/tag188.xml"/><Relationship Id="rId2" Type="http://schemas.openxmlformats.org/officeDocument/2006/relationships/image" Target="../media/image32.png"/><Relationship Id="rId1" Type="http://schemas.openxmlformats.org/officeDocument/2006/relationships/tags" Target="../tags/tag187.xml"/></Relationships>
</file>

<file path=ppt/slides/_rels/slide35.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tags" Target="../tags/tag190.xml"/><Relationship Id="rId2" Type="http://schemas.openxmlformats.org/officeDocument/2006/relationships/image" Target="../media/image33.png"/><Relationship Id="rId1" Type="http://schemas.openxmlformats.org/officeDocument/2006/relationships/tags" Target="../tags/tag189.xml"/></Relationships>
</file>

<file path=ppt/slides/_rels/slide36.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tags" Target="../tags/tag192.xml"/><Relationship Id="rId2" Type="http://schemas.openxmlformats.org/officeDocument/2006/relationships/image" Target="../media/image34.png"/><Relationship Id="rId1" Type="http://schemas.openxmlformats.org/officeDocument/2006/relationships/tags" Target="../tags/tag191.xml"/></Relationships>
</file>

<file path=ppt/slides/_rels/slide37.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tags" Target="../tags/tag194.xml"/><Relationship Id="rId2" Type="http://schemas.openxmlformats.org/officeDocument/2006/relationships/image" Target="../media/image35.png"/><Relationship Id="rId1" Type="http://schemas.openxmlformats.org/officeDocument/2006/relationships/tags" Target="../tags/tag193.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95.xml"/><Relationship Id="rId1" Type="http://schemas.openxmlformats.org/officeDocument/2006/relationships/image" Target="../media/image4.png"/></Relationships>
</file>

<file path=ppt/slides/_rels/slide39.xml.rels><?xml version="1.0" encoding="UTF-8" standalone="yes"?>
<Relationships xmlns="http://schemas.openxmlformats.org/package/2006/relationships"><Relationship Id="rId5" Type="http://schemas.openxmlformats.org/officeDocument/2006/relationships/slideLayout" Target="../slideLayouts/slideLayout6.xml"/><Relationship Id="rId4" Type="http://schemas.openxmlformats.org/officeDocument/2006/relationships/tags" Target="../tags/tag197.xml"/><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tags" Target="../tags/tag196.xml"/></Relationships>
</file>

<file path=ppt/slides/_rels/slide40.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tags" Target="../tags/tag199.xml"/><Relationship Id="rId2" Type="http://schemas.openxmlformats.org/officeDocument/2006/relationships/image" Target="../media/image38.png"/><Relationship Id="rId1" Type="http://schemas.openxmlformats.org/officeDocument/2006/relationships/tags" Target="../tags/tag198.xml"/></Relationships>
</file>

<file path=ppt/slides/_rels/slide41.xml.rels><?xml version="1.0" encoding="UTF-8" standalone="yes"?>
<Relationships xmlns="http://schemas.openxmlformats.org/package/2006/relationships"><Relationship Id="rId5" Type="http://schemas.openxmlformats.org/officeDocument/2006/relationships/slideLayout" Target="../slideLayouts/slideLayout6.xml"/><Relationship Id="rId4" Type="http://schemas.openxmlformats.org/officeDocument/2006/relationships/tags" Target="../tags/tag201.xml"/><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tags" Target="../tags/tag200.xml"/></Relationships>
</file>

<file path=ppt/slides/_rels/slide42.xml.rels><?xml version="1.0" encoding="UTF-8" standalone="yes"?>
<Relationships xmlns="http://schemas.openxmlformats.org/package/2006/relationships"><Relationship Id="rId5" Type="http://schemas.openxmlformats.org/officeDocument/2006/relationships/slideLayout" Target="../slideLayouts/slideLayout6.xml"/><Relationship Id="rId4" Type="http://schemas.openxmlformats.org/officeDocument/2006/relationships/tags" Target="../tags/tag203.xml"/><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tags" Target="../tags/tag202.xml"/></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04.xml"/><Relationship Id="rId1" Type="http://schemas.openxmlformats.org/officeDocument/2006/relationships/image" Target="../media/image4.png"/></Relationships>
</file>

<file path=ppt/slides/_rels/slide44.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tags" Target="../tags/tag206.xml"/><Relationship Id="rId2" Type="http://schemas.openxmlformats.org/officeDocument/2006/relationships/image" Target="../media/image43.png"/><Relationship Id="rId1" Type="http://schemas.openxmlformats.org/officeDocument/2006/relationships/tags" Target="../tags/tag205.xml"/></Relationships>
</file>

<file path=ppt/slides/_rels/slide45.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tags" Target="../tags/tag208.xml"/><Relationship Id="rId2" Type="http://schemas.openxmlformats.org/officeDocument/2006/relationships/image" Target="../media/image44.png"/><Relationship Id="rId1" Type="http://schemas.openxmlformats.org/officeDocument/2006/relationships/tags" Target="../tags/tag207.xml"/></Relationships>
</file>

<file path=ppt/slides/_rels/slide46.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tags" Target="../tags/tag210.xml"/><Relationship Id="rId2" Type="http://schemas.openxmlformats.org/officeDocument/2006/relationships/image" Target="../media/image45.png"/><Relationship Id="rId1" Type="http://schemas.openxmlformats.org/officeDocument/2006/relationships/tags" Target="../tags/tag209.xml"/></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11.xml"/><Relationship Id="rId1" Type="http://schemas.openxmlformats.org/officeDocument/2006/relationships/image" Target="../media/image4.png"/></Relationships>
</file>

<file path=ppt/slides/_rels/slide48.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tags" Target="../tags/tag213.xml"/><Relationship Id="rId2" Type="http://schemas.openxmlformats.org/officeDocument/2006/relationships/image" Target="../media/image46.png"/><Relationship Id="rId1" Type="http://schemas.openxmlformats.org/officeDocument/2006/relationships/tags" Target="../tags/tag212.xml"/></Relationships>
</file>

<file path=ppt/slides/_rels/slide49.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tags" Target="../tags/tag215.xml"/><Relationship Id="rId2" Type="http://schemas.openxmlformats.org/officeDocument/2006/relationships/image" Target="../media/image47.png"/><Relationship Id="rId1" Type="http://schemas.openxmlformats.org/officeDocument/2006/relationships/tags" Target="../tags/tag214.xml"/></Relationships>
</file>

<file path=ppt/slides/_rels/slide50.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tags" Target="../tags/tag217.xml"/><Relationship Id="rId2" Type="http://schemas.openxmlformats.org/officeDocument/2006/relationships/image" Target="../media/image48.png"/><Relationship Id="rId1" Type="http://schemas.openxmlformats.org/officeDocument/2006/relationships/tags" Target="../tags/tag216.xml"/></Relationships>
</file>

<file path=ppt/slides/_rels/slide51.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tags" Target="../tags/tag219.xml"/><Relationship Id="rId2" Type="http://schemas.openxmlformats.org/officeDocument/2006/relationships/image" Target="../media/image49.png"/><Relationship Id="rId1" Type="http://schemas.openxmlformats.org/officeDocument/2006/relationships/tags" Target="../tags/tag218.xml"/></Relationships>
</file>

<file path=ppt/slides/_rels/slide52.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tags" Target="../tags/tag221.xml"/><Relationship Id="rId2" Type="http://schemas.openxmlformats.org/officeDocument/2006/relationships/image" Target="../media/image50.png"/><Relationship Id="rId1" Type="http://schemas.openxmlformats.org/officeDocument/2006/relationships/tags" Target="../tags/tag220.xml"/></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22.xml"/><Relationship Id="rId1" Type="http://schemas.openxmlformats.org/officeDocument/2006/relationships/image" Target="../media/image4.png"/></Relationships>
</file>

<file path=ppt/slides/_rels/slide54.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tags" Target="../tags/tag224.xml"/><Relationship Id="rId2" Type="http://schemas.openxmlformats.org/officeDocument/2006/relationships/image" Target="../media/image51.png"/><Relationship Id="rId1" Type="http://schemas.openxmlformats.org/officeDocument/2006/relationships/tags" Target="../tags/tag223.xml"/></Relationships>
</file>

<file path=ppt/slides/_rels/slide55.xml.rels><?xml version="1.0" encoding="UTF-8" standalone="yes"?>
<Relationships xmlns="http://schemas.openxmlformats.org/package/2006/relationships"><Relationship Id="rId5" Type="http://schemas.openxmlformats.org/officeDocument/2006/relationships/slideLayout" Target="../slideLayouts/slideLayout6.xml"/><Relationship Id="rId4" Type="http://schemas.openxmlformats.org/officeDocument/2006/relationships/tags" Target="../tags/tag226.xml"/><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tags" Target="../tags/tag225.xml"/></Relationships>
</file>

<file path=ppt/slides/_rels/slide56.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tags" Target="../tags/tag228.xml"/><Relationship Id="rId2" Type="http://schemas.openxmlformats.org/officeDocument/2006/relationships/image" Target="../media/image54.png"/><Relationship Id="rId1" Type="http://schemas.openxmlformats.org/officeDocument/2006/relationships/tags" Target="../tags/tag227.xml"/></Relationships>
</file>

<file path=ppt/slides/_rels/slide57.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tags" Target="../tags/tag230.xml"/><Relationship Id="rId2" Type="http://schemas.openxmlformats.org/officeDocument/2006/relationships/image" Target="../media/image55.png"/><Relationship Id="rId1" Type="http://schemas.openxmlformats.org/officeDocument/2006/relationships/tags" Target="../tags/tag229.xml"/></Relationships>
</file>

<file path=ppt/slides/_rels/slide58.xml.rels><?xml version="1.0" encoding="UTF-8" standalone="yes"?>
<Relationships xmlns="http://schemas.openxmlformats.org/package/2006/relationships"><Relationship Id="rId4" Type="http://schemas.openxmlformats.org/officeDocument/2006/relationships/slideLayout" Target="../slideLayouts/slideLayout10.xml"/><Relationship Id="rId3" Type="http://schemas.openxmlformats.org/officeDocument/2006/relationships/tags" Target="../tags/tag232.xml"/><Relationship Id="rId2" Type="http://schemas.openxmlformats.org/officeDocument/2006/relationships/image" Target="../media/image4.png"/><Relationship Id="rId1" Type="http://schemas.openxmlformats.org/officeDocument/2006/relationships/tags" Target="../tags/tag231.xml"/></Relationships>
</file>

<file path=ppt/slides/_rels/slide59.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tags" Target="../tags/tag234.xml"/><Relationship Id="rId2" Type="http://schemas.openxmlformats.org/officeDocument/2006/relationships/image" Target="../media/image56.png"/><Relationship Id="rId1" Type="http://schemas.openxmlformats.org/officeDocument/2006/relationships/tags" Target="../tags/tag233.xml"/></Relationships>
</file>

<file path=ppt/slides/_rels/slide60.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tags" Target="../tags/tag236.xml"/><Relationship Id="rId2" Type="http://schemas.openxmlformats.org/officeDocument/2006/relationships/image" Target="../media/image57.png"/><Relationship Id="rId1" Type="http://schemas.openxmlformats.org/officeDocument/2006/relationships/tags" Target="../tags/tag235.xml"/></Relationships>
</file>

<file path=ppt/slides/_rels/slide61.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tags" Target="../tags/tag238.xml"/><Relationship Id="rId2" Type="http://schemas.openxmlformats.org/officeDocument/2006/relationships/image" Target="../media/image58.png"/><Relationship Id="rId1" Type="http://schemas.openxmlformats.org/officeDocument/2006/relationships/tags" Target="../tags/tag237.xml"/></Relationships>
</file>

<file path=ppt/slides/_rels/slide6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39.xml"/><Relationship Id="rId1" Type="http://schemas.openxmlformats.org/officeDocument/2006/relationships/image" Target="../media/image59.png"/></Relationships>
</file>

<file path=ppt/slides/_rels/slide6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40.xml"/><Relationship Id="rId1" Type="http://schemas.openxmlformats.org/officeDocument/2006/relationships/image" Target="../media/image6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hatGPT Image Jul 30, 2026, 07_45_14 PM"/>
          <p:cNvPicPr>
            <a:picLocks noChangeAspect="1"/>
          </p:cNvPicPr>
          <p:nvPr/>
        </p:nvPicPr>
        <p:blipFill>
          <a:blip r:embed="rId1"/>
          <a:stretch>
            <a:fillRect/>
          </a:stretch>
        </p:blipFill>
        <p:spPr>
          <a:xfrm>
            <a:off x="0" y="0"/>
            <a:ext cx="12192000" cy="6858000"/>
          </a:xfrm>
          <a:prstGeom prst="rect">
            <a:avLst/>
          </a:prstGeom>
        </p:spPr>
      </p:pic>
    </p:spTree>
    <p:custDataLst>
      <p:tags r:id="rId2"/>
    </p:custDataLst>
  </p:cSld>
  <p:clrMapOvr>
    <a:masterClrMapping/>
  </p:clrMapOvr>
  <mc:AlternateContent xmlns:mc="http://schemas.openxmlformats.org/markup-compatibility/2006">
    <mc:Choice xmlns:p14="http://schemas.microsoft.com/office/powerpoint/2010/main" Requires="p14">
      <p:transition spd="slow" p14:dur="1200"/>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descr="ChatGPT Image Jul 30, 2026, 08_07_18 PM"/>
          <p:cNvPicPr>
            <a:picLocks noChangeAspect="1"/>
          </p:cNvPicPr>
          <p:nvPr/>
        </p:nvPicPr>
        <p:blipFill>
          <a:blip r:embed="rId1"/>
          <a:stretch>
            <a:fillRect/>
          </a:stretch>
        </p:blipFill>
        <p:spPr>
          <a:xfrm>
            <a:off x="3175" y="0"/>
            <a:ext cx="12185015" cy="6858000"/>
          </a:xfrm>
          <a:prstGeom prst="rect">
            <a:avLst/>
          </a:prstGeom>
        </p:spPr>
      </p:pic>
    </p:spTree>
    <p:custDataLst>
      <p:tags r:id="rId2"/>
    </p:custDataLst>
  </p:cSld>
  <p:clrMapOvr>
    <a:masterClrMapping/>
  </p:clrMapOvr>
  <mc:AlternateContent xmlns:mc="http://schemas.openxmlformats.org/markup-compatibility/2006">
    <mc:Choice xmlns:p14="http://schemas.microsoft.com/office/powerpoint/2010/main" Requires="p14">
      <p:transition spd="med" p14:dur="699"/>
    </mc:Choice>
    <mc:Fallback>
      <p:transition spd="med"/>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a:xfrm>
            <a:off x="635" y="635"/>
            <a:ext cx="12190730" cy="786765"/>
          </a:xfrm>
        </p:spPr>
        <p:style>
          <a:lnRef idx="2">
            <a:schemeClr val="accent1"/>
          </a:lnRef>
          <a:fillRef idx="2">
            <a:schemeClr val="accent1"/>
          </a:fillRef>
          <a:effectRef idx="0">
            <a:srgbClr val="FFFFFF"/>
          </a:effectRef>
          <a:fontRef idx="minor">
            <a:schemeClr val="lt1"/>
          </a:fontRef>
        </p:style>
        <p:txBody>
          <a:bodyPr/>
          <a:p>
            <a:pPr algn="ctr">
              <a:lnSpc>
                <a:spcPct val="100000"/>
              </a:lnSpc>
            </a:pPr>
            <a:r>
              <a:rPr lang="en-US" sz="4000" b="1">
                <a:solidFill>
                  <a:schemeClr val="accent1">
                    <a:lumMod val="50000"/>
                  </a:schemeClr>
                </a:solidFill>
                <a:latin typeface="Cambria" panose="02040503050406030204" charset="0"/>
                <a:cs typeface="Cambria" panose="02040503050406030204" charset="0"/>
              </a:rPr>
              <a:t>ER-Diagram</a:t>
            </a:r>
            <a:endParaRPr lang="en-US" sz="4000" b="1">
              <a:solidFill>
                <a:schemeClr val="accent1">
                  <a:lumMod val="50000"/>
                </a:schemeClr>
              </a:solidFill>
              <a:latin typeface="Cambria" panose="02040503050406030204" charset="0"/>
              <a:cs typeface="Cambria" panose="02040503050406030204" charset="0"/>
            </a:endParaRPr>
          </a:p>
        </p:txBody>
      </p:sp>
      <p:pic>
        <p:nvPicPr>
          <p:cNvPr id="7" name="Content Placeholder 6" descr="ER Diagram"/>
          <p:cNvPicPr>
            <a:picLocks noChangeAspect="1"/>
          </p:cNvPicPr>
          <p:nvPr>
            <p:ph idx="1"/>
            <p:custDataLst>
              <p:tags r:id="rId2"/>
            </p:custDataLst>
          </p:nvPr>
        </p:nvPicPr>
        <p:blipFill>
          <a:blip r:embed="rId3"/>
          <a:stretch>
            <a:fillRect/>
          </a:stretch>
        </p:blipFill>
        <p:spPr>
          <a:xfrm>
            <a:off x="0" y="787400"/>
            <a:ext cx="12191365" cy="6070600"/>
          </a:xfrm>
          <a:prstGeom prst="rect">
            <a:avLst/>
          </a:prstGeom>
        </p:spPr>
      </p:pic>
    </p:spTree>
    <p:custDataLst>
      <p:tags r:id="rId4"/>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ext Box 4"/>
          <p:cNvSpPr txBox="1"/>
          <p:nvPr/>
        </p:nvSpPr>
        <p:spPr>
          <a:xfrm>
            <a:off x="429895" y="5076825"/>
            <a:ext cx="11331575" cy="1356360"/>
          </a:xfrm>
          <a:prstGeom prst="rect">
            <a:avLst/>
          </a:prstGeom>
          <a:noFill/>
        </p:spPr>
        <p:txBody>
          <a:bodyPr wrap="square" rtlCol="0">
            <a:noAutofit/>
          </a:bodyPr>
          <a:p>
            <a:pPr algn="ctr"/>
            <a:endParaRPr lang="en-US" sz="7200" b="1">
              <a:solidFill>
                <a:srgbClr val="002060"/>
              </a:solidFill>
              <a:latin typeface="Cambria" panose="02040503050406030204" charset="0"/>
              <a:cs typeface="Cambria" panose="02040503050406030204" charset="0"/>
            </a:endParaRPr>
          </a:p>
        </p:txBody>
      </p:sp>
      <p:pic>
        <p:nvPicPr>
          <p:cNvPr id="6" name="Picture 5" descr="ChatGPT Image Aug 4, 2026, 11_03_12 PM"/>
          <p:cNvPicPr>
            <a:picLocks noChangeAspect="1"/>
          </p:cNvPicPr>
          <p:nvPr/>
        </p:nvPicPr>
        <p:blipFill>
          <a:blip r:embed="rId1"/>
          <a:stretch>
            <a:fillRect/>
          </a:stretch>
        </p:blipFill>
        <p:spPr>
          <a:xfrm>
            <a:off x="0" y="0"/>
            <a:ext cx="12192000" cy="6858000"/>
          </a:xfrm>
          <a:prstGeom prst="rect">
            <a:avLst/>
          </a:prstGeom>
        </p:spPr>
      </p:pic>
      <p:sp>
        <p:nvSpPr>
          <p:cNvPr id="7" name="Text Box 6"/>
          <p:cNvSpPr txBox="1"/>
          <p:nvPr/>
        </p:nvSpPr>
        <p:spPr>
          <a:xfrm>
            <a:off x="-635" y="5076825"/>
            <a:ext cx="12193270" cy="1526540"/>
          </a:xfrm>
          <a:prstGeom prst="rect">
            <a:avLst/>
          </a:prstGeom>
          <a:noFill/>
        </p:spPr>
        <p:txBody>
          <a:bodyPr wrap="square" rtlCol="0">
            <a:noAutofit/>
          </a:bodyPr>
          <a:p>
            <a:pPr algn="ctr"/>
            <a:r>
              <a:rPr lang="en-US" sz="8500" b="1">
                <a:solidFill>
                  <a:srgbClr val="090B62"/>
                </a:solidFill>
                <a:latin typeface="Cambria" panose="02040503050406030204" charset="0"/>
                <a:cs typeface="Cambria" panose="02040503050406030204" charset="0"/>
                <a:sym typeface="+mn-ea"/>
              </a:rPr>
              <a:t>Structure of Table</a:t>
            </a:r>
            <a:endParaRPr lang="en-US" sz="8500" b="1">
              <a:solidFill>
                <a:srgbClr val="090B62"/>
              </a:solidFill>
              <a:latin typeface="Cambria" panose="02040503050406030204" charset="0"/>
              <a:cs typeface="Cambria" panose="02040503050406030204" charset="0"/>
              <a:sym typeface="+mn-ea"/>
            </a:endParaRPr>
          </a:p>
        </p:txBody>
      </p:sp>
    </p:spTree>
    <p:custDataLst>
      <p:tags r:id="rId2"/>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a:xfrm>
            <a:off x="-635" y="-635"/>
            <a:ext cx="12192000" cy="805815"/>
          </a:xfrm>
        </p:spPr>
        <p:style>
          <a:lnRef idx="2">
            <a:schemeClr val="accent1"/>
          </a:lnRef>
          <a:fillRef idx="2">
            <a:schemeClr val="accent1"/>
          </a:fillRef>
          <a:effectRef idx="0">
            <a:srgbClr val="FFFFFF"/>
          </a:effectRef>
          <a:fontRef idx="minor">
            <a:schemeClr val="lt1"/>
          </a:fontRef>
        </p:style>
        <p:txBody>
          <a:bodyPr/>
          <a:p>
            <a:pPr algn="ctr"/>
            <a:r>
              <a:rPr lang="en-US" altLang="en-US" sz="4000" b="1">
                <a:solidFill>
                  <a:srgbClr val="002060"/>
                </a:solidFill>
                <a:latin typeface="Cambria" panose="02040503050406030204" charset="0"/>
                <a:cs typeface="Cambria" panose="02040503050406030204" charset="0"/>
              </a:rPr>
              <a:t>Table 1: Airlines</a:t>
            </a:r>
            <a:endParaRPr lang="en-US" altLang="en-US" sz="4000" b="1">
              <a:solidFill>
                <a:srgbClr val="002060"/>
              </a:solidFill>
              <a:latin typeface="Cambria" panose="02040503050406030204" charset="0"/>
              <a:cs typeface="Cambria" panose="02040503050406030204" charset="0"/>
            </a:endParaRPr>
          </a:p>
        </p:txBody>
      </p:sp>
      <p:pic>
        <p:nvPicPr>
          <p:cNvPr id="2" name="Picture 1"/>
          <p:cNvPicPr>
            <a:picLocks noChangeAspect="1"/>
          </p:cNvPicPr>
          <p:nvPr/>
        </p:nvPicPr>
        <p:blipFill>
          <a:blip r:embed="rId2"/>
          <a:srcRect t="549"/>
          <a:stretch>
            <a:fillRect/>
          </a:stretch>
        </p:blipFill>
        <p:spPr>
          <a:xfrm>
            <a:off x="0" y="825500"/>
            <a:ext cx="6095365" cy="3794125"/>
          </a:xfrm>
          <a:prstGeom prst="rect">
            <a:avLst/>
          </a:prstGeom>
        </p:spPr>
      </p:pic>
      <p:sp>
        <p:nvSpPr>
          <p:cNvPr id="3" name="Text Box 2"/>
          <p:cNvSpPr txBox="1"/>
          <p:nvPr/>
        </p:nvSpPr>
        <p:spPr>
          <a:xfrm>
            <a:off x="6404610" y="1183005"/>
            <a:ext cx="5787390" cy="5674995"/>
          </a:xfrm>
          <a:prstGeom prst="rect">
            <a:avLst/>
          </a:prstGeom>
          <a:noFill/>
        </p:spPr>
        <p:txBody>
          <a:bodyPr wrap="square" rtlCol="0">
            <a:noAutofit/>
          </a:bodyPr>
          <a:p>
            <a:r>
              <a:rPr lang="en-US" sz="2800" b="1">
                <a:solidFill>
                  <a:srgbClr val="002060"/>
                </a:solidFill>
                <a:latin typeface="Cambria" panose="02040503050406030204" charset="0"/>
                <a:cs typeface="Cambria" panose="02040503050406030204" charset="0"/>
              </a:rPr>
              <a:t>Airlines Table</a:t>
            </a:r>
            <a:endParaRPr lang="en-US" sz="3200" b="1">
              <a:solidFill>
                <a:srgbClr val="002060"/>
              </a:solidFill>
              <a:latin typeface="Cambria" panose="02040503050406030204" charset="0"/>
              <a:cs typeface="Cambria" panose="02040503050406030204" charset="0"/>
            </a:endParaRPr>
          </a:p>
          <a:p>
            <a:r>
              <a:rPr lang="en-US" altLang="en-US" sz="2400">
                <a:solidFill>
                  <a:srgbClr val="002060"/>
                </a:solidFill>
                <a:latin typeface="Cambria" panose="02040503050406030204" charset="0"/>
                <a:cs typeface="Cambria" panose="02040503050406030204" charset="0"/>
              </a:rPr>
              <a:t>This table stores information about different airlines operating flights in the system. It contains details such as airline identification, airline name, country, and contact information. The table helps maintain airline-related records and establishes a relationship with the Flights table for managing flight operations.</a:t>
            </a:r>
            <a:r>
              <a:rPr lang="en-US" sz="2400">
                <a:solidFill>
                  <a:srgbClr val="002060"/>
                </a:solidFill>
                <a:latin typeface="Cambria" panose="02040503050406030204" charset="0"/>
                <a:cs typeface="Cambria" panose="02040503050406030204" charset="0"/>
              </a:rPr>
              <a:t> </a:t>
            </a:r>
            <a:endParaRPr lang="en-US" sz="2400">
              <a:solidFill>
                <a:srgbClr val="002060"/>
              </a:solidFill>
              <a:latin typeface="Cambria" panose="02040503050406030204" charset="0"/>
              <a:cs typeface="Cambria" panose="02040503050406030204" charset="0"/>
            </a:endParaRPr>
          </a:p>
          <a:p>
            <a:endParaRPr lang="en-US" sz="2400">
              <a:solidFill>
                <a:srgbClr val="002060"/>
              </a:solidFill>
              <a:latin typeface="Cambria" panose="02040503050406030204" charset="0"/>
              <a:cs typeface="Cambria" panose="02040503050406030204" charset="0"/>
            </a:endParaRPr>
          </a:p>
          <a:p>
            <a:r>
              <a:rPr lang="en-US" sz="2400">
                <a:solidFill>
                  <a:srgbClr val="002060"/>
                </a:solidFill>
                <a:latin typeface="Cambria" panose="02040503050406030204" charset="0"/>
                <a:cs typeface="Cambria" panose="02040503050406030204" charset="0"/>
              </a:rPr>
              <a:t>SYNTAX:- DESC Airlines;</a:t>
            </a:r>
            <a:endParaRPr lang="en-US" sz="2400">
              <a:solidFill>
                <a:srgbClr val="002060"/>
              </a:solidFill>
              <a:latin typeface="Cambria" panose="02040503050406030204" charset="0"/>
              <a:cs typeface="Cambria" panose="02040503050406030204" charset="0"/>
            </a:endParaRPr>
          </a:p>
        </p:txBody>
      </p:sp>
    </p:spTree>
    <p:custDataLst>
      <p:tags r:id="rId3"/>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a:xfrm>
            <a:off x="-635" y="-635"/>
            <a:ext cx="12192000" cy="805815"/>
          </a:xfrm>
        </p:spPr>
        <p:style>
          <a:lnRef idx="2">
            <a:schemeClr val="accent1"/>
          </a:lnRef>
          <a:fillRef idx="2">
            <a:schemeClr val="accent1"/>
          </a:fillRef>
          <a:effectRef idx="0">
            <a:srgbClr val="FFFFFF"/>
          </a:effectRef>
          <a:fontRef idx="minor">
            <a:schemeClr val="lt1"/>
          </a:fontRef>
        </p:style>
        <p:txBody>
          <a:bodyPr/>
          <a:p>
            <a:pPr algn="ctr"/>
            <a:r>
              <a:rPr lang="en-US" altLang="en-US" sz="4000" b="1">
                <a:solidFill>
                  <a:srgbClr val="002060"/>
                </a:solidFill>
                <a:latin typeface="Cambria" panose="02040503050406030204" charset="0"/>
                <a:cs typeface="Cambria" panose="02040503050406030204" charset="0"/>
              </a:rPr>
              <a:t>Table 2: Airports</a:t>
            </a:r>
            <a:endParaRPr lang="en-US" altLang="en-US" sz="4000" b="1">
              <a:solidFill>
                <a:srgbClr val="002060"/>
              </a:solidFill>
              <a:latin typeface="Cambria" panose="02040503050406030204" charset="0"/>
              <a:cs typeface="Cambria" panose="02040503050406030204" charset="0"/>
            </a:endParaRPr>
          </a:p>
        </p:txBody>
      </p:sp>
      <p:pic>
        <p:nvPicPr>
          <p:cNvPr id="2" name="Picture 1"/>
          <p:cNvPicPr>
            <a:picLocks noChangeAspect="1"/>
          </p:cNvPicPr>
          <p:nvPr/>
        </p:nvPicPr>
        <p:blipFill>
          <a:blip r:embed="rId2"/>
          <a:stretch>
            <a:fillRect/>
          </a:stretch>
        </p:blipFill>
        <p:spPr>
          <a:xfrm>
            <a:off x="-635" y="805180"/>
            <a:ext cx="6096000" cy="5052060"/>
          </a:xfrm>
          <a:prstGeom prst="rect">
            <a:avLst/>
          </a:prstGeom>
        </p:spPr>
      </p:pic>
      <p:sp>
        <p:nvSpPr>
          <p:cNvPr id="3" name="Text Box 2"/>
          <p:cNvSpPr txBox="1"/>
          <p:nvPr/>
        </p:nvSpPr>
        <p:spPr>
          <a:xfrm>
            <a:off x="6544310" y="1333500"/>
            <a:ext cx="5023485" cy="2424430"/>
          </a:xfrm>
          <a:prstGeom prst="rect">
            <a:avLst/>
          </a:prstGeom>
          <a:noFill/>
        </p:spPr>
        <p:txBody>
          <a:bodyPr wrap="square" rtlCol="0">
            <a:noAutofit/>
          </a:bodyPr>
          <a:p>
            <a:r>
              <a:rPr lang="en-US" sz="2800" b="1">
                <a:solidFill>
                  <a:srgbClr val="002060"/>
                </a:solidFill>
                <a:latin typeface="Cambria" panose="02040503050406030204" charset="0"/>
                <a:cs typeface="Cambria" panose="02040503050406030204" charset="0"/>
              </a:rPr>
              <a:t>Airports Table</a:t>
            </a:r>
            <a:endParaRPr lang="en-US"/>
          </a:p>
          <a:p>
            <a:r>
              <a:rPr lang="en-US" altLang="en-US" sz="2400">
                <a:solidFill>
                  <a:srgbClr val="002060"/>
                </a:solidFill>
                <a:latin typeface="Cambria" panose="02040503050406030204" charset="0"/>
                <a:cs typeface="Cambria" panose="02040503050406030204" charset="0"/>
              </a:rPr>
              <a:t>This table stores information about different airports involved in flight operations. It contains details such as airport identification, airport name, city, country, and airport code. The table helps manage departure and arrival locations of flights and maintains airport-related records within the airline reservation system.</a:t>
            </a:r>
            <a:endParaRPr lang="en-US" altLang="en-US" sz="2400">
              <a:solidFill>
                <a:srgbClr val="002060"/>
              </a:solidFill>
              <a:latin typeface="Cambria" panose="02040503050406030204" charset="0"/>
              <a:cs typeface="Cambria" panose="02040503050406030204" charset="0"/>
            </a:endParaRPr>
          </a:p>
          <a:p>
            <a:endParaRPr lang="en-US" altLang="en-US" sz="2400">
              <a:solidFill>
                <a:srgbClr val="002060"/>
              </a:solidFill>
              <a:latin typeface="Cambria" panose="02040503050406030204" charset="0"/>
              <a:cs typeface="Cambria" panose="02040503050406030204" charset="0"/>
            </a:endParaRPr>
          </a:p>
          <a:p>
            <a:r>
              <a:rPr lang="en-US" altLang="en-US" sz="2400">
                <a:solidFill>
                  <a:srgbClr val="002060"/>
                </a:solidFill>
                <a:latin typeface="Cambria" panose="02040503050406030204" charset="0"/>
                <a:cs typeface="Cambria" panose="02040503050406030204" charset="0"/>
              </a:rPr>
              <a:t>SYNTAX:- DESC Airports;</a:t>
            </a:r>
            <a:endParaRPr lang="en-US" altLang="en-US" sz="2400">
              <a:solidFill>
                <a:srgbClr val="002060"/>
              </a:solidFill>
              <a:latin typeface="Cambria" panose="02040503050406030204" charset="0"/>
              <a:cs typeface="Cambria" panose="02040503050406030204" charset="0"/>
            </a:endParaRPr>
          </a:p>
        </p:txBody>
      </p:sp>
    </p:spTree>
    <p:custDataLst>
      <p:tags r:id="rId3"/>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a:xfrm>
            <a:off x="-635" y="-635"/>
            <a:ext cx="12192000" cy="805815"/>
          </a:xfrm>
        </p:spPr>
        <p:style>
          <a:lnRef idx="2">
            <a:schemeClr val="accent1"/>
          </a:lnRef>
          <a:fillRef idx="2">
            <a:schemeClr val="accent1"/>
          </a:fillRef>
          <a:effectRef idx="0">
            <a:srgbClr val="FFFFFF"/>
          </a:effectRef>
          <a:fontRef idx="minor">
            <a:schemeClr val="lt1"/>
          </a:fontRef>
        </p:style>
        <p:txBody>
          <a:bodyPr/>
          <a:p>
            <a:pPr algn="ctr"/>
            <a:r>
              <a:rPr lang="en-US" altLang="en-US" sz="4000" b="1">
                <a:solidFill>
                  <a:srgbClr val="002060"/>
                </a:solidFill>
                <a:latin typeface="Cambria" panose="02040503050406030204" charset="0"/>
                <a:cs typeface="Cambria" panose="02040503050406030204" charset="0"/>
              </a:rPr>
              <a:t>Table 3: Flights</a:t>
            </a:r>
            <a:endParaRPr lang="en-US" altLang="en-US" sz="4000" b="1">
              <a:solidFill>
                <a:srgbClr val="002060"/>
              </a:solidFill>
              <a:latin typeface="Cambria" panose="02040503050406030204" charset="0"/>
              <a:cs typeface="Cambria" panose="02040503050406030204" charset="0"/>
            </a:endParaRPr>
          </a:p>
        </p:txBody>
      </p:sp>
      <p:pic>
        <p:nvPicPr>
          <p:cNvPr id="2" name="Picture 1"/>
          <p:cNvPicPr>
            <a:picLocks noChangeAspect="1"/>
          </p:cNvPicPr>
          <p:nvPr/>
        </p:nvPicPr>
        <p:blipFill>
          <a:blip r:embed="rId2"/>
          <a:stretch>
            <a:fillRect/>
          </a:stretch>
        </p:blipFill>
        <p:spPr>
          <a:xfrm>
            <a:off x="-635" y="805180"/>
            <a:ext cx="6096635" cy="5250815"/>
          </a:xfrm>
          <a:prstGeom prst="rect">
            <a:avLst/>
          </a:prstGeom>
        </p:spPr>
      </p:pic>
      <p:sp>
        <p:nvSpPr>
          <p:cNvPr id="3" name="Text Box 2"/>
          <p:cNvSpPr txBox="1"/>
          <p:nvPr/>
        </p:nvSpPr>
        <p:spPr>
          <a:xfrm>
            <a:off x="6470650" y="1132840"/>
            <a:ext cx="5426075" cy="5724525"/>
          </a:xfrm>
          <a:prstGeom prst="rect">
            <a:avLst/>
          </a:prstGeom>
          <a:noFill/>
        </p:spPr>
        <p:txBody>
          <a:bodyPr wrap="square" rtlCol="0">
            <a:noAutofit/>
          </a:bodyPr>
          <a:p>
            <a:r>
              <a:rPr lang="en-US" sz="2800" b="1">
                <a:solidFill>
                  <a:srgbClr val="002060"/>
                </a:solidFill>
                <a:latin typeface="Cambria" panose="02040503050406030204" charset="0"/>
                <a:cs typeface="Cambria" panose="02040503050406030204" charset="0"/>
              </a:rPr>
              <a:t>Flights Table</a:t>
            </a:r>
            <a:endParaRPr lang="en-US" sz="2400">
              <a:solidFill>
                <a:srgbClr val="002060"/>
              </a:solidFill>
              <a:latin typeface="Cambria" panose="02040503050406030204" charset="0"/>
              <a:cs typeface="Cambria" panose="02040503050406030204" charset="0"/>
            </a:endParaRPr>
          </a:p>
          <a:p>
            <a:r>
              <a:rPr lang="en-US" altLang="en-US" sz="2400">
                <a:solidFill>
                  <a:srgbClr val="002060"/>
                </a:solidFill>
                <a:latin typeface="Cambria" panose="02040503050406030204" charset="0"/>
                <a:cs typeface="Cambria" panose="02040503050406030204" charset="0"/>
              </a:rPr>
              <a:t>This table stores information about all flights available in the airline reservation system. It contains details such as flight identification, flight number, airline information, departure and arrival locations, travel dates, and flight timing. The table helps manage flight schedules and establishes relationships between airlines, airports, and ticket bookings.</a:t>
            </a:r>
            <a:endParaRPr lang="en-US" altLang="en-US" sz="2400">
              <a:solidFill>
                <a:srgbClr val="002060"/>
              </a:solidFill>
              <a:latin typeface="Cambria" panose="02040503050406030204" charset="0"/>
              <a:cs typeface="Cambria" panose="02040503050406030204" charset="0"/>
            </a:endParaRPr>
          </a:p>
          <a:p>
            <a:endParaRPr lang="en-US" altLang="en-US" sz="2400">
              <a:solidFill>
                <a:srgbClr val="002060"/>
              </a:solidFill>
              <a:latin typeface="Cambria" panose="02040503050406030204" charset="0"/>
              <a:cs typeface="Cambria" panose="02040503050406030204" charset="0"/>
            </a:endParaRPr>
          </a:p>
          <a:p>
            <a:r>
              <a:rPr lang="en-US" altLang="en-US" sz="2400">
                <a:solidFill>
                  <a:srgbClr val="002060"/>
                </a:solidFill>
                <a:latin typeface="Cambria" panose="02040503050406030204" charset="0"/>
                <a:cs typeface="Cambria" panose="02040503050406030204" charset="0"/>
              </a:rPr>
              <a:t>SYNTAX:- DESC Flights;</a:t>
            </a:r>
            <a:endParaRPr lang="en-US" altLang="en-US" sz="2400">
              <a:solidFill>
                <a:srgbClr val="002060"/>
              </a:solidFill>
              <a:latin typeface="Cambria" panose="02040503050406030204" charset="0"/>
              <a:cs typeface="Cambria" panose="02040503050406030204" charset="0"/>
            </a:endParaRPr>
          </a:p>
        </p:txBody>
      </p:sp>
    </p:spTree>
    <p:custDataLst>
      <p:tags r:id="rId3"/>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a:xfrm>
            <a:off x="-635" y="-635"/>
            <a:ext cx="12192000" cy="805815"/>
          </a:xfrm>
        </p:spPr>
        <p:style>
          <a:lnRef idx="2">
            <a:schemeClr val="accent1"/>
          </a:lnRef>
          <a:fillRef idx="2">
            <a:schemeClr val="accent1"/>
          </a:fillRef>
          <a:effectRef idx="0">
            <a:srgbClr val="FFFFFF"/>
          </a:effectRef>
          <a:fontRef idx="minor">
            <a:schemeClr val="lt1"/>
          </a:fontRef>
        </p:style>
        <p:txBody>
          <a:bodyPr/>
          <a:p>
            <a:pPr algn="ctr"/>
            <a:r>
              <a:rPr lang="en-US" altLang="en-US" sz="4000" b="1">
                <a:solidFill>
                  <a:srgbClr val="002060"/>
                </a:solidFill>
                <a:latin typeface="Cambria" panose="02040503050406030204" charset="0"/>
                <a:cs typeface="Cambria" panose="02040503050406030204" charset="0"/>
              </a:rPr>
              <a:t>Table 4: Passengers</a:t>
            </a:r>
            <a:endParaRPr lang="en-US" altLang="en-US" sz="4000" b="1">
              <a:solidFill>
                <a:srgbClr val="002060"/>
              </a:solidFill>
              <a:latin typeface="Cambria" panose="02040503050406030204" charset="0"/>
              <a:cs typeface="Cambria" panose="02040503050406030204" charset="0"/>
            </a:endParaRPr>
          </a:p>
        </p:txBody>
      </p:sp>
      <p:pic>
        <p:nvPicPr>
          <p:cNvPr id="2" name="Picture 1"/>
          <p:cNvPicPr>
            <a:picLocks noChangeAspect="1"/>
          </p:cNvPicPr>
          <p:nvPr/>
        </p:nvPicPr>
        <p:blipFill>
          <a:blip r:embed="rId2"/>
          <a:srcRect b="8325"/>
          <a:stretch>
            <a:fillRect/>
          </a:stretch>
        </p:blipFill>
        <p:spPr>
          <a:xfrm>
            <a:off x="0" y="805180"/>
            <a:ext cx="6095365" cy="4700905"/>
          </a:xfrm>
          <a:prstGeom prst="rect">
            <a:avLst/>
          </a:prstGeom>
        </p:spPr>
      </p:pic>
      <p:sp>
        <p:nvSpPr>
          <p:cNvPr id="3" name="Text Box 2"/>
          <p:cNvSpPr txBox="1"/>
          <p:nvPr/>
        </p:nvSpPr>
        <p:spPr>
          <a:xfrm>
            <a:off x="6541135" y="1126490"/>
            <a:ext cx="5650230" cy="5731510"/>
          </a:xfrm>
          <a:prstGeom prst="rect">
            <a:avLst/>
          </a:prstGeom>
          <a:noFill/>
        </p:spPr>
        <p:txBody>
          <a:bodyPr wrap="square" rtlCol="0">
            <a:noAutofit/>
          </a:bodyPr>
          <a:p>
            <a:r>
              <a:rPr lang="en-US" sz="2800" b="1">
                <a:solidFill>
                  <a:srgbClr val="002060"/>
                </a:solidFill>
                <a:latin typeface="Cambria" panose="02040503050406030204" charset="0"/>
                <a:cs typeface="Cambria" panose="02040503050406030204" charset="0"/>
              </a:rPr>
              <a:t>Passengers Table</a:t>
            </a:r>
            <a:endParaRPr lang="en-US" sz="2800" b="1">
              <a:solidFill>
                <a:srgbClr val="002060"/>
              </a:solidFill>
              <a:latin typeface="Cambria" panose="02040503050406030204" charset="0"/>
              <a:cs typeface="Cambria" panose="02040503050406030204" charset="0"/>
            </a:endParaRPr>
          </a:p>
          <a:p>
            <a:r>
              <a:rPr lang="en-US" altLang="en-US" sz="2400">
                <a:solidFill>
                  <a:srgbClr val="002060"/>
                </a:solidFill>
                <a:latin typeface="Cambria" panose="02040503050406030204" charset="0"/>
                <a:cs typeface="Cambria" panose="02040503050406030204" charset="0"/>
              </a:rPr>
              <a:t>This table stores information about passengers who use the airline reservation system. It contains personal details of passengers such as their identification number, name, contact information, and other relevant details required for ticket booking and travel management. The table helps maintain passenger records and establishes a relationship with ticket bookings.</a:t>
            </a:r>
            <a:endParaRPr lang="en-US" altLang="en-US" sz="2400">
              <a:solidFill>
                <a:srgbClr val="002060"/>
              </a:solidFill>
              <a:latin typeface="Cambria" panose="02040503050406030204" charset="0"/>
              <a:cs typeface="Cambria" panose="02040503050406030204" charset="0"/>
            </a:endParaRPr>
          </a:p>
          <a:p>
            <a:endParaRPr lang="en-US" altLang="en-US" sz="2400">
              <a:solidFill>
                <a:srgbClr val="002060"/>
              </a:solidFill>
              <a:latin typeface="Cambria" panose="02040503050406030204" charset="0"/>
              <a:cs typeface="Cambria" panose="02040503050406030204" charset="0"/>
            </a:endParaRPr>
          </a:p>
          <a:p>
            <a:r>
              <a:rPr lang="en-US" altLang="en-US" sz="2400">
                <a:solidFill>
                  <a:srgbClr val="002060"/>
                </a:solidFill>
                <a:latin typeface="Cambria" panose="02040503050406030204" charset="0"/>
                <a:cs typeface="Cambria" panose="02040503050406030204" charset="0"/>
              </a:rPr>
              <a:t>SYNTAX:- DESC Passengers;</a:t>
            </a:r>
            <a:endParaRPr lang="en-US" altLang="en-US" sz="2400">
              <a:solidFill>
                <a:srgbClr val="002060"/>
              </a:solidFill>
              <a:latin typeface="Cambria" panose="02040503050406030204" charset="0"/>
              <a:cs typeface="Cambria" panose="02040503050406030204" charset="0"/>
            </a:endParaRPr>
          </a:p>
        </p:txBody>
      </p:sp>
    </p:spTree>
    <p:custDataLst>
      <p:tags r:id="rId3"/>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a:xfrm>
            <a:off x="-635" y="-635"/>
            <a:ext cx="12192000" cy="805815"/>
          </a:xfrm>
        </p:spPr>
        <p:style>
          <a:lnRef idx="2">
            <a:schemeClr val="accent1"/>
          </a:lnRef>
          <a:fillRef idx="2">
            <a:schemeClr val="accent1"/>
          </a:fillRef>
          <a:effectRef idx="0">
            <a:srgbClr val="FFFFFF"/>
          </a:effectRef>
          <a:fontRef idx="minor">
            <a:schemeClr val="lt1"/>
          </a:fontRef>
        </p:style>
        <p:txBody>
          <a:bodyPr/>
          <a:p>
            <a:pPr algn="ctr"/>
            <a:r>
              <a:rPr lang="en-US" altLang="en-US" sz="4000" b="1">
                <a:solidFill>
                  <a:srgbClr val="002060"/>
                </a:solidFill>
                <a:latin typeface="Cambria" panose="02040503050406030204" charset="0"/>
                <a:cs typeface="Cambria" panose="02040503050406030204" charset="0"/>
              </a:rPr>
              <a:t>Table 5: Tickets</a:t>
            </a:r>
            <a:endParaRPr lang="en-US" altLang="en-US" sz="4000" b="1">
              <a:solidFill>
                <a:srgbClr val="002060"/>
              </a:solidFill>
              <a:latin typeface="Cambria" panose="02040503050406030204" charset="0"/>
              <a:cs typeface="Cambria" panose="02040503050406030204" charset="0"/>
            </a:endParaRPr>
          </a:p>
        </p:txBody>
      </p:sp>
      <p:pic>
        <p:nvPicPr>
          <p:cNvPr id="2" name="Picture 1"/>
          <p:cNvPicPr>
            <a:picLocks noChangeAspect="1"/>
          </p:cNvPicPr>
          <p:nvPr/>
        </p:nvPicPr>
        <p:blipFill>
          <a:blip r:embed="rId2"/>
          <a:stretch>
            <a:fillRect/>
          </a:stretch>
        </p:blipFill>
        <p:spPr>
          <a:xfrm>
            <a:off x="0" y="805180"/>
            <a:ext cx="6096000" cy="4612005"/>
          </a:xfrm>
          <a:prstGeom prst="rect">
            <a:avLst/>
          </a:prstGeom>
        </p:spPr>
      </p:pic>
      <p:sp>
        <p:nvSpPr>
          <p:cNvPr id="3" name="Text Box 2"/>
          <p:cNvSpPr txBox="1"/>
          <p:nvPr/>
        </p:nvSpPr>
        <p:spPr>
          <a:xfrm>
            <a:off x="6446520" y="1173480"/>
            <a:ext cx="5744210" cy="5683885"/>
          </a:xfrm>
          <a:prstGeom prst="rect">
            <a:avLst/>
          </a:prstGeom>
          <a:noFill/>
        </p:spPr>
        <p:txBody>
          <a:bodyPr wrap="square" rtlCol="0">
            <a:noAutofit/>
          </a:bodyPr>
          <a:p>
            <a:r>
              <a:rPr lang="en-US" sz="2800" b="1">
                <a:solidFill>
                  <a:srgbClr val="002060"/>
                </a:solidFill>
                <a:latin typeface="Cambria" panose="02040503050406030204" charset="0"/>
                <a:cs typeface="Cambria" panose="02040503050406030204" charset="0"/>
              </a:rPr>
              <a:t>Tickets Table</a:t>
            </a:r>
            <a:endParaRPr lang="en-US" sz="2800" b="1">
              <a:solidFill>
                <a:srgbClr val="002060"/>
              </a:solidFill>
              <a:latin typeface="Cambria" panose="02040503050406030204" charset="0"/>
              <a:cs typeface="Cambria" panose="02040503050406030204" charset="0"/>
            </a:endParaRPr>
          </a:p>
          <a:p>
            <a:r>
              <a:rPr lang="en-US" altLang="en-US" sz="2400">
                <a:solidFill>
                  <a:srgbClr val="002060"/>
                </a:solidFill>
                <a:latin typeface="Cambria" panose="02040503050406030204" charset="0"/>
                <a:cs typeface="Cambria" panose="02040503050406030204" charset="0"/>
              </a:rPr>
              <a:t>This table stores information about flight ticket bookings made by passengers in the airline reservation system. It contains details such as ticket identification, passenger details, flight details, seat information, travel class, booking date, and booking status. The table helps manage passenger reservations and maintains the connection between passengers and flights.</a:t>
            </a:r>
            <a:endParaRPr lang="en-US" altLang="en-US" sz="2400">
              <a:solidFill>
                <a:srgbClr val="002060"/>
              </a:solidFill>
              <a:latin typeface="Cambria" panose="02040503050406030204" charset="0"/>
              <a:cs typeface="Cambria" panose="02040503050406030204" charset="0"/>
            </a:endParaRPr>
          </a:p>
          <a:p>
            <a:endParaRPr lang="en-US" altLang="en-US" sz="2400">
              <a:solidFill>
                <a:srgbClr val="002060"/>
              </a:solidFill>
              <a:latin typeface="Cambria" panose="02040503050406030204" charset="0"/>
              <a:cs typeface="Cambria" panose="02040503050406030204" charset="0"/>
            </a:endParaRPr>
          </a:p>
          <a:p>
            <a:r>
              <a:rPr lang="en-US" altLang="en-US" sz="2400">
                <a:solidFill>
                  <a:srgbClr val="002060"/>
                </a:solidFill>
                <a:latin typeface="Cambria" panose="02040503050406030204" charset="0"/>
                <a:cs typeface="Cambria" panose="02040503050406030204" charset="0"/>
              </a:rPr>
              <a:t>SYNTAX:- DESC Tickets;</a:t>
            </a:r>
            <a:endParaRPr lang="en-US" altLang="en-US" sz="2400">
              <a:solidFill>
                <a:srgbClr val="002060"/>
              </a:solidFill>
              <a:latin typeface="Cambria" panose="02040503050406030204" charset="0"/>
              <a:cs typeface="Cambria" panose="02040503050406030204" charset="0"/>
            </a:endParaRPr>
          </a:p>
        </p:txBody>
      </p:sp>
    </p:spTree>
    <p:custDataLst>
      <p:tags r:id="rId3"/>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a:xfrm>
            <a:off x="-635" y="-635"/>
            <a:ext cx="12192000" cy="805815"/>
          </a:xfrm>
        </p:spPr>
        <p:style>
          <a:lnRef idx="2">
            <a:schemeClr val="accent1"/>
          </a:lnRef>
          <a:fillRef idx="2">
            <a:schemeClr val="accent1"/>
          </a:fillRef>
          <a:effectRef idx="0">
            <a:srgbClr val="FFFFFF"/>
          </a:effectRef>
          <a:fontRef idx="minor">
            <a:schemeClr val="lt1"/>
          </a:fontRef>
        </p:style>
        <p:txBody>
          <a:bodyPr/>
          <a:p>
            <a:pPr algn="ctr"/>
            <a:r>
              <a:rPr lang="en-US" altLang="en-US" sz="4000" b="1">
                <a:solidFill>
                  <a:srgbClr val="002060"/>
                </a:solidFill>
                <a:latin typeface="Cambria" panose="02040503050406030204" charset="0"/>
                <a:cs typeface="Cambria" panose="02040503050406030204" charset="0"/>
              </a:rPr>
              <a:t>Table 6: Crew</a:t>
            </a:r>
            <a:endParaRPr lang="en-US" altLang="en-US" sz="4000" b="1">
              <a:solidFill>
                <a:srgbClr val="002060"/>
              </a:solidFill>
              <a:latin typeface="Cambria" panose="02040503050406030204" charset="0"/>
              <a:cs typeface="Cambria" panose="02040503050406030204" charset="0"/>
            </a:endParaRPr>
          </a:p>
        </p:txBody>
      </p:sp>
      <p:pic>
        <p:nvPicPr>
          <p:cNvPr id="2" name="Picture 1"/>
          <p:cNvPicPr>
            <a:picLocks noChangeAspect="1"/>
          </p:cNvPicPr>
          <p:nvPr/>
        </p:nvPicPr>
        <p:blipFill>
          <a:blip r:embed="rId2"/>
          <a:stretch>
            <a:fillRect/>
          </a:stretch>
        </p:blipFill>
        <p:spPr>
          <a:xfrm>
            <a:off x="-635" y="805180"/>
            <a:ext cx="6096000" cy="3938270"/>
          </a:xfrm>
          <a:prstGeom prst="rect">
            <a:avLst/>
          </a:prstGeom>
        </p:spPr>
      </p:pic>
      <p:sp>
        <p:nvSpPr>
          <p:cNvPr id="3" name="Text Box 2"/>
          <p:cNvSpPr txBox="1"/>
          <p:nvPr/>
        </p:nvSpPr>
        <p:spPr>
          <a:xfrm>
            <a:off x="6496685" y="1075055"/>
            <a:ext cx="5695315" cy="5782945"/>
          </a:xfrm>
          <a:prstGeom prst="rect">
            <a:avLst/>
          </a:prstGeom>
          <a:noFill/>
        </p:spPr>
        <p:txBody>
          <a:bodyPr wrap="square" rtlCol="0">
            <a:noAutofit/>
          </a:bodyPr>
          <a:p>
            <a:r>
              <a:rPr lang="en-US" sz="2800" b="1">
                <a:solidFill>
                  <a:srgbClr val="002060"/>
                </a:solidFill>
                <a:latin typeface="Cambria" panose="02040503050406030204" charset="0"/>
                <a:cs typeface="Cambria" panose="02040503050406030204" charset="0"/>
              </a:rPr>
              <a:t>Crew Table</a:t>
            </a:r>
            <a:endParaRPr lang="en-US" sz="2800" b="1">
              <a:solidFill>
                <a:srgbClr val="002060"/>
              </a:solidFill>
              <a:latin typeface="Cambria" panose="02040503050406030204" charset="0"/>
              <a:cs typeface="Cambria" panose="02040503050406030204" charset="0"/>
            </a:endParaRPr>
          </a:p>
          <a:p>
            <a:r>
              <a:rPr lang="en-US" altLang="en-US" sz="2400">
                <a:solidFill>
                  <a:srgbClr val="002060"/>
                </a:solidFill>
                <a:latin typeface="Cambria" panose="02040503050406030204" charset="0"/>
                <a:cs typeface="Cambria" panose="02040503050406030204" charset="0"/>
              </a:rPr>
              <a:t>This table stores information about the crew members assigned to flights in the airline reservation system. It contains details such as crew identification, name, role, contact information, and assigned flight details. The table helps manage airline staff records and maintains information about crew members responsible for flight operations.</a:t>
            </a:r>
            <a:endParaRPr lang="en-US" altLang="en-US" sz="2400">
              <a:solidFill>
                <a:srgbClr val="002060"/>
              </a:solidFill>
              <a:latin typeface="Cambria" panose="02040503050406030204" charset="0"/>
              <a:cs typeface="Cambria" panose="02040503050406030204" charset="0"/>
            </a:endParaRPr>
          </a:p>
          <a:p>
            <a:endParaRPr lang="en-US" altLang="en-US" sz="2400">
              <a:solidFill>
                <a:srgbClr val="002060"/>
              </a:solidFill>
              <a:latin typeface="Cambria" panose="02040503050406030204" charset="0"/>
              <a:cs typeface="Cambria" panose="02040503050406030204" charset="0"/>
            </a:endParaRPr>
          </a:p>
          <a:p>
            <a:r>
              <a:rPr lang="en-US" altLang="en-US" sz="2400">
                <a:solidFill>
                  <a:srgbClr val="002060"/>
                </a:solidFill>
                <a:latin typeface="Cambria" panose="02040503050406030204" charset="0"/>
                <a:cs typeface="Cambria" panose="02040503050406030204" charset="0"/>
              </a:rPr>
              <a:t>SYNTAX:- DESC Crew;</a:t>
            </a:r>
            <a:endParaRPr lang="en-US" altLang="en-US" sz="2400">
              <a:solidFill>
                <a:srgbClr val="002060"/>
              </a:solidFill>
              <a:latin typeface="Cambria" panose="02040503050406030204" charset="0"/>
              <a:cs typeface="Cambria" panose="02040503050406030204" charset="0"/>
            </a:endParaRPr>
          </a:p>
        </p:txBody>
      </p:sp>
    </p:spTree>
    <p:custDataLst>
      <p:tags r:id="rId3"/>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a:xfrm>
            <a:off x="-635" y="-635"/>
            <a:ext cx="12192000" cy="805815"/>
          </a:xfrm>
        </p:spPr>
        <p:style>
          <a:lnRef idx="2">
            <a:schemeClr val="accent1"/>
          </a:lnRef>
          <a:fillRef idx="2">
            <a:schemeClr val="accent1"/>
          </a:fillRef>
          <a:effectRef idx="0">
            <a:srgbClr val="FFFFFF"/>
          </a:effectRef>
          <a:fontRef idx="minor">
            <a:schemeClr val="lt1"/>
          </a:fontRef>
        </p:style>
        <p:txBody>
          <a:bodyPr/>
          <a:p>
            <a:pPr algn="ctr"/>
            <a:r>
              <a:rPr lang="en-US" altLang="en-US" sz="4000" b="1">
                <a:solidFill>
                  <a:srgbClr val="002060"/>
                </a:solidFill>
                <a:latin typeface="Cambria" panose="02040503050406030204" charset="0"/>
                <a:cs typeface="Cambria" panose="02040503050406030204" charset="0"/>
              </a:rPr>
              <a:t>Table 7: Fight_Status</a:t>
            </a:r>
            <a:endParaRPr lang="en-US" altLang="en-US" sz="4000" b="1">
              <a:solidFill>
                <a:srgbClr val="002060"/>
              </a:solidFill>
              <a:latin typeface="Cambria" panose="02040503050406030204" charset="0"/>
              <a:cs typeface="Cambria" panose="02040503050406030204" charset="0"/>
            </a:endParaRPr>
          </a:p>
        </p:txBody>
      </p:sp>
      <p:pic>
        <p:nvPicPr>
          <p:cNvPr id="2" name="Picture 1"/>
          <p:cNvPicPr>
            <a:picLocks noChangeAspect="1"/>
          </p:cNvPicPr>
          <p:nvPr/>
        </p:nvPicPr>
        <p:blipFill>
          <a:blip r:embed="rId2"/>
          <a:stretch>
            <a:fillRect/>
          </a:stretch>
        </p:blipFill>
        <p:spPr>
          <a:xfrm>
            <a:off x="0" y="805180"/>
            <a:ext cx="6096000" cy="4822825"/>
          </a:xfrm>
          <a:prstGeom prst="rect">
            <a:avLst/>
          </a:prstGeom>
        </p:spPr>
      </p:pic>
      <p:sp>
        <p:nvSpPr>
          <p:cNvPr id="3" name="Text Box 2"/>
          <p:cNvSpPr txBox="1"/>
          <p:nvPr/>
        </p:nvSpPr>
        <p:spPr>
          <a:xfrm>
            <a:off x="6459855" y="1123950"/>
            <a:ext cx="5730875" cy="5733415"/>
          </a:xfrm>
          <a:prstGeom prst="rect">
            <a:avLst/>
          </a:prstGeom>
          <a:noFill/>
        </p:spPr>
        <p:txBody>
          <a:bodyPr wrap="square" rtlCol="0">
            <a:noAutofit/>
          </a:bodyPr>
          <a:p>
            <a:r>
              <a:rPr lang="en-US" sz="2800" b="1">
                <a:solidFill>
                  <a:srgbClr val="002060"/>
                </a:solidFill>
                <a:latin typeface="Cambria" panose="02040503050406030204" charset="0"/>
                <a:cs typeface="Cambria" panose="02040503050406030204" charset="0"/>
              </a:rPr>
              <a:t>Flight_Status Table</a:t>
            </a:r>
            <a:endParaRPr lang="en-US" sz="2800" b="1">
              <a:solidFill>
                <a:srgbClr val="002060"/>
              </a:solidFill>
              <a:latin typeface="Cambria" panose="02040503050406030204" charset="0"/>
              <a:cs typeface="Cambria" panose="02040503050406030204" charset="0"/>
            </a:endParaRPr>
          </a:p>
          <a:p>
            <a:r>
              <a:rPr lang="en-US" altLang="en-US" sz="2400">
                <a:solidFill>
                  <a:srgbClr val="002060"/>
                </a:solidFill>
                <a:latin typeface="Cambria" panose="02040503050406030204" charset="0"/>
                <a:cs typeface="Cambria" panose="02040503050406030204" charset="0"/>
              </a:rPr>
              <a:t>This table stores the current and historical status information of flights in the airline reservation system. It contains details such as flight status identification, flight reference, status type, update time, and additional remarks. The table helps track flight operations and provides real-time information about scheduled, delayed, cancelled, or completed flights.</a:t>
            </a:r>
            <a:endParaRPr lang="en-US" altLang="en-US" sz="2400">
              <a:solidFill>
                <a:srgbClr val="002060"/>
              </a:solidFill>
              <a:latin typeface="Cambria" panose="02040503050406030204" charset="0"/>
              <a:cs typeface="Cambria" panose="02040503050406030204" charset="0"/>
            </a:endParaRPr>
          </a:p>
          <a:p>
            <a:endParaRPr lang="en-US" altLang="en-US" sz="2400">
              <a:solidFill>
                <a:srgbClr val="002060"/>
              </a:solidFill>
              <a:latin typeface="Cambria" panose="02040503050406030204" charset="0"/>
              <a:cs typeface="Cambria" panose="02040503050406030204" charset="0"/>
            </a:endParaRPr>
          </a:p>
          <a:p>
            <a:r>
              <a:rPr lang="en-US" altLang="en-US" sz="2400">
                <a:solidFill>
                  <a:srgbClr val="002060"/>
                </a:solidFill>
                <a:latin typeface="Cambria" panose="02040503050406030204" charset="0"/>
                <a:cs typeface="Cambria" panose="02040503050406030204" charset="0"/>
              </a:rPr>
              <a:t>SYNTAX:- DESC Flight_Status;</a:t>
            </a:r>
            <a:endParaRPr lang="en-US" altLang="en-US" sz="2400">
              <a:solidFill>
                <a:srgbClr val="002060"/>
              </a:solidFill>
              <a:latin typeface="Cambria" panose="02040503050406030204" charset="0"/>
              <a:cs typeface="Cambria" panose="02040503050406030204" charset="0"/>
            </a:endParaRPr>
          </a:p>
        </p:txBody>
      </p:sp>
    </p:spTree>
    <p:custDataLst>
      <p:tags r:id="rId3"/>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a:xfrm>
            <a:off x="-635" y="-635"/>
            <a:ext cx="12192000" cy="805815"/>
          </a:xfrm>
        </p:spPr>
        <p:style>
          <a:lnRef idx="2">
            <a:schemeClr val="accent1"/>
          </a:lnRef>
          <a:fillRef idx="2">
            <a:schemeClr val="accent1"/>
          </a:fillRef>
          <a:effectRef idx="0">
            <a:srgbClr val="FFFFFF"/>
          </a:effectRef>
          <a:fontRef idx="minor">
            <a:schemeClr val="lt1"/>
          </a:fontRef>
        </p:style>
        <p:txBody>
          <a:bodyPr/>
          <a:p>
            <a:pPr algn="ctr"/>
            <a:r>
              <a:rPr lang="en-US" altLang="en-US" sz="4000" b="1">
                <a:solidFill>
                  <a:srgbClr val="002060"/>
                </a:solidFill>
                <a:latin typeface="Cambria" panose="02040503050406030204" charset="0"/>
                <a:cs typeface="Cambria" panose="02040503050406030204" charset="0"/>
              </a:rPr>
              <a:t>Table 8: Delays</a:t>
            </a:r>
            <a:endParaRPr lang="en-US" altLang="en-US" sz="4000" b="1">
              <a:solidFill>
                <a:srgbClr val="002060"/>
              </a:solidFill>
              <a:latin typeface="Cambria" panose="02040503050406030204" charset="0"/>
              <a:cs typeface="Cambria" panose="02040503050406030204" charset="0"/>
            </a:endParaRPr>
          </a:p>
        </p:txBody>
      </p:sp>
      <p:pic>
        <p:nvPicPr>
          <p:cNvPr id="2" name="Picture 1"/>
          <p:cNvPicPr>
            <a:picLocks noChangeAspect="1"/>
          </p:cNvPicPr>
          <p:nvPr/>
        </p:nvPicPr>
        <p:blipFill>
          <a:blip r:embed="rId2"/>
          <a:stretch>
            <a:fillRect/>
          </a:stretch>
        </p:blipFill>
        <p:spPr>
          <a:xfrm>
            <a:off x="0" y="805180"/>
            <a:ext cx="6095365" cy="4745990"/>
          </a:xfrm>
          <a:prstGeom prst="rect">
            <a:avLst/>
          </a:prstGeom>
        </p:spPr>
      </p:pic>
      <p:sp>
        <p:nvSpPr>
          <p:cNvPr id="3" name="Text Box 2"/>
          <p:cNvSpPr txBox="1"/>
          <p:nvPr/>
        </p:nvSpPr>
        <p:spPr>
          <a:xfrm>
            <a:off x="6574155" y="1253490"/>
            <a:ext cx="5617210" cy="5605145"/>
          </a:xfrm>
          <a:prstGeom prst="rect">
            <a:avLst/>
          </a:prstGeom>
          <a:noFill/>
        </p:spPr>
        <p:txBody>
          <a:bodyPr wrap="square" rtlCol="0">
            <a:noAutofit/>
          </a:bodyPr>
          <a:p>
            <a:r>
              <a:rPr lang="en-US" sz="2800" b="1">
                <a:solidFill>
                  <a:srgbClr val="002060"/>
                </a:solidFill>
                <a:latin typeface="Cambria" panose="02040503050406030204" charset="0"/>
                <a:cs typeface="Cambria" panose="02040503050406030204" charset="0"/>
              </a:rPr>
              <a:t>Delays Table</a:t>
            </a:r>
            <a:endParaRPr lang="en-US" sz="2800" b="1">
              <a:solidFill>
                <a:srgbClr val="002060"/>
              </a:solidFill>
              <a:latin typeface="Cambria" panose="02040503050406030204" charset="0"/>
              <a:cs typeface="Cambria" panose="02040503050406030204" charset="0"/>
            </a:endParaRPr>
          </a:p>
          <a:p>
            <a:r>
              <a:rPr lang="en-US" altLang="en-US" sz="2400">
                <a:solidFill>
                  <a:srgbClr val="002060"/>
                </a:solidFill>
                <a:latin typeface="Cambria" panose="02040503050406030204" charset="0"/>
                <a:cs typeface="Cambria" panose="02040503050406030204" charset="0"/>
              </a:rPr>
              <a:t>This table stores information about flight delays in the airline reservation system. It contains details such as the delayed flight, delay duration, reason for the delay, and the date of the delay. The table helps monitor flight performance, analyze operational issues, and generate reports on flight delays for better decision-making.</a:t>
            </a:r>
            <a:endParaRPr lang="en-US" altLang="en-US" sz="2400">
              <a:solidFill>
                <a:srgbClr val="002060"/>
              </a:solidFill>
              <a:latin typeface="Cambria" panose="02040503050406030204" charset="0"/>
              <a:cs typeface="Cambria" panose="02040503050406030204" charset="0"/>
            </a:endParaRPr>
          </a:p>
          <a:p>
            <a:endParaRPr lang="en-US" altLang="en-US" sz="2400">
              <a:solidFill>
                <a:srgbClr val="002060"/>
              </a:solidFill>
              <a:latin typeface="Cambria" panose="02040503050406030204" charset="0"/>
              <a:cs typeface="Cambria" panose="02040503050406030204" charset="0"/>
            </a:endParaRPr>
          </a:p>
          <a:p>
            <a:r>
              <a:rPr lang="en-US" altLang="en-US" sz="2400">
                <a:solidFill>
                  <a:srgbClr val="002060"/>
                </a:solidFill>
                <a:latin typeface="Cambria" panose="02040503050406030204" charset="0"/>
                <a:cs typeface="Cambria" panose="02040503050406030204" charset="0"/>
              </a:rPr>
              <a:t>SYNTAX:- DESC Delays;</a:t>
            </a:r>
            <a:endParaRPr lang="en-US" altLang="en-US" sz="2400">
              <a:solidFill>
                <a:srgbClr val="002060"/>
              </a:solidFill>
              <a:latin typeface="Cambria" panose="02040503050406030204" charset="0"/>
              <a:cs typeface="Cambria" panose="02040503050406030204" charset="0"/>
            </a:endParaRPr>
          </a:p>
        </p:txBody>
      </p:sp>
    </p:spTree>
    <p:custDataLst>
      <p:tags r:id="rId3"/>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a:xfrm>
            <a:off x="-635" y="-635"/>
            <a:ext cx="12192000" cy="805815"/>
          </a:xfrm>
        </p:spPr>
        <p:style>
          <a:lnRef idx="2">
            <a:schemeClr val="accent1"/>
          </a:lnRef>
          <a:fillRef idx="2">
            <a:schemeClr val="accent1"/>
          </a:fillRef>
          <a:effectRef idx="0">
            <a:srgbClr val="FFFFFF"/>
          </a:effectRef>
          <a:fontRef idx="minor">
            <a:schemeClr val="lt1"/>
          </a:fontRef>
        </p:style>
        <p:txBody>
          <a:bodyPr/>
          <a:p>
            <a:pPr algn="ctr"/>
            <a:r>
              <a:rPr lang="en-US" altLang="en-US" sz="4000" b="1">
                <a:solidFill>
                  <a:srgbClr val="002060"/>
                </a:solidFill>
                <a:latin typeface="Cambria" panose="02040503050406030204" charset="0"/>
                <a:cs typeface="Cambria" panose="02040503050406030204" charset="0"/>
              </a:rPr>
              <a:t>Table 9: Payments</a:t>
            </a:r>
            <a:endParaRPr lang="en-US" altLang="en-US" sz="4000" b="1">
              <a:solidFill>
                <a:srgbClr val="002060"/>
              </a:solidFill>
              <a:latin typeface="Cambria" panose="02040503050406030204" charset="0"/>
              <a:cs typeface="Cambria" panose="02040503050406030204" charset="0"/>
            </a:endParaRPr>
          </a:p>
        </p:txBody>
      </p:sp>
      <p:pic>
        <p:nvPicPr>
          <p:cNvPr id="2" name="Picture 1"/>
          <p:cNvPicPr>
            <a:picLocks noChangeAspect="1"/>
          </p:cNvPicPr>
          <p:nvPr/>
        </p:nvPicPr>
        <p:blipFill>
          <a:blip r:embed="rId2"/>
          <a:stretch>
            <a:fillRect/>
          </a:stretch>
        </p:blipFill>
        <p:spPr>
          <a:xfrm>
            <a:off x="0" y="805180"/>
            <a:ext cx="6096000" cy="4164965"/>
          </a:xfrm>
          <a:prstGeom prst="rect">
            <a:avLst/>
          </a:prstGeom>
        </p:spPr>
      </p:pic>
      <p:sp>
        <p:nvSpPr>
          <p:cNvPr id="3" name="Text Box 2"/>
          <p:cNvSpPr txBox="1"/>
          <p:nvPr/>
        </p:nvSpPr>
        <p:spPr>
          <a:xfrm>
            <a:off x="6556375" y="1144270"/>
            <a:ext cx="5636260" cy="5713095"/>
          </a:xfrm>
          <a:prstGeom prst="rect">
            <a:avLst/>
          </a:prstGeom>
          <a:noFill/>
        </p:spPr>
        <p:txBody>
          <a:bodyPr wrap="square" rtlCol="0">
            <a:noAutofit/>
          </a:bodyPr>
          <a:p>
            <a:r>
              <a:rPr lang="en-US" sz="2800" b="1">
                <a:solidFill>
                  <a:srgbClr val="002060"/>
                </a:solidFill>
                <a:latin typeface="Cambria" panose="02040503050406030204" charset="0"/>
                <a:cs typeface="Cambria" panose="02040503050406030204" charset="0"/>
              </a:rPr>
              <a:t>Payments Table</a:t>
            </a:r>
            <a:endParaRPr lang="en-US" sz="2800" b="1">
              <a:solidFill>
                <a:srgbClr val="002060"/>
              </a:solidFill>
              <a:latin typeface="Cambria" panose="02040503050406030204" charset="0"/>
              <a:cs typeface="Cambria" panose="02040503050406030204" charset="0"/>
            </a:endParaRPr>
          </a:p>
          <a:p>
            <a:r>
              <a:rPr lang="en-US" altLang="en-US" sz="2400">
                <a:solidFill>
                  <a:srgbClr val="002060"/>
                </a:solidFill>
                <a:latin typeface="Cambria" panose="02040503050406030204" charset="0"/>
                <a:cs typeface="Cambria" panose="02040503050406030204" charset="0"/>
              </a:rPr>
              <a:t>This table stores information about payment transactions made for ticket bookings in the airline reservation system. It contains details such as payment identification, ticket reference, payment method, amount paid, payment date, and payment status. The table helps manage payment records, track successful and pending transactions, and ensure accurate financial reporting.</a:t>
            </a:r>
            <a:endParaRPr lang="en-US" altLang="en-US" sz="2400">
              <a:solidFill>
                <a:srgbClr val="002060"/>
              </a:solidFill>
              <a:latin typeface="Cambria" panose="02040503050406030204" charset="0"/>
              <a:cs typeface="Cambria" panose="02040503050406030204" charset="0"/>
            </a:endParaRPr>
          </a:p>
          <a:p>
            <a:endParaRPr lang="en-US" altLang="en-US" sz="2400">
              <a:solidFill>
                <a:srgbClr val="002060"/>
              </a:solidFill>
              <a:latin typeface="Cambria" panose="02040503050406030204" charset="0"/>
              <a:cs typeface="Cambria" panose="02040503050406030204" charset="0"/>
            </a:endParaRPr>
          </a:p>
          <a:p>
            <a:r>
              <a:rPr lang="en-US" altLang="en-US" sz="2400">
                <a:solidFill>
                  <a:srgbClr val="002060"/>
                </a:solidFill>
                <a:latin typeface="Cambria" panose="02040503050406030204" charset="0"/>
                <a:cs typeface="Cambria" panose="02040503050406030204" charset="0"/>
              </a:rPr>
              <a:t>SYNTAX:- DESC Payments;</a:t>
            </a:r>
            <a:endParaRPr lang="en-US" altLang="en-US" sz="2400">
              <a:solidFill>
                <a:srgbClr val="002060"/>
              </a:solidFill>
              <a:latin typeface="Cambria" panose="02040503050406030204" charset="0"/>
              <a:cs typeface="Cambria" panose="02040503050406030204" charset="0"/>
            </a:endParaRPr>
          </a:p>
        </p:txBody>
      </p:sp>
    </p:spTree>
    <p:custDataLst>
      <p:tags r:id="rId3"/>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a:xfrm>
            <a:off x="-635" y="-635"/>
            <a:ext cx="12192000" cy="805815"/>
          </a:xfrm>
        </p:spPr>
        <p:style>
          <a:lnRef idx="2">
            <a:schemeClr val="accent1"/>
          </a:lnRef>
          <a:fillRef idx="2">
            <a:schemeClr val="accent1"/>
          </a:fillRef>
          <a:effectRef idx="0">
            <a:srgbClr val="FFFFFF"/>
          </a:effectRef>
          <a:fontRef idx="minor">
            <a:schemeClr val="lt1"/>
          </a:fontRef>
        </p:style>
        <p:txBody>
          <a:bodyPr/>
          <a:p>
            <a:pPr algn="ctr"/>
            <a:r>
              <a:rPr lang="en-US" altLang="en-US" sz="4000" b="1">
                <a:solidFill>
                  <a:srgbClr val="002060"/>
                </a:solidFill>
                <a:latin typeface="Cambria" panose="02040503050406030204" charset="0"/>
                <a:cs typeface="Cambria" panose="02040503050406030204" charset="0"/>
              </a:rPr>
              <a:t>Table 10: Baggage</a:t>
            </a:r>
            <a:endParaRPr lang="en-US" altLang="en-US" sz="4000" b="1">
              <a:solidFill>
                <a:srgbClr val="002060"/>
              </a:solidFill>
              <a:latin typeface="Cambria" panose="02040503050406030204" charset="0"/>
              <a:cs typeface="Cambria" panose="02040503050406030204" charset="0"/>
            </a:endParaRPr>
          </a:p>
        </p:txBody>
      </p:sp>
      <p:pic>
        <p:nvPicPr>
          <p:cNvPr id="2" name="Picture 1"/>
          <p:cNvPicPr>
            <a:picLocks noChangeAspect="1"/>
          </p:cNvPicPr>
          <p:nvPr/>
        </p:nvPicPr>
        <p:blipFill>
          <a:blip r:embed="rId2"/>
          <a:srcRect r="1563"/>
          <a:stretch>
            <a:fillRect/>
          </a:stretch>
        </p:blipFill>
        <p:spPr>
          <a:xfrm>
            <a:off x="0" y="805180"/>
            <a:ext cx="6096000" cy="3780790"/>
          </a:xfrm>
          <a:prstGeom prst="rect">
            <a:avLst/>
          </a:prstGeom>
        </p:spPr>
      </p:pic>
      <p:sp>
        <p:nvSpPr>
          <p:cNvPr id="3" name="Text Box 2"/>
          <p:cNvSpPr txBox="1"/>
          <p:nvPr/>
        </p:nvSpPr>
        <p:spPr>
          <a:xfrm>
            <a:off x="6470650" y="1130300"/>
            <a:ext cx="5721350" cy="5727700"/>
          </a:xfrm>
          <a:prstGeom prst="rect">
            <a:avLst/>
          </a:prstGeom>
          <a:noFill/>
        </p:spPr>
        <p:txBody>
          <a:bodyPr wrap="square" rtlCol="0">
            <a:noAutofit/>
          </a:bodyPr>
          <a:p>
            <a:r>
              <a:rPr lang="en-US" sz="2800" b="1">
                <a:solidFill>
                  <a:srgbClr val="002060"/>
                </a:solidFill>
                <a:latin typeface="Cambria" panose="02040503050406030204" charset="0"/>
                <a:cs typeface="Cambria" panose="02040503050406030204" charset="0"/>
              </a:rPr>
              <a:t>Baggage Table</a:t>
            </a:r>
            <a:r>
              <a:rPr lang="en-US" sz="2400">
                <a:solidFill>
                  <a:srgbClr val="002060"/>
                </a:solidFill>
                <a:latin typeface="Cambria" panose="02040503050406030204" charset="0"/>
                <a:cs typeface="Cambria" panose="02040503050406030204" charset="0"/>
              </a:rPr>
              <a:t> </a:t>
            </a:r>
            <a:endParaRPr lang="en-US" sz="2400">
              <a:solidFill>
                <a:srgbClr val="002060"/>
              </a:solidFill>
              <a:latin typeface="Cambria" panose="02040503050406030204" charset="0"/>
              <a:cs typeface="Cambria" panose="02040503050406030204" charset="0"/>
            </a:endParaRPr>
          </a:p>
          <a:p>
            <a:r>
              <a:rPr lang="en-US" altLang="en-US" sz="2400">
                <a:solidFill>
                  <a:srgbClr val="002060"/>
                </a:solidFill>
                <a:latin typeface="Cambria" panose="02040503050406030204" charset="0"/>
                <a:cs typeface="Cambria" panose="02040503050406030204" charset="0"/>
              </a:rPr>
              <a:t>This table stores information about the baggage associated with passenger tickets in the airline reservation system. It contains details such as baggage identification, ticket reference, baggage weight, baggage type, and baggage status. The table helps manage passenger luggage, monitor baggage handling, and ensure smooth tracking throughout the travel process.</a:t>
            </a:r>
            <a:endParaRPr lang="en-US" altLang="en-US" sz="2400">
              <a:solidFill>
                <a:srgbClr val="002060"/>
              </a:solidFill>
              <a:latin typeface="Cambria" panose="02040503050406030204" charset="0"/>
              <a:cs typeface="Cambria" panose="02040503050406030204" charset="0"/>
            </a:endParaRPr>
          </a:p>
          <a:p>
            <a:endParaRPr lang="en-US" altLang="en-US" sz="2400">
              <a:solidFill>
                <a:srgbClr val="002060"/>
              </a:solidFill>
              <a:latin typeface="Cambria" panose="02040503050406030204" charset="0"/>
              <a:cs typeface="Cambria" panose="02040503050406030204" charset="0"/>
            </a:endParaRPr>
          </a:p>
          <a:p>
            <a:r>
              <a:rPr lang="en-US" altLang="en-US" sz="2400">
                <a:solidFill>
                  <a:srgbClr val="002060"/>
                </a:solidFill>
                <a:latin typeface="Cambria" panose="02040503050406030204" charset="0"/>
                <a:cs typeface="Cambria" panose="02040503050406030204" charset="0"/>
              </a:rPr>
              <a:t>SYNTAX:- DESC Baggage;</a:t>
            </a:r>
            <a:endParaRPr lang="en-US" altLang="en-US" sz="2400">
              <a:solidFill>
                <a:srgbClr val="002060"/>
              </a:solidFill>
              <a:latin typeface="Cambria" panose="02040503050406030204" charset="0"/>
              <a:cs typeface="Cambria" panose="02040503050406030204" charset="0"/>
            </a:endParaRPr>
          </a:p>
        </p:txBody>
      </p:sp>
    </p:spTree>
    <p:custDataLst>
      <p:tags r:id="rId3"/>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ext Box 4"/>
          <p:cNvSpPr txBox="1"/>
          <p:nvPr/>
        </p:nvSpPr>
        <p:spPr>
          <a:xfrm>
            <a:off x="429895" y="5076825"/>
            <a:ext cx="11331575" cy="1356360"/>
          </a:xfrm>
          <a:prstGeom prst="rect">
            <a:avLst/>
          </a:prstGeom>
          <a:noFill/>
        </p:spPr>
        <p:txBody>
          <a:bodyPr wrap="square" rtlCol="0">
            <a:noAutofit/>
          </a:bodyPr>
          <a:p>
            <a:pPr algn="ctr"/>
            <a:endParaRPr lang="en-US" sz="7200" b="1">
              <a:solidFill>
                <a:srgbClr val="002060"/>
              </a:solidFill>
              <a:latin typeface="Cambria" panose="02040503050406030204" charset="0"/>
              <a:cs typeface="Cambria" panose="02040503050406030204" charset="0"/>
            </a:endParaRPr>
          </a:p>
        </p:txBody>
      </p:sp>
      <p:pic>
        <p:nvPicPr>
          <p:cNvPr id="6" name="Picture 5" descr="ChatGPT Image Aug 4, 2026, 11_03_12 PM"/>
          <p:cNvPicPr>
            <a:picLocks noChangeAspect="1"/>
          </p:cNvPicPr>
          <p:nvPr/>
        </p:nvPicPr>
        <p:blipFill>
          <a:blip r:embed="rId1"/>
          <a:stretch>
            <a:fillRect/>
          </a:stretch>
        </p:blipFill>
        <p:spPr>
          <a:xfrm>
            <a:off x="0" y="0"/>
            <a:ext cx="12192000" cy="6858000"/>
          </a:xfrm>
          <a:prstGeom prst="rect">
            <a:avLst/>
          </a:prstGeom>
        </p:spPr>
      </p:pic>
      <p:sp>
        <p:nvSpPr>
          <p:cNvPr id="7" name="Text Box 6"/>
          <p:cNvSpPr txBox="1"/>
          <p:nvPr/>
        </p:nvSpPr>
        <p:spPr>
          <a:xfrm>
            <a:off x="-635" y="5076825"/>
            <a:ext cx="12193270" cy="1526540"/>
          </a:xfrm>
          <a:prstGeom prst="rect">
            <a:avLst/>
          </a:prstGeom>
          <a:noFill/>
        </p:spPr>
        <p:txBody>
          <a:bodyPr wrap="square" rtlCol="0">
            <a:noAutofit/>
          </a:bodyPr>
          <a:p>
            <a:pPr algn="ctr"/>
            <a:r>
              <a:rPr lang="en-US" sz="8500" b="1">
                <a:solidFill>
                  <a:srgbClr val="090B62"/>
                </a:solidFill>
                <a:latin typeface="Cambria" panose="02040503050406030204" charset="0"/>
                <a:cs typeface="Cambria" panose="02040503050406030204" charset="0"/>
                <a:sym typeface="+mn-ea"/>
              </a:rPr>
              <a:t>Contents of Table</a:t>
            </a:r>
            <a:endParaRPr lang="en-US" sz="8500" b="1">
              <a:solidFill>
                <a:srgbClr val="090B62"/>
              </a:solidFill>
              <a:latin typeface="Cambria" panose="02040503050406030204" charset="0"/>
              <a:cs typeface="Cambria" panose="02040503050406030204" charset="0"/>
              <a:sym typeface="+mn-ea"/>
            </a:endParaRPr>
          </a:p>
        </p:txBody>
      </p:sp>
    </p:spTree>
    <p:custDataLst>
      <p:tags r:id="rId2"/>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a:xfrm>
            <a:off x="-635" y="-635"/>
            <a:ext cx="12192000" cy="805815"/>
          </a:xfrm>
        </p:spPr>
        <p:style>
          <a:lnRef idx="2">
            <a:schemeClr val="accent1"/>
          </a:lnRef>
          <a:fillRef idx="2">
            <a:schemeClr val="accent1"/>
          </a:fillRef>
          <a:effectRef idx="0">
            <a:srgbClr val="FFFFFF"/>
          </a:effectRef>
          <a:fontRef idx="minor">
            <a:schemeClr val="lt1"/>
          </a:fontRef>
        </p:style>
        <p:txBody>
          <a:bodyPr/>
          <a:p>
            <a:pPr algn="ctr"/>
            <a:r>
              <a:rPr lang="en-US" altLang="en-US" sz="4000" b="1">
                <a:solidFill>
                  <a:srgbClr val="002060"/>
                </a:solidFill>
                <a:latin typeface="Cambria" panose="02040503050406030204" charset="0"/>
                <a:cs typeface="Cambria" panose="02040503050406030204" charset="0"/>
                <a:sym typeface="+mn-ea"/>
              </a:rPr>
              <a:t>Table 1: Airlines</a:t>
            </a:r>
            <a:endParaRPr lang="en-US" altLang="en-US" sz="4000" b="1">
              <a:solidFill>
                <a:srgbClr val="002060"/>
              </a:solidFill>
              <a:latin typeface="Cambria" panose="02040503050406030204" charset="0"/>
              <a:cs typeface="Cambria" panose="02040503050406030204" charset="0"/>
            </a:endParaRPr>
          </a:p>
        </p:txBody>
      </p:sp>
      <p:sp>
        <p:nvSpPr>
          <p:cNvPr id="3" name="Text Box 2"/>
          <p:cNvSpPr txBox="1"/>
          <p:nvPr/>
        </p:nvSpPr>
        <p:spPr>
          <a:xfrm>
            <a:off x="6470650" y="1130300"/>
            <a:ext cx="5721350" cy="5727700"/>
          </a:xfrm>
          <a:prstGeom prst="rect">
            <a:avLst/>
          </a:prstGeom>
          <a:noFill/>
        </p:spPr>
        <p:txBody>
          <a:bodyPr wrap="square" rtlCol="0">
            <a:noAutofit/>
          </a:bodyPr>
          <a:p>
            <a:endParaRPr lang="en-US" altLang="en-US" sz="2400">
              <a:solidFill>
                <a:srgbClr val="002060"/>
              </a:solidFill>
              <a:latin typeface="Cambria" panose="02040503050406030204" charset="0"/>
              <a:cs typeface="Cambria" panose="02040503050406030204" charset="0"/>
            </a:endParaRPr>
          </a:p>
        </p:txBody>
      </p:sp>
      <p:pic>
        <p:nvPicPr>
          <p:cNvPr id="6" name="Picture 5"/>
          <p:cNvPicPr>
            <a:picLocks noChangeAspect="1"/>
          </p:cNvPicPr>
          <p:nvPr/>
        </p:nvPicPr>
        <p:blipFill>
          <a:blip r:embed="rId2"/>
          <a:stretch>
            <a:fillRect/>
          </a:stretch>
        </p:blipFill>
        <p:spPr>
          <a:xfrm>
            <a:off x="-635" y="805180"/>
            <a:ext cx="12192000" cy="5154295"/>
          </a:xfrm>
          <a:prstGeom prst="rect">
            <a:avLst/>
          </a:prstGeom>
        </p:spPr>
      </p:pic>
      <p:sp>
        <p:nvSpPr>
          <p:cNvPr id="7" name="Text Box 6"/>
          <p:cNvSpPr txBox="1"/>
          <p:nvPr/>
        </p:nvSpPr>
        <p:spPr>
          <a:xfrm>
            <a:off x="0" y="5990590"/>
            <a:ext cx="12190730" cy="866140"/>
          </a:xfrm>
          <a:prstGeom prst="rect">
            <a:avLst/>
          </a:prstGeom>
          <a:noFill/>
        </p:spPr>
        <p:txBody>
          <a:bodyPr wrap="square" rtlCol="0">
            <a:noAutofit/>
          </a:bodyPr>
          <a:p>
            <a:r>
              <a:rPr lang="en-US" altLang="en-US" sz="2400">
                <a:solidFill>
                  <a:srgbClr val="002060"/>
                </a:solidFill>
                <a:latin typeface="Cambria" panose="02040503050406030204" charset="0"/>
                <a:cs typeface="Cambria" panose="02040503050406030204" charset="0"/>
              </a:rPr>
              <a:t>Displays all airline records stored in the database, including their codes, headquarters, and operational status.</a:t>
            </a:r>
            <a:endParaRPr lang="en-US" altLang="en-US" sz="2400">
              <a:solidFill>
                <a:srgbClr val="002060"/>
              </a:solidFill>
              <a:latin typeface="Cambria" panose="02040503050406030204" charset="0"/>
              <a:cs typeface="Cambria" panose="02040503050406030204" charset="0"/>
            </a:endParaRPr>
          </a:p>
        </p:txBody>
      </p:sp>
    </p:spTree>
    <p:custDataLst>
      <p:tags r:id="rId3"/>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a:xfrm>
            <a:off x="-635" y="-635"/>
            <a:ext cx="12192000" cy="805815"/>
          </a:xfrm>
        </p:spPr>
        <p:style>
          <a:lnRef idx="2">
            <a:schemeClr val="accent1"/>
          </a:lnRef>
          <a:fillRef idx="2">
            <a:schemeClr val="accent1"/>
          </a:fillRef>
          <a:effectRef idx="0">
            <a:srgbClr val="FFFFFF"/>
          </a:effectRef>
          <a:fontRef idx="minor">
            <a:schemeClr val="lt1"/>
          </a:fontRef>
        </p:style>
        <p:txBody>
          <a:bodyPr/>
          <a:p>
            <a:pPr algn="ctr"/>
            <a:r>
              <a:rPr lang="en-US" altLang="en-US" sz="4000" b="1">
                <a:solidFill>
                  <a:srgbClr val="002060"/>
                </a:solidFill>
                <a:latin typeface="Cambria" panose="02040503050406030204" charset="0"/>
                <a:cs typeface="Cambria" panose="02040503050406030204" charset="0"/>
                <a:sym typeface="+mn-ea"/>
              </a:rPr>
              <a:t>Table 2: Airports</a:t>
            </a:r>
            <a:endParaRPr lang="en-US" altLang="en-US" sz="4000" b="1">
              <a:solidFill>
                <a:srgbClr val="002060"/>
              </a:solidFill>
              <a:latin typeface="Cambria" panose="02040503050406030204" charset="0"/>
              <a:cs typeface="Cambria" panose="02040503050406030204" charset="0"/>
            </a:endParaRPr>
          </a:p>
        </p:txBody>
      </p:sp>
      <p:sp>
        <p:nvSpPr>
          <p:cNvPr id="3" name="Text Box 2"/>
          <p:cNvSpPr txBox="1"/>
          <p:nvPr/>
        </p:nvSpPr>
        <p:spPr>
          <a:xfrm>
            <a:off x="6470650" y="1130300"/>
            <a:ext cx="5721350" cy="5727700"/>
          </a:xfrm>
          <a:prstGeom prst="rect">
            <a:avLst/>
          </a:prstGeom>
          <a:noFill/>
        </p:spPr>
        <p:txBody>
          <a:bodyPr wrap="square" rtlCol="0">
            <a:noAutofit/>
          </a:bodyPr>
          <a:p>
            <a:endParaRPr lang="en-US" altLang="en-US" sz="2400">
              <a:solidFill>
                <a:srgbClr val="002060"/>
              </a:solidFill>
              <a:latin typeface="Cambria" panose="02040503050406030204" charset="0"/>
              <a:cs typeface="Cambria" panose="02040503050406030204" charset="0"/>
            </a:endParaRPr>
          </a:p>
        </p:txBody>
      </p:sp>
      <p:sp>
        <p:nvSpPr>
          <p:cNvPr id="5" name="Text Box 4"/>
          <p:cNvSpPr txBox="1"/>
          <p:nvPr/>
        </p:nvSpPr>
        <p:spPr>
          <a:xfrm>
            <a:off x="635" y="5935345"/>
            <a:ext cx="12190095" cy="922655"/>
          </a:xfrm>
          <a:prstGeom prst="rect">
            <a:avLst/>
          </a:prstGeom>
          <a:noFill/>
        </p:spPr>
        <p:txBody>
          <a:bodyPr wrap="square" rtlCol="0">
            <a:noAutofit/>
          </a:bodyPr>
          <a:p>
            <a:r>
              <a:rPr lang="en-US" altLang="en-US" sz="2400">
                <a:solidFill>
                  <a:srgbClr val="002060"/>
                </a:solidFill>
                <a:latin typeface="Cambria" panose="02040503050406030204" charset="0"/>
                <a:cs typeface="Cambria" panose="02040503050406030204" charset="0"/>
              </a:rPr>
              <a:t>Displays details of all airports, including airport codes, cities, and countries.</a:t>
            </a:r>
            <a:endParaRPr lang="en-US" altLang="en-US" sz="2400">
              <a:solidFill>
                <a:srgbClr val="002060"/>
              </a:solidFill>
              <a:latin typeface="Cambria" panose="02040503050406030204" charset="0"/>
              <a:cs typeface="Cambria" panose="02040503050406030204" charset="0"/>
            </a:endParaRPr>
          </a:p>
        </p:txBody>
      </p:sp>
      <p:pic>
        <p:nvPicPr>
          <p:cNvPr id="6" name="Picture 5"/>
          <p:cNvPicPr>
            <a:picLocks noChangeAspect="1"/>
          </p:cNvPicPr>
          <p:nvPr/>
        </p:nvPicPr>
        <p:blipFill>
          <a:blip r:embed="rId2"/>
          <a:stretch>
            <a:fillRect/>
          </a:stretch>
        </p:blipFill>
        <p:spPr>
          <a:xfrm>
            <a:off x="0" y="805180"/>
            <a:ext cx="12190730" cy="5043170"/>
          </a:xfrm>
          <a:prstGeom prst="rect">
            <a:avLst/>
          </a:prstGeom>
        </p:spPr>
      </p:pic>
    </p:spTree>
    <p:custDataLst>
      <p:tags r:id="rId3"/>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a:xfrm>
            <a:off x="-635" y="-635"/>
            <a:ext cx="12192000" cy="805815"/>
          </a:xfrm>
        </p:spPr>
        <p:style>
          <a:lnRef idx="2">
            <a:schemeClr val="accent1"/>
          </a:lnRef>
          <a:fillRef idx="2">
            <a:schemeClr val="accent1"/>
          </a:fillRef>
          <a:effectRef idx="0">
            <a:srgbClr val="FFFFFF"/>
          </a:effectRef>
          <a:fontRef idx="minor">
            <a:schemeClr val="lt1"/>
          </a:fontRef>
        </p:style>
        <p:txBody>
          <a:bodyPr/>
          <a:p>
            <a:pPr algn="ctr"/>
            <a:r>
              <a:rPr lang="en-US" altLang="en-US" sz="4000" b="1">
                <a:solidFill>
                  <a:srgbClr val="002060"/>
                </a:solidFill>
                <a:latin typeface="Cambria" panose="02040503050406030204" charset="0"/>
                <a:cs typeface="Cambria" panose="02040503050406030204" charset="0"/>
                <a:sym typeface="+mn-ea"/>
              </a:rPr>
              <a:t>Table 3: Flights</a:t>
            </a:r>
            <a:endParaRPr lang="en-US" altLang="en-US" sz="4000" b="1">
              <a:solidFill>
                <a:srgbClr val="002060"/>
              </a:solidFill>
              <a:latin typeface="Cambria" panose="02040503050406030204" charset="0"/>
              <a:cs typeface="Cambria" panose="02040503050406030204" charset="0"/>
            </a:endParaRPr>
          </a:p>
        </p:txBody>
      </p:sp>
      <p:sp>
        <p:nvSpPr>
          <p:cNvPr id="3" name="Text Box 2"/>
          <p:cNvSpPr txBox="1"/>
          <p:nvPr/>
        </p:nvSpPr>
        <p:spPr>
          <a:xfrm>
            <a:off x="6470650" y="1130300"/>
            <a:ext cx="5721350" cy="5727700"/>
          </a:xfrm>
          <a:prstGeom prst="rect">
            <a:avLst/>
          </a:prstGeom>
          <a:noFill/>
        </p:spPr>
        <p:txBody>
          <a:bodyPr wrap="square" rtlCol="0">
            <a:noAutofit/>
          </a:bodyPr>
          <a:p>
            <a:endParaRPr lang="en-US" altLang="en-US" sz="2400">
              <a:solidFill>
                <a:srgbClr val="002060"/>
              </a:solidFill>
              <a:latin typeface="Cambria" panose="02040503050406030204" charset="0"/>
              <a:cs typeface="Cambria" panose="02040503050406030204" charset="0"/>
            </a:endParaRPr>
          </a:p>
        </p:txBody>
      </p:sp>
      <p:sp>
        <p:nvSpPr>
          <p:cNvPr id="5" name="Text Box 4"/>
          <p:cNvSpPr txBox="1"/>
          <p:nvPr/>
        </p:nvSpPr>
        <p:spPr>
          <a:xfrm>
            <a:off x="-635" y="6081395"/>
            <a:ext cx="12192000" cy="775970"/>
          </a:xfrm>
          <a:prstGeom prst="rect">
            <a:avLst/>
          </a:prstGeom>
          <a:noFill/>
        </p:spPr>
        <p:txBody>
          <a:bodyPr wrap="square" rtlCol="0">
            <a:noAutofit/>
          </a:bodyPr>
          <a:p>
            <a:r>
              <a:rPr lang="en-US" altLang="en-US" sz="2400">
                <a:solidFill>
                  <a:srgbClr val="002060"/>
                </a:solidFill>
                <a:latin typeface="Cambria" panose="02040503050406030204" charset="0"/>
                <a:cs typeface="Cambria" panose="02040503050406030204" charset="0"/>
              </a:rPr>
              <a:t>Displays flight schedules, routes, timings, and current flight status.</a:t>
            </a:r>
            <a:endParaRPr lang="en-US" altLang="en-US" sz="2400">
              <a:solidFill>
                <a:srgbClr val="002060"/>
              </a:solidFill>
              <a:latin typeface="Cambria" panose="02040503050406030204" charset="0"/>
              <a:cs typeface="Cambria" panose="02040503050406030204" charset="0"/>
            </a:endParaRPr>
          </a:p>
        </p:txBody>
      </p:sp>
      <p:pic>
        <p:nvPicPr>
          <p:cNvPr id="7" name="Picture 6"/>
          <p:cNvPicPr>
            <a:picLocks noChangeAspect="1"/>
          </p:cNvPicPr>
          <p:nvPr/>
        </p:nvPicPr>
        <p:blipFill>
          <a:blip r:embed="rId2"/>
          <a:stretch>
            <a:fillRect/>
          </a:stretch>
        </p:blipFill>
        <p:spPr>
          <a:xfrm>
            <a:off x="0" y="805180"/>
            <a:ext cx="12191365" cy="5090795"/>
          </a:xfrm>
          <a:prstGeom prst="rect">
            <a:avLst/>
          </a:prstGeom>
        </p:spPr>
      </p:pic>
    </p:spTree>
    <p:custDataLst>
      <p:tags r:id="rId3"/>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a:xfrm>
            <a:off x="-635" y="-635"/>
            <a:ext cx="12192000" cy="805815"/>
          </a:xfrm>
        </p:spPr>
        <p:style>
          <a:lnRef idx="2">
            <a:schemeClr val="accent1"/>
          </a:lnRef>
          <a:fillRef idx="2">
            <a:schemeClr val="accent1"/>
          </a:fillRef>
          <a:effectRef idx="0">
            <a:srgbClr val="FFFFFF"/>
          </a:effectRef>
          <a:fontRef idx="minor">
            <a:schemeClr val="lt1"/>
          </a:fontRef>
        </p:style>
        <p:txBody>
          <a:bodyPr/>
          <a:p>
            <a:pPr algn="ctr"/>
            <a:r>
              <a:rPr lang="en-US" altLang="en-US" sz="4000" b="1">
                <a:solidFill>
                  <a:srgbClr val="002060"/>
                </a:solidFill>
                <a:latin typeface="Cambria" panose="02040503050406030204" charset="0"/>
                <a:cs typeface="Cambria" panose="02040503050406030204" charset="0"/>
                <a:sym typeface="+mn-ea"/>
              </a:rPr>
              <a:t>Table 4: Passengers</a:t>
            </a:r>
            <a:endParaRPr lang="en-US" altLang="en-US" sz="4000" b="1">
              <a:solidFill>
                <a:srgbClr val="002060"/>
              </a:solidFill>
              <a:latin typeface="Cambria" panose="02040503050406030204" charset="0"/>
              <a:cs typeface="Cambria" panose="02040503050406030204" charset="0"/>
            </a:endParaRPr>
          </a:p>
        </p:txBody>
      </p:sp>
      <p:sp>
        <p:nvSpPr>
          <p:cNvPr id="3" name="Text Box 2"/>
          <p:cNvSpPr txBox="1"/>
          <p:nvPr/>
        </p:nvSpPr>
        <p:spPr>
          <a:xfrm>
            <a:off x="6470650" y="1130300"/>
            <a:ext cx="5721350" cy="5727700"/>
          </a:xfrm>
          <a:prstGeom prst="rect">
            <a:avLst/>
          </a:prstGeom>
          <a:noFill/>
        </p:spPr>
        <p:txBody>
          <a:bodyPr wrap="square" rtlCol="0">
            <a:noAutofit/>
          </a:bodyPr>
          <a:p>
            <a:endParaRPr lang="en-US" altLang="en-US" sz="2400">
              <a:solidFill>
                <a:srgbClr val="002060"/>
              </a:solidFill>
              <a:latin typeface="Cambria" panose="02040503050406030204" charset="0"/>
              <a:cs typeface="Cambria" panose="02040503050406030204" charset="0"/>
            </a:endParaRPr>
          </a:p>
        </p:txBody>
      </p:sp>
      <p:pic>
        <p:nvPicPr>
          <p:cNvPr id="2" name="Picture 1"/>
          <p:cNvPicPr>
            <a:picLocks noChangeAspect="1"/>
          </p:cNvPicPr>
          <p:nvPr/>
        </p:nvPicPr>
        <p:blipFill>
          <a:blip r:embed="rId2"/>
          <a:stretch>
            <a:fillRect/>
          </a:stretch>
        </p:blipFill>
        <p:spPr>
          <a:xfrm>
            <a:off x="-635" y="804545"/>
            <a:ext cx="12192635" cy="5038725"/>
          </a:xfrm>
          <a:prstGeom prst="rect">
            <a:avLst/>
          </a:prstGeom>
        </p:spPr>
      </p:pic>
      <p:sp>
        <p:nvSpPr>
          <p:cNvPr id="5" name="Text Box 4"/>
          <p:cNvSpPr txBox="1"/>
          <p:nvPr/>
        </p:nvSpPr>
        <p:spPr>
          <a:xfrm>
            <a:off x="-1270" y="6089015"/>
            <a:ext cx="12193270" cy="768985"/>
          </a:xfrm>
          <a:prstGeom prst="rect">
            <a:avLst/>
          </a:prstGeom>
          <a:noFill/>
        </p:spPr>
        <p:txBody>
          <a:bodyPr wrap="square" rtlCol="0">
            <a:noAutofit/>
          </a:bodyPr>
          <a:p>
            <a:r>
              <a:rPr lang="en-US" altLang="en-US" sz="2400">
                <a:solidFill>
                  <a:srgbClr val="002060"/>
                </a:solidFill>
                <a:latin typeface="Cambria" panose="02040503050406030204" charset="0"/>
                <a:cs typeface="Cambria" panose="02040503050406030204" charset="0"/>
              </a:rPr>
              <a:t>Displays passenger information such as personal details and contact information.</a:t>
            </a:r>
            <a:endParaRPr lang="en-US" altLang="en-US" sz="2400">
              <a:solidFill>
                <a:srgbClr val="002060"/>
              </a:solidFill>
              <a:latin typeface="Cambria" panose="02040503050406030204" charset="0"/>
              <a:cs typeface="Cambria" panose="02040503050406030204" charset="0"/>
            </a:endParaRPr>
          </a:p>
        </p:txBody>
      </p:sp>
    </p:spTree>
    <p:custDataLst>
      <p:tags r:id="rId3"/>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a:xfrm>
            <a:off x="-635" y="-635"/>
            <a:ext cx="12192000" cy="805815"/>
          </a:xfrm>
        </p:spPr>
        <p:style>
          <a:lnRef idx="2">
            <a:schemeClr val="accent1"/>
          </a:lnRef>
          <a:fillRef idx="2">
            <a:schemeClr val="accent1"/>
          </a:fillRef>
          <a:effectRef idx="0">
            <a:srgbClr val="FFFFFF"/>
          </a:effectRef>
          <a:fontRef idx="minor">
            <a:schemeClr val="lt1"/>
          </a:fontRef>
        </p:style>
        <p:txBody>
          <a:bodyPr/>
          <a:p>
            <a:pPr algn="ctr"/>
            <a:r>
              <a:rPr lang="en-US" altLang="en-US" sz="4000" b="1">
                <a:solidFill>
                  <a:srgbClr val="002060"/>
                </a:solidFill>
                <a:latin typeface="Cambria" panose="02040503050406030204" charset="0"/>
                <a:cs typeface="Cambria" panose="02040503050406030204" charset="0"/>
                <a:sym typeface="+mn-ea"/>
              </a:rPr>
              <a:t>Table 5: Tickets</a:t>
            </a:r>
            <a:endParaRPr lang="en-US" altLang="en-US" sz="4000" b="1">
              <a:solidFill>
                <a:srgbClr val="002060"/>
              </a:solidFill>
              <a:latin typeface="Cambria" panose="02040503050406030204" charset="0"/>
              <a:cs typeface="Cambria" panose="02040503050406030204" charset="0"/>
            </a:endParaRPr>
          </a:p>
        </p:txBody>
      </p:sp>
      <p:sp>
        <p:nvSpPr>
          <p:cNvPr id="3" name="Text Box 2"/>
          <p:cNvSpPr txBox="1"/>
          <p:nvPr/>
        </p:nvSpPr>
        <p:spPr>
          <a:xfrm>
            <a:off x="6470650" y="1130300"/>
            <a:ext cx="5721350" cy="5727700"/>
          </a:xfrm>
          <a:prstGeom prst="rect">
            <a:avLst/>
          </a:prstGeom>
          <a:noFill/>
        </p:spPr>
        <p:txBody>
          <a:bodyPr wrap="square" rtlCol="0">
            <a:noAutofit/>
          </a:bodyPr>
          <a:p>
            <a:endParaRPr lang="en-US" altLang="en-US" sz="2400">
              <a:solidFill>
                <a:srgbClr val="002060"/>
              </a:solidFill>
              <a:latin typeface="Cambria" panose="02040503050406030204" charset="0"/>
              <a:cs typeface="Cambria" panose="02040503050406030204" charset="0"/>
            </a:endParaRPr>
          </a:p>
        </p:txBody>
      </p:sp>
      <p:pic>
        <p:nvPicPr>
          <p:cNvPr id="2" name="Picture 1"/>
          <p:cNvPicPr>
            <a:picLocks noChangeAspect="1"/>
          </p:cNvPicPr>
          <p:nvPr/>
        </p:nvPicPr>
        <p:blipFill>
          <a:blip r:embed="rId2"/>
          <a:stretch>
            <a:fillRect/>
          </a:stretch>
        </p:blipFill>
        <p:spPr>
          <a:xfrm>
            <a:off x="-1270" y="805180"/>
            <a:ext cx="12192000" cy="5028565"/>
          </a:xfrm>
          <a:prstGeom prst="rect">
            <a:avLst/>
          </a:prstGeom>
        </p:spPr>
      </p:pic>
      <p:sp>
        <p:nvSpPr>
          <p:cNvPr id="5" name="Text Box 4"/>
          <p:cNvSpPr txBox="1"/>
          <p:nvPr/>
        </p:nvSpPr>
        <p:spPr>
          <a:xfrm>
            <a:off x="635" y="6212840"/>
            <a:ext cx="12191365" cy="644525"/>
          </a:xfrm>
          <a:prstGeom prst="rect">
            <a:avLst/>
          </a:prstGeom>
          <a:noFill/>
        </p:spPr>
        <p:txBody>
          <a:bodyPr wrap="square" rtlCol="0">
            <a:noAutofit/>
          </a:bodyPr>
          <a:p>
            <a:r>
              <a:rPr lang="en-US" altLang="en-US" sz="2400">
                <a:solidFill>
                  <a:srgbClr val="002060"/>
                </a:solidFill>
                <a:latin typeface="Cambria" panose="02040503050406030204" charset="0"/>
                <a:cs typeface="Cambria" panose="02040503050406030204" charset="0"/>
              </a:rPr>
              <a:t>Displays ticket booking details, including passenger, flight, seat, and booking status.</a:t>
            </a:r>
            <a:endParaRPr lang="en-US" altLang="en-US" sz="2400">
              <a:solidFill>
                <a:srgbClr val="002060"/>
              </a:solidFill>
              <a:latin typeface="Cambria" panose="02040503050406030204" charset="0"/>
              <a:cs typeface="Cambria" panose="02040503050406030204" charset="0"/>
            </a:endParaRPr>
          </a:p>
        </p:txBody>
      </p:sp>
    </p:spTree>
    <p:custDataLst>
      <p:tags r:id="rId3"/>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a:xfrm>
            <a:off x="-635" y="-635"/>
            <a:ext cx="12192000" cy="805815"/>
          </a:xfrm>
        </p:spPr>
        <p:style>
          <a:lnRef idx="2">
            <a:schemeClr val="accent1"/>
          </a:lnRef>
          <a:fillRef idx="2">
            <a:schemeClr val="accent1"/>
          </a:fillRef>
          <a:effectRef idx="0">
            <a:srgbClr val="FFFFFF"/>
          </a:effectRef>
          <a:fontRef idx="minor">
            <a:schemeClr val="lt1"/>
          </a:fontRef>
        </p:style>
        <p:txBody>
          <a:bodyPr/>
          <a:p>
            <a:pPr algn="ctr"/>
            <a:r>
              <a:rPr lang="en-US" altLang="en-US" sz="4000" b="1">
                <a:solidFill>
                  <a:srgbClr val="002060"/>
                </a:solidFill>
                <a:latin typeface="Cambria" panose="02040503050406030204" charset="0"/>
                <a:cs typeface="Cambria" panose="02040503050406030204" charset="0"/>
                <a:sym typeface="+mn-ea"/>
              </a:rPr>
              <a:t>Table 6: Crew</a:t>
            </a:r>
            <a:endParaRPr lang="en-US" altLang="en-US" sz="4000" b="1">
              <a:solidFill>
                <a:srgbClr val="002060"/>
              </a:solidFill>
              <a:latin typeface="Cambria" panose="02040503050406030204" charset="0"/>
              <a:cs typeface="Cambria" panose="02040503050406030204" charset="0"/>
            </a:endParaRPr>
          </a:p>
        </p:txBody>
      </p:sp>
      <p:sp>
        <p:nvSpPr>
          <p:cNvPr id="3" name="Text Box 2"/>
          <p:cNvSpPr txBox="1"/>
          <p:nvPr/>
        </p:nvSpPr>
        <p:spPr>
          <a:xfrm>
            <a:off x="6470650" y="1130300"/>
            <a:ext cx="5721350" cy="5727700"/>
          </a:xfrm>
          <a:prstGeom prst="rect">
            <a:avLst/>
          </a:prstGeom>
          <a:noFill/>
        </p:spPr>
        <p:txBody>
          <a:bodyPr wrap="square" rtlCol="0">
            <a:noAutofit/>
          </a:bodyPr>
          <a:p>
            <a:endParaRPr lang="en-US" altLang="en-US" sz="2400">
              <a:solidFill>
                <a:srgbClr val="002060"/>
              </a:solidFill>
              <a:latin typeface="Cambria" panose="02040503050406030204" charset="0"/>
              <a:cs typeface="Cambria" panose="02040503050406030204" charset="0"/>
            </a:endParaRPr>
          </a:p>
        </p:txBody>
      </p:sp>
      <p:pic>
        <p:nvPicPr>
          <p:cNvPr id="2" name="Picture 1"/>
          <p:cNvPicPr>
            <a:picLocks noChangeAspect="1"/>
          </p:cNvPicPr>
          <p:nvPr/>
        </p:nvPicPr>
        <p:blipFill>
          <a:blip r:embed="rId2"/>
          <a:stretch>
            <a:fillRect/>
          </a:stretch>
        </p:blipFill>
        <p:spPr>
          <a:xfrm>
            <a:off x="-635" y="805180"/>
            <a:ext cx="12192635" cy="5038090"/>
          </a:xfrm>
          <a:prstGeom prst="rect">
            <a:avLst/>
          </a:prstGeom>
        </p:spPr>
      </p:pic>
      <p:sp>
        <p:nvSpPr>
          <p:cNvPr id="5" name="Text Box 4"/>
          <p:cNvSpPr txBox="1"/>
          <p:nvPr/>
        </p:nvSpPr>
        <p:spPr>
          <a:xfrm>
            <a:off x="635" y="6059170"/>
            <a:ext cx="12190730" cy="798830"/>
          </a:xfrm>
          <a:prstGeom prst="rect">
            <a:avLst/>
          </a:prstGeom>
          <a:noFill/>
        </p:spPr>
        <p:txBody>
          <a:bodyPr wrap="square" rtlCol="0">
            <a:noAutofit/>
          </a:bodyPr>
          <a:p>
            <a:r>
              <a:rPr lang="en-US" altLang="en-US" sz="2400">
                <a:solidFill>
                  <a:srgbClr val="002060"/>
                </a:solidFill>
                <a:latin typeface="Cambria" panose="02040503050406030204" charset="0"/>
                <a:cs typeface="Cambria" panose="02040503050406030204" charset="0"/>
              </a:rPr>
              <a:t>Displays details of crew members assigned to different flights and their roles.</a:t>
            </a:r>
            <a:endParaRPr lang="en-US" altLang="en-US" sz="2400">
              <a:solidFill>
                <a:srgbClr val="002060"/>
              </a:solidFill>
              <a:latin typeface="Cambria" panose="02040503050406030204" charset="0"/>
              <a:cs typeface="Cambria" panose="02040503050406030204" charset="0"/>
            </a:endParaRPr>
          </a:p>
        </p:txBody>
      </p:sp>
    </p:spTree>
    <p:custDataLst>
      <p:tags r:id="rId3"/>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a:xfrm>
            <a:off x="-635" y="-635"/>
            <a:ext cx="12192000" cy="805815"/>
          </a:xfrm>
        </p:spPr>
        <p:style>
          <a:lnRef idx="2">
            <a:schemeClr val="accent1"/>
          </a:lnRef>
          <a:fillRef idx="2">
            <a:schemeClr val="accent1"/>
          </a:fillRef>
          <a:effectRef idx="0">
            <a:srgbClr val="FFFFFF"/>
          </a:effectRef>
          <a:fontRef idx="minor">
            <a:schemeClr val="lt1"/>
          </a:fontRef>
        </p:style>
        <p:txBody>
          <a:bodyPr/>
          <a:p>
            <a:pPr algn="ctr"/>
            <a:r>
              <a:rPr lang="en-US" altLang="en-US" sz="4000" b="1">
                <a:solidFill>
                  <a:srgbClr val="002060"/>
                </a:solidFill>
                <a:latin typeface="Cambria" panose="02040503050406030204" charset="0"/>
                <a:cs typeface="Cambria" panose="02040503050406030204" charset="0"/>
                <a:sym typeface="+mn-ea"/>
              </a:rPr>
              <a:t>Table 7: Fight_Status</a:t>
            </a:r>
            <a:endParaRPr lang="en-US" altLang="en-US" sz="4000" b="1">
              <a:solidFill>
                <a:srgbClr val="002060"/>
              </a:solidFill>
              <a:latin typeface="Cambria" panose="02040503050406030204" charset="0"/>
              <a:cs typeface="Cambria" panose="02040503050406030204" charset="0"/>
            </a:endParaRPr>
          </a:p>
        </p:txBody>
      </p:sp>
      <p:sp>
        <p:nvSpPr>
          <p:cNvPr id="3" name="Text Box 2"/>
          <p:cNvSpPr txBox="1"/>
          <p:nvPr/>
        </p:nvSpPr>
        <p:spPr>
          <a:xfrm>
            <a:off x="6470650" y="1130300"/>
            <a:ext cx="5721350" cy="5727700"/>
          </a:xfrm>
          <a:prstGeom prst="rect">
            <a:avLst/>
          </a:prstGeom>
          <a:noFill/>
        </p:spPr>
        <p:txBody>
          <a:bodyPr wrap="square" rtlCol="0">
            <a:noAutofit/>
          </a:bodyPr>
          <a:p>
            <a:endParaRPr lang="en-US" altLang="en-US" sz="2400">
              <a:solidFill>
                <a:srgbClr val="002060"/>
              </a:solidFill>
              <a:latin typeface="Cambria" panose="02040503050406030204" charset="0"/>
              <a:cs typeface="Cambria" panose="02040503050406030204" charset="0"/>
            </a:endParaRPr>
          </a:p>
        </p:txBody>
      </p:sp>
      <p:pic>
        <p:nvPicPr>
          <p:cNvPr id="5" name="Picture 4"/>
          <p:cNvPicPr>
            <a:picLocks noChangeAspect="1"/>
          </p:cNvPicPr>
          <p:nvPr/>
        </p:nvPicPr>
        <p:blipFill>
          <a:blip r:embed="rId2"/>
          <a:stretch>
            <a:fillRect/>
          </a:stretch>
        </p:blipFill>
        <p:spPr>
          <a:xfrm>
            <a:off x="0" y="805815"/>
            <a:ext cx="12191365" cy="5075555"/>
          </a:xfrm>
          <a:prstGeom prst="rect">
            <a:avLst/>
          </a:prstGeom>
        </p:spPr>
      </p:pic>
      <p:sp>
        <p:nvSpPr>
          <p:cNvPr id="6" name="Text Box 5"/>
          <p:cNvSpPr txBox="1"/>
          <p:nvPr/>
        </p:nvSpPr>
        <p:spPr>
          <a:xfrm>
            <a:off x="-635" y="6135370"/>
            <a:ext cx="12192000" cy="723265"/>
          </a:xfrm>
          <a:prstGeom prst="rect">
            <a:avLst/>
          </a:prstGeom>
          <a:noFill/>
        </p:spPr>
        <p:txBody>
          <a:bodyPr wrap="square" rtlCol="0">
            <a:noAutofit/>
          </a:bodyPr>
          <a:p>
            <a:r>
              <a:rPr lang="en-US" altLang="en-US" sz="2400">
                <a:solidFill>
                  <a:srgbClr val="002060"/>
                </a:solidFill>
                <a:latin typeface="Cambria" panose="02040503050406030204" charset="0"/>
                <a:cs typeface="Cambria" panose="02040503050406030204" charset="0"/>
              </a:rPr>
              <a:t>Displays the current status of flights, such as Scheduled, Delayed, or Cancelled.</a:t>
            </a:r>
            <a:endParaRPr lang="en-US" altLang="en-US" sz="2400">
              <a:solidFill>
                <a:srgbClr val="002060"/>
              </a:solidFill>
              <a:latin typeface="Cambria" panose="02040503050406030204" charset="0"/>
              <a:cs typeface="Cambria" panose="02040503050406030204" charset="0"/>
            </a:endParaRPr>
          </a:p>
        </p:txBody>
      </p:sp>
    </p:spTree>
    <p:custDataLst>
      <p:tags r:id="rId3"/>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a:xfrm>
            <a:off x="-635" y="-635"/>
            <a:ext cx="12192000" cy="805815"/>
          </a:xfrm>
        </p:spPr>
        <p:style>
          <a:lnRef idx="2">
            <a:schemeClr val="accent1"/>
          </a:lnRef>
          <a:fillRef idx="2">
            <a:schemeClr val="accent1"/>
          </a:fillRef>
          <a:effectRef idx="0">
            <a:srgbClr val="FFFFFF"/>
          </a:effectRef>
          <a:fontRef idx="minor">
            <a:schemeClr val="lt1"/>
          </a:fontRef>
        </p:style>
        <p:txBody>
          <a:bodyPr/>
          <a:p>
            <a:pPr algn="ctr"/>
            <a:r>
              <a:rPr lang="en-US" altLang="en-US" sz="4000" b="1">
                <a:solidFill>
                  <a:srgbClr val="002060"/>
                </a:solidFill>
                <a:latin typeface="Cambria" panose="02040503050406030204" charset="0"/>
                <a:cs typeface="Cambria" panose="02040503050406030204" charset="0"/>
                <a:sym typeface="+mn-ea"/>
              </a:rPr>
              <a:t>Table 8: Delays</a:t>
            </a:r>
            <a:endParaRPr lang="en-US" altLang="en-US" sz="4000" b="1">
              <a:solidFill>
                <a:srgbClr val="002060"/>
              </a:solidFill>
              <a:latin typeface="Cambria" panose="02040503050406030204" charset="0"/>
              <a:cs typeface="Cambria" panose="02040503050406030204" charset="0"/>
            </a:endParaRPr>
          </a:p>
        </p:txBody>
      </p:sp>
      <p:sp>
        <p:nvSpPr>
          <p:cNvPr id="3" name="Text Box 2"/>
          <p:cNvSpPr txBox="1"/>
          <p:nvPr/>
        </p:nvSpPr>
        <p:spPr>
          <a:xfrm>
            <a:off x="6470650" y="1130300"/>
            <a:ext cx="5721350" cy="5727700"/>
          </a:xfrm>
          <a:prstGeom prst="rect">
            <a:avLst/>
          </a:prstGeom>
          <a:noFill/>
        </p:spPr>
        <p:txBody>
          <a:bodyPr wrap="square" rtlCol="0">
            <a:noAutofit/>
          </a:bodyPr>
          <a:p>
            <a:endParaRPr lang="en-US" altLang="en-US" sz="2400">
              <a:solidFill>
                <a:srgbClr val="002060"/>
              </a:solidFill>
              <a:latin typeface="Cambria" panose="02040503050406030204" charset="0"/>
              <a:cs typeface="Cambria" panose="02040503050406030204" charset="0"/>
            </a:endParaRPr>
          </a:p>
        </p:txBody>
      </p:sp>
      <p:pic>
        <p:nvPicPr>
          <p:cNvPr id="2" name="Picture 1"/>
          <p:cNvPicPr>
            <a:picLocks noChangeAspect="1"/>
          </p:cNvPicPr>
          <p:nvPr/>
        </p:nvPicPr>
        <p:blipFill>
          <a:blip r:embed="rId2"/>
          <a:stretch>
            <a:fillRect/>
          </a:stretch>
        </p:blipFill>
        <p:spPr>
          <a:xfrm>
            <a:off x="0" y="805180"/>
            <a:ext cx="12190730" cy="4138295"/>
          </a:xfrm>
          <a:prstGeom prst="rect">
            <a:avLst/>
          </a:prstGeom>
        </p:spPr>
      </p:pic>
      <p:sp>
        <p:nvSpPr>
          <p:cNvPr id="5" name="Text Box 4"/>
          <p:cNvSpPr txBox="1"/>
          <p:nvPr/>
        </p:nvSpPr>
        <p:spPr>
          <a:xfrm>
            <a:off x="0" y="5200015"/>
            <a:ext cx="12190095" cy="1657350"/>
          </a:xfrm>
          <a:prstGeom prst="rect">
            <a:avLst/>
          </a:prstGeom>
          <a:noFill/>
        </p:spPr>
        <p:txBody>
          <a:bodyPr wrap="square" rtlCol="0">
            <a:noAutofit/>
          </a:bodyPr>
          <a:p>
            <a:r>
              <a:rPr lang="en-US" altLang="en-US" sz="2400">
                <a:solidFill>
                  <a:srgbClr val="002060"/>
                </a:solidFill>
                <a:latin typeface="Cambria" panose="02040503050406030204" charset="0"/>
                <a:cs typeface="Cambria" panose="02040503050406030204" charset="0"/>
              </a:rPr>
              <a:t>Displays records of delayed flights along with delay duration and reasons.</a:t>
            </a:r>
            <a:endParaRPr lang="en-US" altLang="en-US" sz="2400">
              <a:solidFill>
                <a:srgbClr val="002060"/>
              </a:solidFill>
              <a:latin typeface="Cambria" panose="02040503050406030204" charset="0"/>
              <a:cs typeface="Cambria" panose="02040503050406030204" charset="0"/>
            </a:endParaRPr>
          </a:p>
        </p:txBody>
      </p:sp>
    </p:spTree>
    <p:custDataLst>
      <p:tags r:id="rId3"/>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a:xfrm>
            <a:off x="-635" y="-635"/>
            <a:ext cx="12192000" cy="805815"/>
          </a:xfrm>
        </p:spPr>
        <p:style>
          <a:lnRef idx="2">
            <a:schemeClr val="accent1"/>
          </a:lnRef>
          <a:fillRef idx="2">
            <a:schemeClr val="accent1"/>
          </a:fillRef>
          <a:effectRef idx="0">
            <a:srgbClr val="FFFFFF"/>
          </a:effectRef>
          <a:fontRef idx="minor">
            <a:schemeClr val="lt1"/>
          </a:fontRef>
        </p:style>
        <p:txBody>
          <a:bodyPr/>
          <a:p>
            <a:pPr algn="ctr"/>
            <a:r>
              <a:rPr lang="en-US" altLang="en-US" sz="4000" b="1">
                <a:solidFill>
                  <a:srgbClr val="002060"/>
                </a:solidFill>
                <a:latin typeface="Cambria" panose="02040503050406030204" charset="0"/>
                <a:cs typeface="Cambria" panose="02040503050406030204" charset="0"/>
                <a:sym typeface="+mn-ea"/>
              </a:rPr>
              <a:t>Table 9: Payments</a:t>
            </a:r>
            <a:endParaRPr lang="en-US" altLang="en-US" sz="4000" b="1">
              <a:solidFill>
                <a:srgbClr val="002060"/>
              </a:solidFill>
              <a:latin typeface="Cambria" panose="02040503050406030204" charset="0"/>
              <a:cs typeface="Cambria" panose="02040503050406030204" charset="0"/>
            </a:endParaRPr>
          </a:p>
        </p:txBody>
      </p:sp>
      <p:sp>
        <p:nvSpPr>
          <p:cNvPr id="3" name="Text Box 2"/>
          <p:cNvSpPr txBox="1"/>
          <p:nvPr/>
        </p:nvSpPr>
        <p:spPr>
          <a:xfrm>
            <a:off x="6470650" y="1130300"/>
            <a:ext cx="5721350" cy="5727700"/>
          </a:xfrm>
          <a:prstGeom prst="rect">
            <a:avLst/>
          </a:prstGeom>
          <a:noFill/>
        </p:spPr>
        <p:txBody>
          <a:bodyPr wrap="square" rtlCol="0">
            <a:noAutofit/>
          </a:bodyPr>
          <a:p>
            <a:endParaRPr lang="en-US" altLang="en-US" sz="2400">
              <a:solidFill>
                <a:srgbClr val="002060"/>
              </a:solidFill>
              <a:latin typeface="Cambria" panose="02040503050406030204" charset="0"/>
              <a:cs typeface="Cambria" panose="02040503050406030204" charset="0"/>
            </a:endParaRPr>
          </a:p>
        </p:txBody>
      </p:sp>
      <p:pic>
        <p:nvPicPr>
          <p:cNvPr id="2" name="Picture 1"/>
          <p:cNvPicPr>
            <a:picLocks noChangeAspect="1"/>
          </p:cNvPicPr>
          <p:nvPr/>
        </p:nvPicPr>
        <p:blipFill>
          <a:blip r:embed="rId2"/>
          <a:stretch>
            <a:fillRect/>
          </a:stretch>
        </p:blipFill>
        <p:spPr>
          <a:xfrm>
            <a:off x="0" y="805180"/>
            <a:ext cx="12190730" cy="4986020"/>
          </a:xfrm>
          <a:prstGeom prst="rect">
            <a:avLst/>
          </a:prstGeom>
        </p:spPr>
      </p:pic>
      <p:sp>
        <p:nvSpPr>
          <p:cNvPr id="5" name="Text Box 4"/>
          <p:cNvSpPr txBox="1"/>
          <p:nvPr/>
        </p:nvSpPr>
        <p:spPr>
          <a:xfrm>
            <a:off x="-635" y="6014720"/>
            <a:ext cx="12191365" cy="843280"/>
          </a:xfrm>
          <a:prstGeom prst="rect">
            <a:avLst/>
          </a:prstGeom>
          <a:noFill/>
        </p:spPr>
        <p:txBody>
          <a:bodyPr wrap="square" rtlCol="0">
            <a:noAutofit/>
          </a:bodyPr>
          <a:p>
            <a:r>
              <a:rPr lang="en-US" altLang="en-US" sz="2400">
                <a:solidFill>
                  <a:srgbClr val="002060"/>
                </a:solidFill>
                <a:latin typeface="Cambria" panose="02040503050406030204" charset="0"/>
                <a:cs typeface="Cambria" panose="02040503050406030204" charset="0"/>
              </a:rPr>
              <a:t>Displays payment details for ticket bookings, including amount, method, and payment status.</a:t>
            </a:r>
            <a:endParaRPr lang="en-US" altLang="en-US" sz="2400">
              <a:solidFill>
                <a:srgbClr val="002060"/>
              </a:solidFill>
              <a:latin typeface="Cambria" panose="02040503050406030204" charset="0"/>
              <a:cs typeface="Cambria" panose="02040503050406030204" charset="0"/>
            </a:endParaRPr>
          </a:p>
        </p:txBody>
      </p:sp>
    </p:spTree>
    <p:custDataLst>
      <p:tags r:id="rId3"/>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a:xfrm>
            <a:off x="-635" y="-635"/>
            <a:ext cx="12192000" cy="805815"/>
          </a:xfrm>
        </p:spPr>
        <p:style>
          <a:lnRef idx="2">
            <a:schemeClr val="accent1"/>
          </a:lnRef>
          <a:fillRef idx="2">
            <a:schemeClr val="accent1"/>
          </a:fillRef>
          <a:effectRef idx="0">
            <a:srgbClr val="FFFFFF"/>
          </a:effectRef>
          <a:fontRef idx="minor">
            <a:schemeClr val="lt1"/>
          </a:fontRef>
        </p:style>
        <p:txBody>
          <a:bodyPr/>
          <a:p>
            <a:pPr algn="ctr"/>
            <a:r>
              <a:rPr lang="en-US" altLang="en-US" sz="4000" b="1">
                <a:solidFill>
                  <a:srgbClr val="002060"/>
                </a:solidFill>
                <a:latin typeface="Cambria" panose="02040503050406030204" charset="0"/>
                <a:cs typeface="Cambria" panose="02040503050406030204" charset="0"/>
                <a:sym typeface="+mn-ea"/>
              </a:rPr>
              <a:t>Table 10: Baggage</a:t>
            </a:r>
            <a:endParaRPr lang="en-US" altLang="en-US" sz="4000" b="1">
              <a:solidFill>
                <a:srgbClr val="002060"/>
              </a:solidFill>
              <a:latin typeface="Cambria" panose="02040503050406030204" charset="0"/>
              <a:cs typeface="Cambria" panose="02040503050406030204" charset="0"/>
            </a:endParaRPr>
          </a:p>
        </p:txBody>
      </p:sp>
      <p:sp>
        <p:nvSpPr>
          <p:cNvPr id="3" name="Text Box 2"/>
          <p:cNvSpPr txBox="1"/>
          <p:nvPr/>
        </p:nvSpPr>
        <p:spPr>
          <a:xfrm>
            <a:off x="6470650" y="1130300"/>
            <a:ext cx="5721350" cy="5727700"/>
          </a:xfrm>
          <a:prstGeom prst="rect">
            <a:avLst/>
          </a:prstGeom>
          <a:noFill/>
        </p:spPr>
        <p:txBody>
          <a:bodyPr wrap="square" rtlCol="0">
            <a:noAutofit/>
          </a:bodyPr>
          <a:p>
            <a:endParaRPr lang="en-US" altLang="en-US" sz="2400">
              <a:solidFill>
                <a:srgbClr val="002060"/>
              </a:solidFill>
              <a:latin typeface="Cambria" panose="02040503050406030204" charset="0"/>
              <a:cs typeface="Cambria" panose="02040503050406030204" charset="0"/>
            </a:endParaRPr>
          </a:p>
        </p:txBody>
      </p:sp>
      <p:pic>
        <p:nvPicPr>
          <p:cNvPr id="2" name="Picture 1"/>
          <p:cNvPicPr>
            <a:picLocks noChangeAspect="1"/>
          </p:cNvPicPr>
          <p:nvPr/>
        </p:nvPicPr>
        <p:blipFill>
          <a:blip r:embed="rId2"/>
          <a:stretch>
            <a:fillRect/>
          </a:stretch>
        </p:blipFill>
        <p:spPr>
          <a:xfrm>
            <a:off x="-635" y="805180"/>
            <a:ext cx="12191365" cy="4980940"/>
          </a:xfrm>
          <a:prstGeom prst="rect">
            <a:avLst/>
          </a:prstGeom>
        </p:spPr>
      </p:pic>
      <p:sp>
        <p:nvSpPr>
          <p:cNvPr id="5" name="Text Box 4"/>
          <p:cNvSpPr txBox="1"/>
          <p:nvPr/>
        </p:nvSpPr>
        <p:spPr>
          <a:xfrm>
            <a:off x="635" y="5907405"/>
            <a:ext cx="12191365" cy="950595"/>
          </a:xfrm>
          <a:prstGeom prst="rect">
            <a:avLst/>
          </a:prstGeom>
          <a:noFill/>
        </p:spPr>
        <p:txBody>
          <a:bodyPr wrap="square" rtlCol="0">
            <a:noAutofit/>
          </a:bodyPr>
          <a:p>
            <a:r>
              <a:rPr lang="en-US" altLang="en-US" sz="2400">
                <a:solidFill>
                  <a:srgbClr val="002060"/>
                </a:solidFill>
                <a:latin typeface="Cambria" panose="02040503050406030204" charset="0"/>
                <a:cs typeface="Cambria" panose="02040503050406030204" charset="0"/>
              </a:rPr>
              <a:t>Displays baggage information associated with passenger tickets, including weight, type, and status.</a:t>
            </a:r>
            <a:endParaRPr lang="en-US" altLang="en-US" sz="2400">
              <a:solidFill>
                <a:srgbClr val="002060"/>
              </a:solidFill>
              <a:latin typeface="Cambria" panose="02040503050406030204" charset="0"/>
              <a:cs typeface="Cambria" panose="02040503050406030204" charset="0"/>
            </a:endParaRPr>
          </a:p>
        </p:txBody>
      </p:sp>
    </p:spTree>
    <p:custDataLst>
      <p:tags r:id="rId3"/>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Picture 2" descr="ChatGPT Image Aug 4, 2026, 11_03_12 PM"/>
          <p:cNvPicPr>
            <a:picLocks noChangeAspect="1"/>
          </p:cNvPicPr>
          <p:nvPr/>
        </p:nvPicPr>
        <p:blipFill>
          <a:blip r:embed="rId1"/>
          <a:stretch>
            <a:fillRect/>
          </a:stretch>
        </p:blipFill>
        <p:spPr>
          <a:xfrm>
            <a:off x="0" y="0"/>
            <a:ext cx="12192000" cy="6858000"/>
          </a:xfrm>
          <a:prstGeom prst="rect">
            <a:avLst/>
          </a:prstGeom>
        </p:spPr>
      </p:pic>
      <p:sp>
        <p:nvSpPr>
          <p:cNvPr id="5" name="Text Box 4"/>
          <p:cNvSpPr txBox="1"/>
          <p:nvPr/>
        </p:nvSpPr>
        <p:spPr>
          <a:xfrm>
            <a:off x="0" y="4999990"/>
            <a:ext cx="12191365" cy="1398905"/>
          </a:xfrm>
          <a:prstGeom prst="rect">
            <a:avLst/>
          </a:prstGeom>
          <a:noFill/>
        </p:spPr>
        <p:txBody>
          <a:bodyPr wrap="square" rtlCol="0">
            <a:spAutoFit/>
          </a:bodyPr>
          <a:p>
            <a:pPr algn="ctr"/>
            <a:r>
              <a:rPr lang="en-US" sz="8500" b="1">
                <a:solidFill>
                  <a:srgbClr val="090B62"/>
                </a:solidFill>
                <a:latin typeface="Cambria" panose="02040503050406030204" charset="0"/>
                <a:cs typeface="Cambria" panose="02040503050406030204" charset="0"/>
              </a:rPr>
              <a:t>Basic Queries</a:t>
            </a:r>
            <a:endParaRPr lang="en-US" sz="8500" b="1">
              <a:solidFill>
                <a:srgbClr val="090B62"/>
              </a:solidFill>
              <a:latin typeface="Cambria" panose="02040503050406030204" charset="0"/>
              <a:cs typeface="Cambria" panose="02040503050406030204" charset="0"/>
            </a:endParaRPr>
          </a:p>
        </p:txBody>
      </p:sp>
    </p:spTree>
    <p:custDataLst>
      <p:tags r:id="rId2"/>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a:xfrm>
            <a:off x="-635" y="-635"/>
            <a:ext cx="12192000" cy="805815"/>
          </a:xfrm>
        </p:spPr>
        <p:style>
          <a:lnRef idx="2">
            <a:schemeClr val="accent1"/>
          </a:lnRef>
          <a:fillRef idx="2">
            <a:schemeClr val="accent1"/>
          </a:fillRef>
          <a:effectRef idx="0">
            <a:srgbClr val="FFFFFF"/>
          </a:effectRef>
          <a:fontRef idx="minor">
            <a:schemeClr val="lt1"/>
          </a:fontRef>
        </p:style>
        <p:txBody>
          <a:bodyPr/>
          <a:p>
            <a:pPr algn="ctr"/>
            <a:r>
              <a:rPr lang="en-US" altLang="en-US" sz="4000" b="1">
                <a:solidFill>
                  <a:srgbClr val="002060"/>
                </a:solidFill>
                <a:latin typeface="Cambria" panose="02040503050406030204" charset="0"/>
                <a:cs typeface="Cambria" panose="02040503050406030204" charset="0"/>
              </a:rPr>
              <a:t>SELECT CLAUSE</a:t>
            </a:r>
            <a:endParaRPr lang="en-US" altLang="en-US" sz="4000" b="1">
              <a:solidFill>
                <a:srgbClr val="002060"/>
              </a:solidFill>
              <a:latin typeface="Cambria" panose="02040503050406030204" charset="0"/>
              <a:cs typeface="Cambria" panose="02040503050406030204" charset="0"/>
            </a:endParaRPr>
          </a:p>
        </p:txBody>
      </p:sp>
      <p:sp>
        <p:nvSpPr>
          <p:cNvPr id="3" name="Text Box 2"/>
          <p:cNvSpPr txBox="1"/>
          <p:nvPr/>
        </p:nvSpPr>
        <p:spPr>
          <a:xfrm>
            <a:off x="6470650" y="1130300"/>
            <a:ext cx="5721350" cy="5727700"/>
          </a:xfrm>
          <a:prstGeom prst="rect">
            <a:avLst/>
          </a:prstGeom>
          <a:noFill/>
        </p:spPr>
        <p:txBody>
          <a:bodyPr wrap="square" rtlCol="0">
            <a:noAutofit/>
          </a:bodyPr>
          <a:p>
            <a:endParaRPr lang="en-US" altLang="en-US" sz="2400">
              <a:solidFill>
                <a:srgbClr val="002060"/>
              </a:solidFill>
              <a:latin typeface="Cambria" panose="02040503050406030204" charset="0"/>
              <a:cs typeface="Cambria" panose="02040503050406030204" charset="0"/>
            </a:endParaRPr>
          </a:p>
        </p:txBody>
      </p:sp>
      <p:sp>
        <p:nvSpPr>
          <p:cNvPr id="2" name="Text Box 1"/>
          <p:cNvSpPr txBox="1"/>
          <p:nvPr/>
        </p:nvSpPr>
        <p:spPr>
          <a:xfrm>
            <a:off x="-635" y="991235"/>
            <a:ext cx="12192000" cy="899160"/>
          </a:xfrm>
          <a:prstGeom prst="rect">
            <a:avLst/>
          </a:prstGeom>
          <a:noFill/>
        </p:spPr>
        <p:txBody>
          <a:bodyPr wrap="square" rtlCol="0">
            <a:noAutofit/>
          </a:bodyPr>
          <a:p>
            <a:r>
              <a:rPr lang="en-US" altLang="en-US" sz="2400">
                <a:solidFill>
                  <a:srgbClr val="002060"/>
                </a:solidFill>
                <a:latin typeface="Cambria" panose="02040503050406030204" charset="0"/>
                <a:cs typeface="Cambria" panose="02040503050406030204" charset="0"/>
              </a:rPr>
              <a:t>QUERY:- Display all airline details.</a:t>
            </a:r>
            <a:endParaRPr lang="en-US" altLang="en-US" sz="2400">
              <a:solidFill>
                <a:srgbClr val="002060"/>
              </a:solidFill>
              <a:latin typeface="Cambria" panose="02040503050406030204" charset="0"/>
              <a:cs typeface="Cambria" panose="02040503050406030204" charset="0"/>
            </a:endParaRPr>
          </a:p>
          <a:p>
            <a:r>
              <a:rPr lang="en-US" altLang="en-US" sz="2400">
                <a:solidFill>
                  <a:srgbClr val="002060"/>
                </a:solidFill>
                <a:latin typeface="Cambria" panose="02040503050406030204" charset="0"/>
                <a:cs typeface="Cambria" panose="02040503050406030204" charset="0"/>
              </a:rPr>
              <a:t>SYNTAX:- SELECT * FROM Airlines;</a:t>
            </a:r>
            <a:endParaRPr lang="en-US" altLang="en-US" sz="2400">
              <a:solidFill>
                <a:srgbClr val="002060"/>
              </a:solidFill>
              <a:latin typeface="Cambria" panose="02040503050406030204" charset="0"/>
              <a:cs typeface="Cambria" panose="02040503050406030204" charset="0"/>
            </a:endParaRPr>
          </a:p>
        </p:txBody>
      </p:sp>
      <p:pic>
        <p:nvPicPr>
          <p:cNvPr id="5" name="Picture 4"/>
          <p:cNvPicPr>
            <a:picLocks noChangeAspect="1"/>
          </p:cNvPicPr>
          <p:nvPr/>
        </p:nvPicPr>
        <p:blipFill>
          <a:blip r:embed="rId2"/>
          <a:srcRect r="1464" b="5730"/>
          <a:stretch>
            <a:fillRect/>
          </a:stretch>
        </p:blipFill>
        <p:spPr>
          <a:xfrm>
            <a:off x="-635" y="1891030"/>
            <a:ext cx="12192000" cy="4960620"/>
          </a:xfrm>
          <a:prstGeom prst="rect">
            <a:avLst/>
          </a:prstGeom>
        </p:spPr>
      </p:pic>
    </p:spTree>
    <p:custDataLst>
      <p:tags r:id="rId3"/>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a:xfrm>
            <a:off x="-635" y="-635"/>
            <a:ext cx="12192000" cy="805815"/>
          </a:xfrm>
        </p:spPr>
        <p:style>
          <a:lnRef idx="2">
            <a:schemeClr val="accent1"/>
          </a:lnRef>
          <a:fillRef idx="2">
            <a:schemeClr val="accent1"/>
          </a:fillRef>
          <a:effectRef idx="0">
            <a:srgbClr val="FFFFFF"/>
          </a:effectRef>
          <a:fontRef idx="minor">
            <a:schemeClr val="lt1"/>
          </a:fontRef>
        </p:style>
        <p:txBody>
          <a:bodyPr/>
          <a:p>
            <a:pPr algn="ctr"/>
            <a:r>
              <a:rPr lang="en-US" altLang="en-US" sz="4000" b="1">
                <a:solidFill>
                  <a:srgbClr val="002060"/>
                </a:solidFill>
                <a:latin typeface="Cambria" panose="02040503050406030204" charset="0"/>
                <a:cs typeface="Cambria" panose="02040503050406030204" charset="0"/>
              </a:rPr>
              <a:t>SELECT CLAUSE</a:t>
            </a:r>
            <a:endParaRPr lang="en-US" altLang="en-US" sz="4000" b="1">
              <a:solidFill>
                <a:srgbClr val="002060"/>
              </a:solidFill>
              <a:latin typeface="Cambria" panose="02040503050406030204" charset="0"/>
              <a:cs typeface="Cambria" panose="02040503050406030204" charset="0"/>
            </a:endParaRPr>
          </a:p>
        </p:txBody>
      </p:sp>
      <p:sp>
        <p:nvSpPr>
          <p:cNvPr id="3" name="Text Box 2"/>
          <p:cNvSpPr txBox="1"/>
          <p:nvPr/>
        </p:nvSpPr>
        <p:spPr>
          <a:xfrm>
            <a:off x="6470650" y="1130300"/>
            <a:ext cx="5721350" cy="5727700"/>
          </a:xfrm>
          <a:prstGeom prst="rect">
            <a:avLst/>
          </a:prstGeom>
          <a:noFill/>
        </p:spPr>
        <p:txBody>
          <a:bodyPr wrap="square" rtlCol="0">
            <a:noAutofit/>
          </a:bodyPr>
          <a:p>
            <a:endParaRPr lang="en-US" altLang="en-US" sz="2400">
              <a:solidFill>
                <a:srgbClr val="002060"/>
              </a:solidFill>
              <a:latin typeface="Cambria" panose="02040503050406030204" charset="0"/>
              <a:cs typeface="Cambria" panose="02040503050406030204" charset="0"/>
            </a:endParaRPr>
          </a:p>
        </p:txBody>
      </p:sp>
      <p:sp>
        <p:nvSpPr>
          <p:cNvPr id="2" name="Text Box 1"/>
          <p:cNvSpPr txBox="1"/>
          <p:nvPr/>
        </p:nvSpPr>
        <p:spPr>
          <a:xfrm>
            <a:off x="-635" y="991235"/>
            <a:ext cx="12192000" cy="899160"/>
          </a:xfrm>
          <a:prstGeom prst="rect">
            <a:avLst/>
          </a:prstGeom>
          <a:noFill/>
        </p:spPr>
        <p:txBody>
          <a:bodyPr wrap="square" rtlCol="0">
            <a:noAutofit/>
          </a:bodyPr>
          <a:p>
            <a:r>
              <a:rPr lang="en-US" altLang="en-US" sz="2400">
                <a:solidFill>
                  <a:srgbClr val="002060"/>
                </a:solidFill>
                <a:latin typeface="Cambria" panose="02040503050406030204" charset="0"/>
                <a:cs typeface="Cambria" panose="02040503050406030204" charset="0"/>
              </a:rPr>
              <a:t>QUERY:- Display the airline name and headquarters.</a:t>
            </a:r>
            <a:endParaRPr lang="en-US" altLang="en-US" sz="2400">
              <a:solidFill>
                <a:srgbClr val="002060"/>
              </a:solidFill>
              <a:latin typeface="Cambria" panose="02040503050406030204" charset="0"/>
              <a:cs typeface="Cambria" panose="02040503050406030204" charset="0"/>
            </a:endParaRPr>
          </a:p>
          <a:p>
            <a:r>
              <a:rPr lang="en-US" altLang="en-US" sz="2400">
                <a:solidFill>
                  <a:srgbClr val="002060"/>
                </a:solidFill>
                <a:latin typeface="Cambria" panose="02040503050406030204" charset="0"/>
                <a:cs typeface="Cambria" panose="02040503050406030204" charset="0"/>
              </a:rPr>
              <a:t>SYNTAX:- SELECT airline_name, headquarters FROM Airlines;</a:t>
            </a:r>
            <a:endParaRPr lang="en-US" altLang="en-US" sz="2400">
              <a:solidFill>
                <a:srgbClr val="002060"/>
              </a:solidFill>
              <a:latin typeface="Cambria" panose="02040503050406030204" charset="0"/>
              <a:cs typeface="Cambria" panose="02040503050406030204" charset="0"/>
            </a:endParaRPr>
          </a:p>
        </p:txBody>
      </p:sp>
      <p:pic>
        <p:nvPicPr>
          <p:cNvPr id="6" name="Picture 5"/>
          <p:cNvPicPr>
            <a:picLocks noChangeAspect="1"/>
          </p:cNvPicPr>
          <p:nvPr/>
        </p:nvPicPr>
        <p:blipFill>
          <a:blip r:embed="rId2"/>
          <a:stretch>
            <a:fillRect/>
          </a:stretch>
        </p:blipFill>
        <p:spPr>
          <a:xfrm>
            <a:off x="-635" y="1890395"/>
            <a:ext cx="12192000" cy="4967605"/>
          </a:xfrm>
          <a:prstGeom prst="rect">
            <a:avLst/>
          </a:prstGeom>
        </p:spPr>
      </p:pic>
    </p:spTree>
    <p:custDataLst>
      <p:tags r:id="rId3"/>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a:xfrm>
            <a:off x="-635" y="-635"/>
            <a:ext cx="12192000" cy="805815"/>
          </a:xfrm>
        </p:spPr>
        <p:style>
          <a:lnRef idx="2">
            <a:schemeClr val="accent1"/>
          </a:lnRef>
          <a:fillRef idx="2">
            <a:schemeClr val="accent1"/>
          </a:fillRef>
          <a:effectRef idx="0">
            <a:srgbClr val="FFFFFF"/>
          </a:effectRef>
          <a:fontRef idx="minor">
            <a:schemeClr val="lt1"/>
          </a:fontRef>
        </p:style>
        <p:txBody>
          <a:bodyPr/>
          <a:p>
            <a:pPr algn="ctr"/>
            <a:r>
              <a:rPr lang="en-US" altLang="en-US" sz="4000" b="1">
                <a:solidFill>
                  <a:srgbClr val="002060"/>
                </a:solidFill>
                <a:latin typeface="Cambria" panose="02040503050406030204" charset="0"/>
                <a:cs typeface="Cambria" panose="02040503050406030204" charset="0"/>
              </a:rPr>
              <a:t>WHERE CLAUSE</a:t>
            </a:r>
            <a:endParaRPr lang="en-US" altLang="en-US" sz="4000" b="1">
              <a:solidFill>
                <a:srgbClr val="002060"/>
              </a:solidFill>
              <a:latin typeface="Cambria" panose="02040503050406030204" charset="0"/>
              <a:cs typeface="Cambria" panose="02040503050406030204" charset="0"/>
            </a:endParaRPr>
          </a:p>
        </p:txBody>
      </p:sp>
      <p:sp>
        <p:nvSpPr>
          <p:cNvPr id="3" name="Text Box 2"/>
          <p:cNvSpPr txBox="1"/>
          <p:nvPr/>
        </p:nvSpPr>
        <p:spPr>
          <a:xfrm>
            <a:off x="6470650" y="1130300"/>
            <a:ext cx="5721350" cy="5727700"/>
          </a:xfrm>
          <a:prstGeom prst="rect">
            <a:avLst/>
          </a:prstGeom>
          <a:noFill/>
        </p:spPr>
        <p:txBody>
          <a:bodyPr wrap="square" rtlCol="0">
            <a:noAutofit/>
          </a:bodyPr>
          <a:p>
            <a:endParaRPr lang="en-US" altLang="en-US" sz="2400">
              <a:solidFill>
                <a:srgbClr val="002060"/>
              </a:solidFill>
              <a:latin typeface="Cambria" panose="02040503050406030204" charset="0"/>
              <a:cs typeface="Cambria" panose="02040503050406030204" charset="0"/>
            </a:endParaRPr>
          </a:p>
        </p:txBody>
      </p:sp>
      <p:sp>
        <p:nvSpPr>
          <p:cNvPr id="2" name="Text Box 1"/>
          <p:cNvSpPr txBox="1"/>
          <p:nvPr/>
        </p:nvSpPr>
        <p:spPr>
          <a:xfrm>
            <a:off x="-635" y="991235"/>
            <a:ext cx="12192000" cy="899160"/>
          </a:xfrm>
          <a:prstGeom prst="rect">
            <a:avLst/>
          </a:prstGeom>
          <a:noFill/>
        </p:spPr>
        <p:txBody>
          <a:bodyPr wrap="square" rtlCol="0">
            <a:noAutofit/>
          </a:bodyPr>
          <a:p>
            <a:r>
              <a:rPr lang="en-US" altLang="en-US" sz="2400">
                <a:solidFill>
                  <a:srgbClr val="002060"/>
                </a:solidFill>
                <a:latin typeface="Cambria" panose="02040503050406030204" charset="0"/>
                <a:cs typeface="Cambria" panose="02040503050406030204" charset="0"/>
              </a:rPr>
              <a:t>QUERY:- Show all active airlines.</a:t>
            </a:r>
            <a:endParaRPr lang="en-US" altLang="en-US" sz="2400">
              <a:solidFill>
                <a:srgbClr val="002060"/>
              </a:solidFill>
              <a:latin typeface="Cambria" panose="02040503050406030204" charset="0"/>
              <a:cs typeface="Cambria" panose="02040503050406030204" charset="0"/>
            </a:endParaRPr>
          </a:p>
          <a:p>
            <a:r>
              <a:rPr lang="en-US" altLang="en-US" sz="2400">
                <a:solidFill>
                  <a:srgbClr val="002060"/>
                </a:solidFill>
                <a:latin typeface="Cambria" panose="02040503050406030204" charset="0"/>
                <a:cs typeface="Cambria" panose="02040503050406030204" charset="0"/>
              </a:rPr>
              <a:t>SYNTAX:- SELECT * FROM Airlines WHERE status = 'Active';</a:t>
            </a:r>
            <a:endParaRPr lang="en-US" altLang="en-US" sz="2400">
              <a:solidFill>
                <a:srgbClr val="002060"/>
              </a:solidFill>
              <a:latin typeface="Cambria" panose="02040503050406030204" charset="0"/>
              <a:cs typeface="Cambria" panose="02040503050406030204" charset="0"/>
            </a:endParaRPr>
          </a:p>
        </p:txBody>
      </p:sp>
      <p:pic>
        <p:nvPicPr>
          <p:cNvPr id="5" name="Picture 4"/>
          <p:cNvPicPr>
            <a:picLocks noChangeAspect="1"/>
          </p:cNvPicPr>
          <p:nvPr/>
        </p:nvPicPr>
        <p:blipFill>
          <a:blip r:embed="rId2"/>
          <a:stretch>
            <a:fillRect/>
          </a:stretch>
        </p:blipFill>
        <p:spPr>
          <a:xfrm>
            <a:off x="0" y="1890395"/>
            <a:ext cx="12190730" cy="4967605"/>
          </a:xfrm>
          <a:prstGeom prst="rect">
            <a:avLst/>
          </a:prstGeom>
        </p:spPr>
      </p:pic>
    </p:spTree>
    <p:custDataLst>
      <p:tags r:id="rId3"/>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a:xfrm>
            <a:off x="-635" y="-635"/>
            <a:ext cx="12192000" cy="805815"/>
          </a:xfrm>
        </p:spPr>
        <p:style>
          <a:lnRef idx="2">
            <a:schemeClr val="accent1"/>
          </a:lnRef>
          <a:fillRef idx="2">
            <a:schemeClr val="accent1"/>
          </a:fillRef>
          <a:effectRef idx="0">
            <a:srgbClr val="FFFFFF"/>
          </a:effectRef>
          <a:fontRef idx="minor">
            <a:schemeClr val="lt1"/>
          </a:fontRef>
        </p:style>
        <p:txBody>
          <a:bodyPr/>
          <a:p>
            <a:pPr algn="ctr"/>
            <a:r>
              <a:rPr lang="en-US" altLang="en-US" sz="4000" b="1">
                <a:solidFill>
                  <a:srgbClr val="002060"/>
                </a:solidFill>
                <a:latin typeface="Cambria" panose="02040503050406030204" charset="0"/>
                <a:cs typeface="Cambria" panose="02040503050406030204" charset="0"/>
              </a:rPr>
              <a:t>ORDER BY CLAUSE</a:t>
            </a:r>
            <a:endParaRPr lang="en-US" altLang="en-US" sz="4000" b="1">
              <a:solidFill>
                <a:srgbClr val="002060"/>
              </a:solidFill>
              <a:latin typeface="Cambria" panose="02040503050406030204" charset="0"/>
              <a:cs typeface="Cambria" panose="02040503050406030204" charset="0"/>
            </a:endParaRPr>
          </a:p>
        </p:txBody>
      </p:sp>
      <p:sp>
        <p:nvSpPr>
          <p:cNvPr id="3" name="Text Box 2"/>
          <p:cNvSpPr txBox="1"/>
          <p:nvPr/>
        </p:nvSpPr>
        <p:spPr>
          <a:xfrm>
            <a:off x="6470650" y="1130300"/>
            <a:ext cx="5721350" cy="5727700"/>
          </a:xfrm>
          <a:prstGeom prst="rect">
            <a:avLst/>
          </a:prstGeom>
          <a:noFill/>
        </p:spPr>
        <p:txBody>
          <a:bodyPr wrap="square" rtlCol="0">
            <a:noAutofit/>
          </a:bodyPr>
          <a:p>
            <a:endParaRPr lang="en-US" altLang="en-US" sz="2400">
              <a:solidFill>
                <a:srgbClr val="002060"/>
              </a:solidFill>
              <a:latin typeface="Cambria" panose="02040503050406030204" charset="0"/>
              <a:cs typeface="Cambria" panose="02040503050406030204" charset="0"/>
            </a:endParaRPr>
          </a:p>
        </p:txBody>
      </p:sp>
      <p:sp>
        <p:nvSpPr>
          <p:cNvPr id="2" name="Text Box 1"/>
          <p:cNvSpPr txBox="1"/>
          <p:nvPr/>
        </p:nvSpPr>
        <p:spPr>
          <a:xfrm>
            <a:off x="-635" y="991235"/>
            <a:ext cx="12192000" cy="899160"/>
          </a:xfrm>
          <a:prstGeom prst="rect">
            <a:avLst/>
          </a:prstGeom>
          <a:noFill/>
        </p:spPr>
        <p:txBody>
          <a:bodyPr wrap="square" rtlCol="0">
            <a:noAutofit/>
          </a:bodyPr>
          <a:p>
            <a:r>
              <a:rPr lang="en-US" altLang="en-US" sz="2400">
                <a:solidFill>
                  <a:srgbClr val="002060"/>
                </a:solidFill>
                <a:latin typeface="Cambria" panose="02040503050406030204" charset="0"/>
                <a:cs typeface="Cambria" panose="02040503050406030204" charset="0"/>
              </a:rPr>
              <a:t>QUERY:- Display passengers sorted by first name.</a:t>
            </a:r>
            <a:endParaRPr lang="en-US" altLang="en-US" sz="2400">
              <a:solidFill>
                <a:srgbClr val="002060"/>
              </a:solidFill>
              <a:latin typeface="Cambria" panose="02040503050406030204" charset="0"/>
              <a:cs typeface="Cambria" panose="02040503050406030204" charset="0"/>
            </a:endParaRPr>
          </a:p>
          <a:p>
            <a:r>
              <a:rPr lang="en-US" altLang="en-US" sz="2400">
                <a:solidFill>
                  <a:srgbClr val="002060"/>
                </a:solidFill>
                <a:latin typeface="Cambria" panose="02040503050406030204" charset="0"/>
                <a:cs typeface="Cambria" panose="02040503050406030204" charset="0"/>
              </a:rPr>
              <a:t>SYNTAX:- SELECT * FROM Passengers ORDER BY first_name ASC;</a:t>
            </a:r>
            <a:endParaRPr lang="en-US" altLang="en-US" sz="2400">
              <a:solidFill>
                <a:srgbClr val="002060"/>
              </a:solidFill>
              <a:latin typeface="Cambria" panose="02040503050406030204" charset="0"/>
              <a:cs typeface="Cambria" panose="02040503050406030204" charset="0"/>
            </a:endParaRPr>
          </a:p>
        </p:txBody>
      </p:sp>
      <p:pic>
        <p:nvPicPr>
          <p:cNvPr id="5" name="Picture 4"/>
          <p:cNvPicPr>
            <a:picLocks noChangeAspect="1"/>
          </p:cNvPicPr>
          <p:nvPr/>
        </p:nvPicPr>
        <p:blipFill>
          <a:blip r:embed="rId2"/>
          <a:stretch>
            <a:fillRect/>
          </a:stretch>
        </p:blipFill>
        <p:spPr>
          <a:xfrm>
            <a:off x="0" y="1891030"/>
            <a:ext cx="12192000" cy="4966970"/>
          </a:xfrm>
          <a:prstGeom prst="rect">
            <a:avLst/>
          </a:prstGeom>
        </p:spPr>
      </p:pic>
    </p:spTree>
    <p:custDataLst>
      <p:tags r:id="rId3"/>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a:xfrm>
            <a:off x="-635" y="-635"/>
            <a:ext cx="12192000" cy="805815"/>
          </a:xfrm>
        </p:spPr>
        <p:style>
          <a:lnRef idx="2">
            <a:schemeClr val="accent1"/>
          </a:lnRef>
          <a:fillRef idx="2">
            <a:schemeClr val="accent1"/>
          </a:fillRef>
          <a:effectRef idx="0">
            <a:srgbClr val="FFFFFF"/>
          </a:effectRef>
          <a:fontRef idx="minor">
            <a:schemeClr val="lt1"/>
          </a:fontRef>
        </p:style>
        <p:txBody>
          <a:bodyPr/>
          <a:p>
            <a:pPr algn="ctr"/>
            <a:r>
              <a:rPr lang="en-US" altLang="en-US" sz="4000" b="1">
                <a:solidFill>
                  <a:srgbClr val="002060"/>
                </a:solidFill>
                <a:latin typeface="Cambria" panose="02040503050406030204" charset="0"/>
                <a:cs typeface="Cambria" panose="02040503050406030204" charset="0"/>
              </a:rPr>
              <a:t>ORDER BY CLAUSE</a:t>
            </a:r>
            <a:endParaRPr lang="en-US" altLang="en-US" sz="4000" b="1">
              <a:solidFill>
                <a:srgbClr val="002060"/>
              </a:solidFill>
              <a:latin typeface="Cambria" panose="02040503050406030204" charset="0"/>
              <a:cs typeface="Cambria" panose="02040503050406030204" charset="0"/>
            </a:endParaRPr>
          </a:p>
        </p:txBody>
      </p:sp>
      <p:sp>
        <p:nvSpPr>
          <p:cNvPr id="3" name="Text Box 2"/>
          <p:cNvSpPr txBox="1"/>
          <p:nvPr/>
        </p:nvSpPr>
        <p:spPr>
          <a:xfrm>
            <a:off x="6470650" y="1130300"/>
            <a:ext cx="5721350" cy="5727700"/>
          </a:xfrm>
          <a:prstGeom prst="rect">
            <a:avLst/>
          </a:prstGeom>
          <a:noFill/>
        </p:spPr>
        <p:txBody>
          <a:bodyPr wrap="square" rtlCol="0">
            <a:noAutofit/>
          </a:bodyPr>
          <a:p>
            <a:endParaRPr lang="en-US" altLang="en-US" sz="2400">
              <a:solidFill>
                <a:srgbClr val="002060"/>
              </a:solidFill>
              <a:latin typeface="Cambria" panose="02040503050406030204" charset="0"/>
              <a:cs typeface="Cambria" panose="02040503050406030204" charset="0"/>
            </a:endParaRPr>
          </a:p>
        </p:txBody>
      </p:sp>
      <p:sp>
        <p:nvSpPr>
          <p:cNvPr id="2" name="Text Box 1"/>
          <p:cNvSpPr txBox="1"/>
          <p:nvPr/>
        </p:nvSpPr>
        <p:spPr>
          <a:xfrm>
            <a:off x="-635" y="991235"/>
            <a:ext cx="12192000" cy="899160"/>
          </a:xfrm>
          <a:prstGeom prst="rect">
            <a:avLst/>
          </a:prstGeom>
          <a:noFill/>
        </p:spPr>
        <p:txBody>
          <a:bodyPr wrap="square" rtlCol="0">
            <a:noAutofit/>
          </a:bodyPr>
          <a:p>
            <a:r>
              <a:rPr lang="en-US" altLang="en-US" sz="2400">
                <a:solidFill>
                  <a:srgbClr val="002060"/>
                </a:solidFill>
                <a:latin typeface="Cambria" panose="02040503050406030204" charset="0"/>
                <a:cs typeface="Cambria" panose="02040503050406030204" charset="0"/>
              </a:rPr>
              <a:t>QUERY:- Show flights with the highest fare first.</a:t>
            </a:r>
            <a:endParaRPr lang="en-US" altLang="en-US" sz="2400">
              <a:solidFill>
                <a:srgbClr val="002060"/>
              </a:solidFill>
              <a:latin typeface="Cambria" panose="02040503050406030204" charset="0"/>
              <a:cs typeface="Cambria" panose="02040503050406030204" charset="0"/>
            </a:endParaRPr>
          </a:p>
          <a:p>
            <a:r>
              <a:rPr lang="en-US" altLang="en-US" sz="2400">
                <a:solidFill>
                  <a:srgbClr val="002060"/>
                </a:solidFill>
                <a:latin typeface="Cambria" panose="02040503050406030204" charset="0"/>
                <a:cs typeface="Cambria" panose="02040503050406030204" charset="0"/>
              </a:rPr>
              <a:t>SYNTAX:- SELECT * FROM Flights ORDER BY fare DESC;</a:t>
            </a:r>
            <a:endParaRPr lang="en-US" altLang="en-US" sz="2400">
              <a:solidFill>
                <a:srgbClr val="002060"/>
              </a:solidFill>
              <a:latin typeface="Cambria" panose="02040503050406030204" charset="0"/>
              <a:cs typeface="Cambria" panose="02040503050406030204" charset="0"/>
            </a:endParaRPr>
          </a:p>
        </p:txBody>
      </p:sp>
      <p:pic>
        <p:nvPicPr>
          <p:cNvPr id="5" name="Picture 4"/>
          <p:cNvPicPr>
            <a:picLocks noChangeAspect="1"/>
          </p:cNvPicPr>
          <p:nvPr/>
        </p:nvPicPr>
        <p:blipFill>
          <a:blip r:embed="rId2"/>
          <a:stretch>
            <a:fillRect/>
          </a:stretch>
        </p:blipFill>
        <p:spPr>
          <a:xfrm>
            <a:off x="635" y="1891030"/>
            <a:ext cx="12190730" cy="4966970"/>
          </a:xfrm>
          <a:prstGeom prst="rect">
            <a:avLst/>
          </a:prstGeom>
        </p:spPr>
      </p:pic>
    </p:spTree>
    <p:custDataLst>
      <p:tags r:id="rId3"/>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a:xfrm>
            <a:off x="-635" y="-635"/>
            <a:ext cx="12192000" cy="805815"/>
          </a:xfrm>
        </p:spPr>
        <p:style>
          <a:lnRef idx="2">
            <a:schemeClr val="accent1"/>
          </a:lnRef>
          <a:fillRef idx="2">
            <a:schemeClr val="accent1"/>
          </a:fillRef>
          <a:effectRef idx="0">
            <a:srgbClr val="FFFFFF"/>
          </a:effectRef>
          <a:fontRef idx="minor">
            <a:schemeClr val="lt1"/>
          </a:fontRef>
        </p:style>
        <p:txBody>
          <a:bodyPr/>
          <a:p>
            <a:pPr algn="ctr"/>
            <a:r>
              <a:rPr lang="en-US" altLang="en-US" sz="4000" b="1">
                <a:solidFill>
                  <a:srgbClr val="002060"/>
                </a:solidFill>
                <a:latin typeface="Cambria" panose="02040503050406030204" charset="0"/>
                <a:cs typeface="Cambria" panose="02040503050406030204" charset="0"/>
              </a:rPr>
              <a:t>LIMIT CLAUSE</a:t>
            </a:r>
            <a:endParaRPr lang="en-US" altLang="en-US" sz="4000" b="1">
              <a:solidFill>
                <a:srgbClr val="002060"/>
              </a:solidFill>
              <a:latin typeface="Cambria" panose="02040503050406030204" charset="0"/>
              <a:cs typeface="Cambria" panose="02040503050406030204" charset="0"/>
            </a:endParaRPr>
          </a:p>
        </p:txBody>
      </p:sp>
      <p:sp>
        <p:nvSpPr>
          <p:cNvPr id="3" name="Text Box 2"/>
          <p:cNvSpPr txBox="1"/>
          <p:nvPr/>
        </p:nvSpPr>
        <p:spPr>
          <a:xfrm>
            <a:off x="6470650" y="1130300"/>
            <a:ext cx="5721350" cy="5727700"/>
          </a:xfrm>
          <a:prstGeom prst="rect">
            <a:avLst/>
          </a:prstGeom>
          <a:noFill/>
        </p:spPr>
        <p:txBody>
          <a:bodyPr wrap="square" rtlCol="0">
            <a:noAutofit/>
          </a:bodyPr>
          <a:p>
            <a:endParaRPr lang="en-US" altLang="en-US" sz="2400">
              <a:solidFill>
                <a:srgbClr val="002060"/>
              </a:solidFill>
              <a:latin typeface="Cambria" panose="02040503050406030204" charset="0"/>
              <a:cs typeface="Cambria" panose="02040503050406030204" charset="0"/>
            </a:endParaRPr>
          </a:p>
        </p:txBody>
      </p:sp>
      <p:sp>
        <p:nvSpPr>
          <p:cNvPr id="2" name="Text Box 1"/>
          <p:cNvSpPr txBox="1"/>
          <p:nvPr/>
        </p:nvSpPr>
        <p:spPr>
          <a:xfrm>
            <a:off x="-635" y="991235"/>
            <a:ext cx="12192000" cy="899160"/>
          </a:xfrm>
          <a:prstGeom prst="rect">
            <a:avLst/>
          </a:prstGeom>
          <a:noFill/>
        </p:spPr>
        <p:txBody>
          <a:bodyPr wrap="square" rtlCol="0">
            <a:noAutofit/>
          </a:bodyPr>
          <a:p>
            <a:r>
              <a:rPr lang="en-US" altLang="en-US" sz="2400">
                <a:solidFill>
                  <a:srgbClr val="002060"/>
                </a:solidFill>
                <a:latin typeface="Cambria" panose="02040503050406030204" charset="0"/>
                <a:cs typeface="Cambria" panose="02040503050406030204" charset="0"/>
              </a:rPr>
              <a:t>QUERY:- Show the first 5 passengers.</a:t>
            </a:r>
            <a:endParaRPr lang="en-US" altLang="en-US" sz="2400">
              <a:solidFill>
                <a:srgbClr val="002060"/>
              </a:solidFill>
              <a:latin typeface="Cambria" panose="02040503050406030204" charset="0"/>
              <a:cs typeface="Cambria" panose="02040503050406030204" charset="0"/>
            </a:endParaRPr>
          </a:p>
          <a:p>
            <a:r>
              <a:rPr lang="en-US" altLang="en-US" sz="2400">
                <a:solidFill>
                  <a:srgbClr val="002060"/>
                </a:solidFill>
                <a:latin typeface="Cambria" panose="02040503050406030204" charset="0"/>
                <a:cs typeface="Cambria" panose="02040503050406030204" charset="0"/>
              </a:rPr>
              <a:t>SYNTAX:- SELECT * FROM Passengers LIMIT 5;</a:t>
            </a:r>
            <a:endParaRPr lang="en-US" altLang="en-US" sz="2400">
              <a:solidFill>
                <a:srgbClr val="002060"/>
              </a:solidFill>
              <a:latin typeface="Cambria" panose="02040503050406030204" charset="0"/>
              <a:cs typeface="Cambria" panose="02040503050406030204" charset="0"/>
            </a:endParaRPr>
          </a:p>
        </p:txBody>
      </p:sp>
      <p:pic>
        <p:nvPicPr>
          <p:cNvPr id="6" name="Picture 5"/>
          <p:cNvPicPr>
            <a:picLocks noChangeAspect="1"/>
          </p:cNvPicPr>
          <p:nvPr/>
        </p:nvPicPr>
        <p:blipFill>
          <a:blip r:embed="rId2"/>
          <a:stretch>
            <a:fillRect/>
          </a:stretch>
        </p:blipFill>
        <p:spPr>
          <a:xfrm>
            <a:off x="-635" y="1889760"/>
            <a:ext cx="12192635" cy="4968240"/>
          </a:xfrm>
          <a:prstGeom prst="rect">
            <a:avLst/>
          </a:prstGeom>
        </p:spPr>
      </p:pic>
    </p:spTree>
    <p:custDataLst>
      <p:tags r:id="rId3"/>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a:xfrm>
            <a:off x="-635" y="-635"/>
            <a:ext cx="12192000" cy="805815"/>
          </a:xfrm>
        </p:spPr>
        <p:style>
          <a:lnRef idx="2">
            <a:schemeClr val="accent1"/>
          </a:lnRef>
          <a:fillRef idx="2">
            <a:schemeClr val="accent1"/>
          </a:fillRef>
          <a:effectRef idx="0">
            <a:srgbClr val="FFFFFF"/>
          </a:effectRef>
          <a:fontRef idx="minor">
            <a:schemeClr val="lt1"/>
          </a:fontRef>
        </p:style>
        <p:txBody>
          <a:bodyPr/>
          <a:p>
            <a:pPr algn="ctr"/>
            <a:r>
              <a:rPr lang="en-US" altLang="en-US" sz="4000" b="1">
                <a:solidFill>
                  <a:srgbClr val="002060"/>
                </a:solidFill>
                <a:latin typeface="Cambria" panose="02040503050406030204" charset="0"/>
                <a:cs typeface="Cambria" panose="02040503050406030204" charset="0"/>
              </a:rPr>
              <a:t>DISTINCT CLAUSE</a:t>
            </a:r>
            <a:endParaRPr lang="en-US" altLang="en-US" sz="4000" b="1">
              <a:solidFill>
                <a:srgbClr val="002060"/>
              </a:solidFill>
              <a:latin typeface="Cambria" panose="02040503050406030204" charset="0"/>
              <a:cs typeface="Cambria" panose="02040503050406030204" charset="0"/>
            </a:endParaRPr>
          </a:p>
        </p:txBody>
      </p:sp>
      <p:sp>
        <p:nvSpPr>
          <p:cNvPr id="3" name="Text Box 2"/>
          <p:cNvSpPr txBox="1"/>
          <p:nvPr/>
        </p:nvSpPr>
        <p:spPr>
          <a:xfrm>
            <a:off x="6470650" y="1130300"/>
            <a:ext cx="5721350" cy="5727700"/>
          </a:xfrm>
          <a:prstGeom prst="rect">
            <a:avLst/>
          </a:prstGeom>
          <a:noFill/>
        </p:spPr>
        <p:txBody>
          <a:bodyPr wrap="square" rtlCol="0">
            <a:noAutofit/>
          </a:bodyPr>
          <a:p>
            <a:endParaRPr lang="en-US" altLang="en-US" sz="2400">
              <a:solidFill>
                <a:srgbClr val="002060"/>
              </a:solidFill>
              <a:latin typeface="Cambria" panose="02040503050406030204" charset="0"/>
              <a:cs typeface="Cambria" panose="02040503050406030204" charset="0"/>
            </a:endParaRPr>
          </a:p>
        </p:txBody>
      </p:sp>
      <p:sp>
        <p:nvSpPr>
          <p:cNvPr id="2" name="Text Box 1"/>
          <p:cNvSpPr txBox="1"/>
          <p:nvPr/>
        </p:nvSpPr>
        <p:spPr>
          <a:xfrm>
            <a:off x="-635" y="991235"/>
            <a:ext cx="12192000" cy="899160"/>
          </a:xfrm>
          <a:prstGeom prst="rect">
            <a:avLst/>
          </a:prstGeom>
          <a:noFill/>
        </p:spPr>
        <p:txBody>
          <a:bodyPr wrap="square" rtlCol="0">
            <a:noAutofit/>
          </a:bodyPr>
          <a:p>
            <a:r>
              <a:rPr lang="en-US" altLang="en-US" sz="2400">
                <a:solidFill>
                  <a:srgbClr val="002060"/>
                </a:solidFill>
                <a:latin typeface="Cambria" panose="02040503050406030204" charset="0"/>
                <a:cs typeface="Cambria" panose="02040503050406030204" charset="0"/>
              </a:rPr>
              <a:t>QUERY:- Show all unique travel classes.</a:t>
            </a:r>
            <a:endParaRPr lang="en-US" altLang="en-US" sz="2400">
              <a:solidFill>
                <a:srgbClr val="002060"/>
              </a:solidFill>
              <a:latin typeface="Cambria" panose="02040503050406030204" charset="0"/>
              <a:cs typeface="Cambria" panose="02040503050406030204" charset="0"/>
            </a:endParaRPr>
          </a:p>
          <a:p>
            <a:r>
              <a:rPr lang="en-US" altLang="en-US" sz="2400">
                <a:solidFill>
                  <a:srgbClr val="002060"/>
                </a:solidFill>
                <a:latin typeface="Cambria" panose="02040503050406030204" charset="0"/>
                <a:cs typeface="Cambria" panose="02040503050406030204" charset="0"/>
              </a:rPr>
              <a:t>SYNTAX:- SELECT DISTINCT travel_class FROM Tickets;</a:t>
            </a:r>
            <a:endParaRPr lang="en-US" altLang="en-US" sz="2400">
              <a:solidFill>
                <a:srgbClr val="002060"/>
              </a:solidFill>
              <a:latin typeface="Cambria" panose="02040503050406030204" charset="0"/>
              <a:cs typeface="Cambria" panose="02040503050406030204" charset="0"/>
            </a:endParaRPr>
          </a:p>
        </p:txBody>
      </p:sp>
      <p:pic>
        <p:nvPicPr>
          <p:cNvPr id="6" name="Picture 5"/>
          <p:cNvPicPr>
            <a:picLocks noChangeAspect="1"/>
          </p:cNvPicPr>
          <p:nvPr/>
        </p:nvPicPr>
        <p:blipFill>
          <a:blip r:embed="rId2"/>
          <a:stretch>
            <a:fillRect/>
          </a:stretch>
        </p:blipFill>
        <p:spPr>
          <a:xfrm>
            <a:off x="0" y="1891030"/>
            <a:ext cx="12190730" cy="4966335"/>
          </a:xfrm>
          <a:prstGeom prst="rect">
            <a:avLst/>
          </a:prstGeom>
        </p:spPr>
      </p:pic>
    </p:spTree>
    <p:custDataLst>
      <p:tags r:id="rId3"/>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a:xfrm>
            <a:off x="-635" y="-635"/>
            <a:ext cx="12192000" cy="805815"/>
          </a:xfrm>
        </p:spPr>
        <p:style>
          <a:lnRef idx="2">
            <a:schemeClr val="accent1"/>
          </a:lnRef>
          <a:fillRef idx="2">
            <a:schemeClr val="accent1"/>
          </a:fillRef>
          <a:effectRef idx="0">
            <a:srgbClr val="FFFFFF"/>
          </a:effectRef>
          <a:fontRef idx="minor">
            <a:schemeClr val="lt1"/>
          </a:fontRef>
        </p:style>
        <p:txBody>
          <a:bodyPr/>
          <a:p>
            <a:pPr algn="ctr"/>
            <a:r>
              <a:rPr lang="en-US" altLang="en-US" sz="4000" b="1">
                <a:solidFill>
                  <a:srgbClr val="002060"/>
                </a:solidFill>
                <a:latin typeface="Cambria" panose="02040503050406030204" charset="0"/>
                <a:cs typeface="Cambria" panose="02040503050406030204" charset="0"/>
              </a:rPr>
              <a:t>LIKE CLAUSE</a:t>
            </a:r>
            <a:endParaRPr lang="en-US" altLang="en-US" sz="4000" b="1">
              <a:solidFill>
                <a:srgbClr val="002060"/>
              </a:solidFill>
              <a:latin typeface="Cambria" panose="02040503050406030204" charset="0"/>
              <a:cs typeface="Cambria" panose="02040503050406030204" charset="0"/>
            </a:endParaRPr>
          </a:p>
        </p:txBody>
      </p:sp>
      <p:sp>
        <p:nvSpPr>
          <p:cNvPr id="3" name="Text Box 2"/>
          <p:cNvSpPr txBox="1"/>
          <p:nvPr/>
        </p:nvSpPr>
        <p:spPr>
          <a:xfrm>
            <a:off x="6470650" y="1130300"/>
            <a:ext cx="5721350" cy="5727700"/>
          </a:xfrm>
          <a:prstGeom prst="rect">
            <a:avLst/>
          </a:prstGeom>
          <a:noFill/>
        </p:spPr>
        <p:txBody>
          <a:bodyPr wrap="square" rtlCol="0">
            <a:noAutofit/>
          </a:bodyPr>
          <a:p>
            <a:endParaRPr lang="en-US" altLang="en-US" sz="2400">
              <a:solidFill>
                <a:srgbClr val="002060"/>
              </a:solidFill>
              <a:latin typeface="Cambria" panose="02040503050406030204" charset="0"/>
              <a:cs typeface="Cambria" panose="02040503050406030204" charset="0"/>
            </a:endParaRPr>
          </a:p>
        </p:txBody>
      </p:sp>
      <p:sp>
        <p:nvSpPr>
          <p:cNvPr id="2" name="Text Box 1"/>
          <p:cNvSpPr txBox="1"/>
          <p:nvPr/>
        </p:nvSpPr>
        <p:spPr>
          <a:xfrm>
            <a:off x="-635" y="991235"/>
            <a:ext cx="12192000" cy="899160"/>
          </a:xfrm>
          <a:prstGeom prst="rect">
            <a:avLst/>
          </a:prstGeom>
          <a:noFill/>
        </p:spPr>
        <p:txBody>
          <a:bodyPr wrap="square" rtlCol="0">
            <a:noAutofit/>
          </a:bodyPr>
          <a:p>
            <a:r>
              <a:rPr lang="en-US" altLang="en-US" sz="2400">
                <a:solidFill>
                  <a:srgbClr val="002060"/>
                </a:solidFill>
                <a:latin typeface="Cambria" panose="02040503050406030204" charset="0"/>
                <a:cs typeface="Cambria" panose="02040503050406030204" charset="0"/>
              </a:rPr>
              <a:t>QUERY:- Find passengers whose first name starts with 'A'.</a:t>
            </a:r>
            <a:endParaRPr lang="en-US" altLang="en-US" sz="2400">
              <a:solidFill>
                <a:srgbClr val="002060"/>
              </a:solidFill>
              <a:latin typeface="Cambria" panose="02040503050406030204" charset="0"/>
              <a:cs typeface="Cambria" panose="02040503050406030204" charset="0"/>
            </a:endParaRPr>
          </a:p>
          <a:p>
            <a:r>
              <a:rPr lang="en-US" altLang="en-US" sz="2400">
                <a:solidFill>
                  <a:srgbClr val="002060"/>
                </a:solidFill>
                <a:latin typeface="Cambria" panose="02040503050406030204" charset="0"/>
                <a:cs typeface="Cambria" panose="02040503050406030204" charset="0"/>
              </a:rPr>
              <a:t>SYNTAX:- SELECT * FROM Passengers WHERE first_name LIKE 'A%';</a:t>
            </a:r>
            <a:endParaRPr lang="en-US" altLang="en-US" sz="2400">
              <a:solidFill>
                <a:srgbClr val="002060"/>
              </a:solidFill>
              <a:latin typeface="Cambria" panose="02040503050406030204" charset="0"/>
              <a:cs typeface="Cambria" panose="02040503050406030204" charset="0"/>
            </a:endParaRPr>
          </a:p>
        </p:txBody>
      </p:sp>
      <p:pic>
        <p:nvPicPr>
          <p:cNvPr id="5" name="Picture 4"/>
          <p:cNvPicPr>
            <a:picLocks noChangeAspect="1"/>
          </p:cNvPicPr>
          <p:nvPr/>
        </p:nvPicPr>
        <p:blipFill>
          <a:blip r:embed="rId2"/>
          <a:stretch>
            <a:fillRect/>
          </a:stretch>
        </p:blipFill>
        <p:spPr>
          <a:xfrm>
            <a:off x="0" y="1890395"/>
            <a:ext cx="12192000" cy="4967605"/>
          </a:xfrm>
          <a:prstGeom prst="rect">
            <a:avLst/>
          </a:prstGeom>
          <a:ln>
            <a:noFill/>
          </a:ln>
        </p:spPr>
      </p:pic>
    </p:spTree>
    <p:custDataLst>
      <p:tags r:id="rId3"/>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a:xfrm>
            <a:off x="-635" y="-635"/>
            <a:ext cx="12192000" cy="805815"/>
          </a:xfrm>
        </p:spPr>
        <p:style>
          <a:lnRef idx="2">
            <a:schemeClr val="accent1"/>
          </a:lnRef>
          <a:fillRef idx="2">
            <a:schemeClr val="accent1"/>
          </a:fillRef>
          <a:effectRef idx="0">
            <a:srgbClr val="FFFFFF"/>
          </a:effectRef>
          <a:fontRef idx="minor">
            <a:schemeClr val="lt1"/>
          </a:fontRef>
        </p:style>
        <p:txBody>
          <a:bodyPr/>
          <a:p>
            <a:pPr algn="ctr"/>
            <a:r>
              <a:rPr lang="en-US" altLang="en-US" sz="4000" b="1">
                <a:solidFill>
                  <a:srgbClr val="002060"/>
                </a:solidFill>
                <a:latin typeface="Cambria" panose="02040503050406030204" charset="0"/>
                <a:cs typeface="Cambria" panose="02040503050406030204" charset="0"/>
              </a:rPr>
              <a:t>BETWEEN CLAUSE</a:t>
            </a:r>
            <a:endParaRPr lang="en-US" altLang="en-US" sz="4000" b="1">
              <a:solidFill>
                <a:srgbClr val="002060"/>
              </a:solidFill>
              <a:latin typeface="Cambria" panose="02040503050406030204" charset="0"/>
              <a:cs typeface="Cambria" panose="02040503050406030204" charset="0"/>
            </a:endParaRPr>
          </a:p>
        </p:txBody>
      </p:sp>
      <p:sp>
        <p:nvSpPr>
          <p:cNvPr id="3" name="Text Box 2"/>
          <p:cNvSpPr txBox="1"/>
          <p:nvPr/>
        </p:nvSpPr>
        <p:spPr>
          <a:xfrm>
            <a:off x="6470650" y="1130300"/>
            <a:ext cx="5721350" cy="5727700"/>
          </a:xfrm>
          <a:prstGeom prst="rect">
            <a:avLst/>
          </a:prstGeom>
          <a:noFill/>
        </p:spPr>
        <p:txBody>
          <a:bodyPr wrap="square" rtlCol="0">
            <a:noAutofit/>
          </a:bodyPr>
          <a:p>
            <a:endParaRPr lang="en-US" altLang="en-US" sz="2400">
              <a:solidFill>
                <a:srgbClr val="002060"/>
              </a:solidFill>
              <a:latin typeface="Cambria" panose="02040503050406030204" charset="0"/>
              <a:cs typeface="Cambria" panose="02040503050406030204" charset="0"/>
            </a:endParaRPr>
          </a:p>
        </p:txBody>
      </p:sp>
      <p:sp>
        <p:nvSpPr>
          <p:cNvPr id="2" name="Text Box 1"/>
          <p:cNvSpPr txBox="1"/>
          <p:nvPr/>
        </p:nvSpPr>
        <p:spPr>
          <a:xfrm>
            <a:off x="-635" y="991235"/>
            <a:ext cx="12192000" cy="899160"/>
          </a:xfrm>
          <a:prstGeom prst="rect">
            <a:avLst/>
          </a:prstGeom>
          <a:noFill/>
        </p:spPr>
        <p:txBody>
          <a:bodyPr wrap="square" rtlCol="0">
            <a:noAutofit/>
          </a:bodyPr>
          <a:p>
            <a:r>
              <a:rPr lang="en-US" altLang="en-US" sz="2400">
                <a:solidFill>
                  <a:srgbClr val="002060"/>
                </a:solidFill>
                <a:latin typeface="Cambria" panose="02040503050406030204" charset="0"/>
                <a:cs typeface="Cambria" panose="02040503050406030204" charset="0"/>
              </a:rPr>
              <a:t>QUERY:- Show flights with fares between ₹4000 and ₹6000.</a:t>
            </a:r>
            <a:endParaRPr lang="en-US" altLang="en-US" sz="2400">
              <a:solidFill>
                <a:srgbClr val="002060"/>
              </a:solidFill>
              <a:latin typeface="Cambria" panose="02040503050406030204" charset="0"/>
              <a:cs typeface="Cambria" panose="02040503050406030204" charset="0"/>
            </a:endParaRPr>
          </a:p>
          <a:p>
            <a:r>
              <a:rPr lang="en-US" altLang="en-US" sz="2400">
                <a:solidFill>
                  <a:srgbClr val="002060"/>
                </a:solidFill>
                <a:latin typeface="Cambria" panose="02040503050406030204" charset="0"/>
                <a:cs typeface="Cambria" panose="02040503050406030204" charset="0"/>
              </a:rPr>
              <a:t>SYNTAX:- SELECT * FROM Flights WHERE fare BETWEEN 4000 AND 6000;</a:t>
            </a:r>
            <a:endParaRPr lang="en-US" altLang="en-US" sz="2400">
              <a:solidFill>
                <a:srgbClr val="002060"/>
              </a:solidFill>
              <a:latin typeface="Cambria" panose="02040503050406030204" charset="0"/>
              <a:cs typeface="Cambria" panose="02040503050406030204" charset="0"/>
            </a:endParaRPr>
          </a:p>
        </p:txBody>
      </p:sp>
      <p:pic>
        <p:nvPicPr>
          <p:cNvPr id="5" name="Picture 4"/>
          <p:cNvPicPr>
            <a:picLocks noChangeAspect="1"/>
          </p:cNvPicPr>
          <p:nvPr/>
        </p:nvPicPr>
        <p:blipFill>
          <a:blip r:embed="rId2"/>
          <a:stretch>
            <a:fillRect/>
          </a:stretch>
        </p:blipFill>
        <p:spPr>
          <a:xfrm>
            <a:off x="635" y="1890395"/>
            <a:ext cx="12191365" cy="4968240"/>
          </a:xfrm>
          <a:prstGeom prst="rect">
            <a:avLst/>
          </a:prstGeom>
        </p:spPr>
      </p:pic>
    </p:spTree>
    <p:custDataLst>
      <p:tags r:id="rId3"/>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a:xfrm>
            <a:off x="-635" y="-635"/>
            <a:ext cx="12192000" cy="805815"/>
          </a:xfrm>
        </p:spPr>
        <p:style>
          <a:lnRef idx="2">
            <a:schemeClr val="accent1"/>
          </a:lnRef>
          <a:fillRef idx="2">
            <a:schemeClr val="accent1"/>
          </a:fillRef>
          <a:effectRef idx="0">
            <a:srgbClr val="FFFFFF"/>
          </a:effectRef>
          <a:fontRef idx="minor">
            <a:schemeClr val="lt1"/>
          </a:fontRef>
        </p:style>
        <p:txBody>
          <a:bodyPr/>
          <a:p>
            <a:pPr algn="ctr"/>
            <a:r>
              <a:rPr lang="en-US" altLang="en-US" sz="4000" b="1">
                <a:solidFill>
                  <a:srgbClr val="002060"/>
                </a:solidFill>
                <a:latin typeface="Cambria" panose="02040503050406030204" charset="0"/>
                <a:cs typeface="Cambria" panose="02040503050406030204" charset="0"/>
              </a:rPr>
              <a:t>IN CLAUSE</a:t>
            </a:r>
            <a:endParaRPr lang="en-US" altLang="en-US" sz="4000" b="1">
              <a:solidFill>
                <a:srgbClr val="002060"/>
              </a:solidFill>
              <a:latin typeface="Cambria" panose="02040503050406030204" charset="0"/>
              <a:cs typeface="Cambria" panose="02040503050406030204" charset="0"/>
            </a:endParaRPr>
          </a:p>
        </p:txBody>
      </p:sp>
      <p:sp>
        <p:nvSpPr>
          <p:cNvPr id="3" name="Text Box 2"/>
          <p:cNvSpPr txBox="1"/>
          <p:nvPr/>
        </p:nvSpPr>
        <p:spPr>
          <a:xfrm>
            <a:off x="6470650" y="1130300"/>
            <a:ext cx="5721350" cy="5727700"/>
          </a:xfrm>
          <a:prstGeom prst="rect">
            <a:avLst/>
          </a:prstGeom>
          <a:noFill/>
        </p:spPr>
        <p:txBody>
          <a:bodyPr wrap="square" rtlCol="0">
            <a:noAutofit/>
          </a:bodyPr>
          <a:p>
            <a:endParaRPr lang="en-US" altLang="en-US" sz="2400">
              <a:solidFill>
                <a:srgbClr val="002060"/>
              </a:solidFill>
              <a:latin typeface="Cambria" panose="02040503050406030204" charset="0"/>
              <a:cs typeface="Cambria" panose="02040503050406030204" charset="0"/>
            </a:endParaRPr>
          </a:p>
        </p:txBody>
      </p:sp>
      <p:sp>
        <p:nvSpPr>
          <p:cNvPr id="2" name="Text Box 1"/>
          <p:cNvSpPr txBox="1"/>
          <p:nvPr/>
        </p:nvSpPr>
        <p:spPr>
          <a:xfrm>
            <a:off x="-635" y="991235"/>
            <a:ext cx="12192000" cy="899160"/>
          </a:xfrm>
          <a:prstGeom prst="rect">
            <a:avLst/>
          </a:prstGeom>
          <a:noFill/>
        </p:spPr>
        <p:txBody>
          <a:bodyPr wrap="square" rtlCol="0">
            <a:noAutofit/>
          </a:bodyPr>
          <a:p>
            <a:r>
              <a:rPr lang="en-US" altLang="en-US" sz="2400">
                <a:solidFill>
                  <a:srgbClr val="002060"/>
                </a:solidFill>
                <a:latin typeface="Cambria" panose="02040503050406030204" charset="0"/>
                <a:cs typeface="Cambria" panose="02040503050406030204" charset="0"/>
              </a:rPr>
              <a:t>QUERY:- Show flights that are delayed and cancelled.</a:t>
            </a:r>
            <a:endParaRPr lang="en-US" altLang="en-US" sz="2400">
              <a:solidFill>
                <a:srgbClr val="002060"/>
              </a:solidFill>
              <a:latin typeface="Cambria" panose="02040503050406030204" charset="0"/>
              <a:cs typeface="Cambria" panose="02040503050406030204" charset="0"/>
            </a:endParaRPr>
          </a:p>
          <a:p>
            <a:r>
              <a:rPr lang="en-US" altLang="en-US" sz="2400">
                <a:solidFill>
                  <a:srgbClr val="002060"/>
                </a:solidFill>
                <a:latin typeface="Cambria" panose="02040503050406030204" charset="0"/>
                <a:cs typeface="Cambria" panose="02040503050406030204" charset="0"/>
              </a:rPr>
              <a:t>SYNTAX:- SELECT * FROM Flight_Status WHERE flight_status IN ('Delayed', 'Cancelled');</a:t>
            </a:r>
            <a:endParaRPr lang="en-US" altLang="en-US" sz="2400">
              <a:solidFill>
                <a:srgbClr val="002060"/>
              </a:solidFill>
              <a:latin typeface="Cambria" panose="02040503050406030204" charset="0"/>
              <a:cs typeface="Cambria" panose="02040503050406030204" charset="0"/>
            </a:endParaRPr>
          </a:p>
        </p:txBody>
      </p:sp>
      <p:pic>
        <p:nvPicPr>
          <p:cNvPr id="5" name="Picture 4"/>
          <p:cNvPicPr>
            <a:picLocks noChangeAspect="1"/>
          </p:cNvPicPr>
          <p:nvPr/>
        </p:nvPicPr>
        <p:blipFill>
          <a:blip r:embed="rId2"/>
          <a:stretch>
            <a:fillRect/>
          </a:stretch>
        </p:blipFill>
        <p:spPr>
          <a:xfrm>
            <a:off x="635" y="1891030"/>
            <a:ext cx="12190730" cy="4966970"/>
          </a:xfrm>
          <a:prstGeom prst="rect">
            <a:avLst/>
          </a:prstGeom>
        </p:spPr>
      </p:pic>
    </p:spTree>
    <p:custDataLst>
      <p:tags r:id="rId3"/>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a:xfrm>
            <a:off x="-635" y="-635"/>
            <a:ext cx="12192000" cy="805815"/>
          </a:xfrm>
        </p:spPr>
        <p:style>
          <a:lnRef idx="2">
            <a:schemeClr val="accent1"/>
          </a:lnRef>
          <a:fillRef idx="2">
            <a:schemeClr val="accent1"/>
          </a:fillRef>
          <a:effectRef idx="0">
            <a:srgbClr val="FFFFFF"/>
          </a:effectRef>
          <a:fontRef idx="minor">
            <a:schemeClr val="lt1"/>
          </a:fontRef>
        </p:style>
        <p:txBody>
          <a:bodyPr/>
          <a:p>
            <a:pPr algn="ctr"/>
            <a:r>
              <a:rPr lang="en-US" altLang="en-US" sz="4000" b="1">
                <a:solidFill>
                  <a:srgbClr val="002060"/>
                </a:solidFill>
                <a:latin typeface="Cambria" panose="02040503050406030204" charset="0"/>
                <a:cs typeface="Cambria" panose="02040503050406030204" charset="0"/>
              </a:rPr>
              <a:t>HAVING CLAUSE</a:t>
            </a:r>
            <a:endParaRPr lang="en-US" altLang="en-US" sz="4000" b="1">
              <a:solidFill>
                <a:srgbClr val="002060"/>
              </a:solidFill>
              <a:latin typeface="Cambria" panose="02040503050406030204" charset="0"/>
              <a:cs typeface="Cambria" panose="02040503050406030204" charset="0"/>
            </a:endParaRPr>
          </a:p>
        </p:txBody>
      </p:sp>
      <p:sp>
        <p:nvSpPr>
          <p:cNvPr id="3" name="Text Box 2"/>
          <p:cNvSpPr txBox="1"/>
          <p:nvPr/>
        </p:nvSpPr>
        <p:spPr>
          <a:xfrm>
            <a:off x="6470650" y="1130300"/>
            <a:ext cx="5721350" cy="5727700"/>
          </a:xfrm>
          <a:prstGeom prst="rect">
            <a:avLst/>
          </a:prstGeom>
          <a:noFill/>
        </p:spPr>
        <p:txBody>
          <a:bodyPr wrap="square" rtlCol="0">
            <a:noAutofit/>
          </a:bodyPr>
          <a:p>
            <a:endParaRPr lang="en-US" altLang="en-US" sz="2400">
              <a:solidFill>
                <a:srgbClr val="002060"/>
              </a:solidFill>
              <a:latin typeface="Cambria" panose="02040503050406030204" charset="0"/>
              <a:cs typeface="Cambria" panose="02040503050406030204" charset="0"/>
            </a:endParaRPr>
          </a:p>
        </p:txBody>
      </p:sp>
      <p:sp>
        <p:nvSpPr>
          <p:cNvPr id="2" name="Text Box 1"/>
          <p:cNvSpPr txBox="1"/>
          <p:nvPr/>
        </p:nvSpPr>
        <p:spPr>
          <a:xfrm>
            <a:off x="-635" y="1303655"/>
            <a:ext cx="12192000" cy="1259840"/>
          </a:xfrm>
          <a:prstGeom prst="rect">
            <a:avLst/>
          </a:prstGeom>
          <a:noFill/>
        </p:spPr>
        <p:txBody>
          <a:bodyPr wrap="square" rtlCol="0">
            <a:noAutofit/>
          </a:bodyPr>
          <a:p>
            <a:r>
              <a:rPr lang="en-US" altLang="en-US" sz="2400">
                <a:solidFill>
                  <a:srgbClr val="002060"/>
                </a:solidFill>
                <a:latin typeface="Cambria" panose="02040503050406030204" charset="0"/>
                <a:cs typeface="Cambria" panose="02040503050406030204" charset="0"/>
              </a:rPr>
              <a:t>QUERY:- Show travel classes with more than 2 bookings.</a:t>
            </a:r>
            <a:endParaRPr lang="en-US" altLang="en-US" sz="2400">
              <a:solidFill>
                <a:srgbClr val="002060"/>
              </a:solidFill>
              <a:latin typeface="Cambria" panose="02040503050406030204" charset="0"/>
              <a:cs typeface="Cambria" panose="02040503050406030204" charset="0"/>
            </a:endParaRPr>
          </a:p>
          <a:p>
            <a:r>
              <a:rPr lang="en-US" altLang="en-US" sz="2400">
                <a:solidFill>
                  <a:srgbClr val="002060"/>
                </a:solidFill>
                <a:latin typeface="Cambria" panose="02040503050406030204" charset="0"/>
                <a:cs typeface="Cambria" panose="02040503050406030204" charset="0"/>
              </a:rPr>
              <a:t>SYNTAX:- SELECT travel_class, COUNT(*) AS total_bookings FROM Tickets GROUP BY travel_class HAVING COUNT(*) &gt; 2;</a:t>
            </a:r>
            <a:endParaRPr lang="en-US" altLang="en-US" sz="2400">
              <a:solidFill>
                <a:srgbClr val="002060"/>
              </a:solidFill>
              <a:latin typeface="Cambria" panose="02040503050406030204" charset="0"/>
              <a:cs typeface="Cambria" panose="02040503050406030204" charset="0"/>
            </a:endParaRPr>
          </a:p>
        </p:txBody>
      </p:sp>
      <p:pic>
        <p:nvPicPr>
          <p:cNvPr id="6" name="Picture 5"/>
          <p:cNvPicPr>
            <a:picLocks noChangeAspect="1"/>
          </p:cNvPicPr>
          <p:nvPr/>
        </p:nvPicPr>
        <p:blipFill>
          <a:blip r:embed="rId2"/>
          <a:srcRect r="4339"/>
          <a:stretch>
            <a:fillRect/>
          </a:stretch>
        </p:blipFill>
        <p:spPr>
          <a:xfrm>
            <a:off x="635" y="2710180"/>
            <a:ext cx="12190730" cy="3129915"/>
          </a:xfrm>
          <a:prstGeom prst="rect">
            <a:avLst/>
          </a:prstGeom>
        </p:spPr>
      </p:pic>
    </p:spTree>
    <p:custDataLst>
      <p:tags r:id="rId3"/>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Picture 2" descr="ChatGPT Image Aug 4, 2026, 11_03_12 PM"/>
          <p:cNvPicPr>
            <a:picLocks noChangeAspect="1"/>
          </p:cNvPicPr>
          <p:nvPr/>
        </p:nvPicPr>
        <p:blipFill>
          <a:blip r:embed="rId1"/>
          <a:stretch>
            <a:fillRect/>
          </a:stretch>
        </p:blipFill>
        <p:spPr>
          <a:xfrm>
            <a:off x="0" y="0"/>
            <a:ext cx="12192635" cy="6858000"/>
          </a:xfrm>
          <a:prstGeom prst="rect">
            <a:avLst/>
          </a:prstGeom>
        </p:spPr>
      </p:pic>
      <p:sp>
        <p:nvSpPr>
          <p:cNvPr id="4" name="Text Box 3"/>
          <p:cNvSpPr txBox="1"/>
          <p:nvPr/>
        </p:nvSpPr>
        <p:spPr>
          <a:xfrm>
            <a:off x="-635" y="5160645"/>
            <a:ext cx="12192635" cy="1697355"/>
          </a:xfrm>
          <a:prstGeom prst="rect">
            <a:avLst/>
          </a:prstGeom>
          <a:noFill/>
        </p:spPr>
        <p:txBody>
          <a:bodyPr wrap="square" rtlCol="0">
            <a:noAutofit/>
          </a:bodyPr>
          <a:p>
            <a:pPr algn="ctr"/>
            <a:r>
              <a:rPr lang="en-US" sz="8000" b="1">
                <a:solidFill>
                  <a:srgbClr val="090B62"/>
                </a:solidFill>
                <a:latin typeface="Cambria" panose="02040503050406030204" charset="0"/>
                <a:cs typeface="Cambria" panose="02040503050406030204" charset="0"/>
              </a:rPr>
              <a:t>Aggregate Functions</a:t>
            </a:r>
            <a:endParaRPr lang="en-US" sz="8000" b="1">
              <a:solidFill>
                <a:srgbClr val="090B62"/>
              </a:solidFill>
              <a:latin typeface="Cambria" panose="02040503050406030204" charset="0"/>
              <a:cs typeface="Cambria" panose="02040503050406030204" charset="0"/>
            </a:endParaRPr>
          </a:p>
        </p:txBody>
      </p:sp>
    </p:spTree>
    <p:custDataLst>
      <p:tags r:id="rId2"/>
    </p:custData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a:xfrm>
            <a:off x="-635" y="-635"/>
            <a:ext cx="12192000" cy="805815"/>
          </a:xfrm>
        </p:spPr>
        <p:style>
          <a:lnRef idx="2">
            <a:schemeClr val="accent1"/>
          </a:lnRef>
          <a:fillRef idx="2">
            <a:schemeClr val="accent1"/>
          </a:fillRef>
          <a:effectRef idx="0">
            <a:srgbClr val="FFFFFF"/>
          </a:effectRef>
          <a:fontRef idx="minor">
            <a:schemeClr val="lt1"/>
          </a:fontRef>
        </p:style>
        <p:txBody>
          <a:bodyPr/>
          <a:p>
            <a:pPr algn="ctr"/>
            <a:r>
              <a:rPr lang="en-US" altLang="en-US" sz="4000" b="1">
                <a:solidFill>
                  <a:srgbClr val="002060"/>
                </a:solidFill>
                <a:latin typeface="Cambria" panose="02040503050406030204" charset="0"/>
                <a:cs typeface="Cambria" panose="02040503050406030204" charset="0"/>
              </a:rPr>
              <a:t>COUNT &amp; SUM FUNCTION</a:t>
            </a:r>
            <a:endParaRPr lang="en-US" altLang="en-US" sz="4000" b="1">
              <a:solidFill>
                <a:srgbClr val="002060"/>
              </a:solidFill>
              <a:latin typeface="Cambria" panose="02040503050406030204" charset="0"/>
              <a:cs typeface="Cambria" panose="02040503050406030204" charset="0"/>
            </a:endParaRPr>
          </a:p>
        </p:txBody>
      </p:sp>
      <p:sp>
        <p:nvSpPr>
          <p:cNvPr id="3" name="Text Box 2"/>
          <p:cNvSpPr txBox="1"/>
          <p:nvPr/>
        </p:nvSpPr>
        <p:spPr>
          <a:xfrm>
            <a:off x="6470650" y="1130300"/>
            <a:ext cx="5721350" cy="5727700"/>
          </a:xfrm>
          <a:prstGeom prst="rect">
            <a:avLst/>
          </a:prstGeom>
          <a:noFill/>
        </p:spPr>
        <p:txBody>
          <a:bodyPr wrap="square" rtlCol="0">
            <a:noAutofit/>
          </a:bodyPr>
          <a:p>
            <a:endParaRPr lang="en-US" altLang="en-US" sz="2400">
              <a:solidFill>
                <a:srgbClr val="002060"/>
              </a:solidFill>
              <a:latin typeface="Cambria" panose="02040503050406030204" charset="0"/>
              <a:cs typeface="Cambria" panose="02040503050406030204" charset="0"/>
            </a:endParaRPr>
          </a:p>
        </p:txBody>
      </p:sp>
      <p:pic>
        <p:nvPicPr>
          <p:cNvPr id="2" name="Picture 1"/>
          <p:cNvPicPr>
            <a:picLocks noChangeAspect="1"/>
          </p:cNvPicPr>
          <p:nvPr/>
        </p:nvPicPr>
        <p:blipFill>
          <a:blip r:embed="rId2"/>
          <a:stretch>
            <a:fillRect/>
          </a:stretch>
        </p:blipFill>
        <p:spPr>
          <a:xfrm>
            <a:off x="-635" y="1819275"/>
            <a:ext cx="12192635" cy="1824355"/>
          </a:xfrm>
          <a:prstGeom prst="rect">
            <a:avLst/>
          </a:prstGeom>
        </p:spPr>
      </p:pic>
      <p:sp>
        <p:nvSpPr>
          <p:cNvPr id="5" name="Text Box 4"/>
          <p:cNvSpPr txBox="1"/>
          <p:nvPr/>
        </p:nvSpPr>
        <p:spPr>
          <a:xfrm>
            <a:off x="635" y="988695"/>
            <a:ext cx="12191365" cy="830580"/>
          </a:xfrm>
          <a:prstGeom prst="rect">
            <a:avLst/>
          </a:prstGeom>
          <a:noFill/>
        </p:spPr>
        <p:txBody>
          <a:bodyPr wrap="square" rtlCol="0">
            <a:noAutofit/>
          </a:bodyPr>
          <a:p>
            <a:r>
              <a:rPr lang="en-US" sz="2300">
                <a:solidFill>
                  <a:srgbClr val="002060"/>
                </a:solidFill>
                <a:latin typeface="Cambria" panose="02040503050406030204" charset="0"/>
                <a:cs typeface="Cambria" panose="02040503050406030204" charset="0"/>
              </a:rPr>
              <a:t>QUERY:- </a:t>
            </a:r>
            <a:r>
              <a:rPr lang="en-US" altLang="en-US" sz="2300">
                <a:solidFill>
                  <a:srgbClr val="002060"/>
                </a:solidFill>
                <a:latin typeface="Cambria" panose="02040503050406030204" charset="0"/>
                <a:cs typeface="Cambria" panose="02040503050406030204" charset="0"/>
              </a:rPr>
              <a:t>How many passengers are there?</a:t>
            </a:r>
            <a:endParaRPr lang="en-US" altLang="en-US" sz="2300">
              <a:solidFill>
                <a:srgbClr val="002060"/>
              </a:solidFill>
              <a:latin typeface="Cambria" panose="02040503050406030204" charset="0"/>
              <a:cs typeface="Cambria" panose="02040503050406030204" charset="0"/>
            </a:endParaRPr>
          </a:p>
          <a:p>
            <a:r>
              <a:rPr lang="en-US" altLang="en-US" sz="2300">
                <a:solidFill>
                  <a:srgbClr val="002060"/>
                </a:solidFill>
                <a:latin typeface="Cambria" panose="02040503050406030204" charset="0"/>
                <a:cs typeface="Cambria" panose="02040503050406030204" charset="0"/>
              </a:rPr>
              <a:t>SYNTAX:- SELECT COUNT(*) AS total_passengers FROM Passengers;</a:t>
            </a:r>
            <a:endParaRPr lang="en-US" altLang="en-US" sz="2300">
              <a:solidFill>
                <a:srgbClr val="002060"/>
              </a:solidFill>
              <a:latin typeface="Cambria" panose="02040503050406030204" charset="0"/>
              <a:cs typeface="Cambria" panose="02040503050406030204" charset="0"/>
            </a:endParaRPr>
          </a:p>
        </p:txBody>
      </p:sp>
      <p:sp>
        <p:nvSpPr>
          <p:cNvPr id="6" name="Text Box 5"/>
          <p:cNvSpPr txBox="1"/>
          <p:nvPr/>
        </p:nvSpPr>
        <p:spPr>
          <a:xfrm>
            <a:off x="1270" y="3709035"/>
            <a:ext cx="12190095" cy="827405"/>
          </a:xfrm>
          <a:prstGeom prst="rect">
            <a:avLst/>
          </a:prstGeom>
          <a:noFill/>
        </p:spPr>
        <p:txBody>
          <a:bodyPr wrap="square" rtlCol="0">
            <a:noAutofit/>
          </a:bodyPr>
          <a:p>
            <a:r>
              <a:rPr lang="en-US" sz="2300">
                <a:solidFill>
                  <a:srgbClr val="002060"/>
                </a:solidFill>
                <a:latin typeface="Cambria" panose="02040503050406030204" charset="0"/>
                <a:cs typeface="Cambria" panose="02040503050406030204" charset="0"/>
                <a:sym typeface="+mn-ea"/>
              </a:rPr>
              <a:t>QUERY:- </a:t>
            </a:r>
            <a:r>
              <a:rPr lang="en-US" altLang="en-US" sz="2300">
                <a:solidFill>
                  <a:srgbClr val="002060"/>
                </a:solidFill>
                <a:latin typeface="Cambria" panose="02040503050406030204" charset="0"/>
                <a:cs typeface="Cambria" panose="02040503050406030204" charset="0"/>
                <a:sym typeface="+mn-ea"/>
              </a:rPr>
              <a:t>Calculate the total revenue from successful payments.</a:t>
            </a:r>
            <a:endParaRPr lang="en-US" altLang="en-US" sz="2300">
              <a:solidFill>
                <a:srgbClr val="002060"/>
              </a:solidFill>
              <a:latin typeface="Cambria" panose="02040503050406030204" charset="0"/>
              <a:cs typeface="Cambria" panose="02040503050406030204" charset="0"/>
              <a:sym typeface="+mn-ea"/>
            </a:endParaRPr>
          </a:p>
          <a:p>
            <a:r>
              <a:rPr lang="en-US" altLang="en-US" sz="2300">
                <a:solidFill>
                  <a:srgbClr val="002060"/>
                </a:solidFill>
                <a:latin typeface="Cambria" panose="02040503050406030204" charset="0"/>
                <a:cs typeface="Cambria" panose="02040503050406030204" charset="0"/>
                <a:sym typeface="+mn-ea"/>
              </a:rPr>
              <a:t>SELECT SUM(amount) AS total_revenue FROM Payments WHERE payment_status = 'Success';</a:t>
            </a:r>
            <a:endParaRPr lang="en-US" altLang="en-US" sz="2300">
              <a:solidFill>
                <a:srgbClr val="002060"/>
              </a:solidFill>
              <a:latin typeface="Cambria" panose="02040503050406030204" charset="0"/>
              <a:cs typeface="Cambria" panose="02040503050406030204" charset="0"/>
              <a:sym typeface="+mn-ea"/>
            </a:endParaRPr>
          </a:p>
        </p:txBody>
      </p:sp>
      <p:pic>
        <p:nvPicPr>
          <p:cNvPr id="7" name="Picture 6"/>
          <p:cNvPicPr>
            <a:picLocks noChangeAspect="1"/>
          </p:cNvPicPr>
          <p:nvPr/>
        </p:nvPicPr>
        <p:blipFill>
          <a:blip r:embed="rId3"/>
          <a:stretch>
            <a:fillRect/>
          </a:stretch>
        </p:blipFill>
        <p:spPr>
          <a:xfrm>
            <a:off x="1270" y="4568825"/>
            <a:ext cx="12190730" cy="2289810"/>
          </a:xfrm>
          <a:prstGeom prst="rect">
            <a:avLst/>
          </a:prstGeom>
        </p:spPr>
      </p:pic>
    </p:spTree>
    <p:custDataLst>
      <p:tags r:id="rId4"/>
    </p:custData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a:xfrm>
            <a:off x="-635" y="-635"/>
            <a:ext cx="12192000" cy="805815"/>
          </a:xfrm>
        </p:spPr>
        <p:style>
          <a:lnRef idx="2">
            <a:schemeClr val="accent1"/>
          </a:lnRef>
          <a:fillRef idx="2">
            <a:schemeClr val="accent1"/>
          </a:fillRef>
          <a:effectRef idx="0">
            <a:srgbClr val="FFFFFF"/>
          </a:effectRef>
          <a:fontRef idx="minor">
            <a:schemeClr val="lt1"/>
          </a:fontRef>
        </p:style>
        <p:txBody>
          <a:bodyPr/>
          <a:p>
            <a:pPr algn="ctr"/>
            <a:r>
              <a:rPr lang="en-US" altLang="en-US" sz="4000" b="1">
                <a:solidFill>
                  <a:srgbClr val="002060"/>
                </a:solidFill>
                <a:latin typeface="Cambria" panose="02040503050406030204" charset="0"/>
                <a:cs typeface="Cambria" panose="02040503050406030204" charset="0"/>
              </a:rPr>
              <a:t>AVERAGE FUNCTION</a:t>
            </a:r>
            <a:endParaRPr lang="en-US" altLang="en-US" sz="4000" b="1">
              <a:solidFill>
                <a:srgbClr val="002060"/>
              </a:solidFill>
              <a:latin typeface="Cambria" panose="02040503050406030204" charset="0"/>
              <a:cs typeface="Cambria" panose="02040503050406030204" charset="0"/>
            </a:endParaRPr>
          </a:p>
        </p:txBody>
      </p:sp>
      <p:sp>
        <p:nvSpPr>
          <p:cNvPr id="3" name="Text Box 2"/>
          <p:cNvSpPr txBox="1"/>
          <p:nvPr/>
        </p:nvSpPr>
        <p:spPr>
          <a:xfrm>
            <a:off x="6470650" y="1130300"/>
            <a:ext cx="5721350" cy="5727700"/>
          </a:xfrm>
          <a:prstGeom prst="rect">
            <a:avLst/>
          </a:prstGeom>
          <a:noFill/>
        </p:spPr>
        <p:txBody>
          <a:bodyPr wrap="square" rtlCol="0">
            <a:noAutofit/>
          </a:bodyPr>
          <a:p>
            <a:endParaRPr lang="en-US" altLang="en-US" sz="2400">
              <a:solidFill>
                <a:srgbClr val="002060"/>
              </a:solidFill>
              <a:latin typeface="Cambria" panose="02040503050406030204" charset="0"/>
              <a:cs typeface="Cambria" panose="02040503050406030204" charset="0"/>
            </a:endParaRPr>
          </a:p>
        </p:txBody>
      </p:sp>
      <p:sp>
        <p:nvSpPr>
          <p:cNvPr id="5" name="Text Box 4"/>
          <p:cNvSpPr txBox="1"/>
          <p:nvPr/>
        </p:nvSpPr>
        <p:spPr>
          <a:xfrm>
            <a:off x="635" y="1130300"/>
            <a:ext cx="12191365" cy="991870"/>
          </a:xfrm>
          <a:prstGeom prst="rect">
            <a:avLst/>
          </a:prstGeom>
          <a:noFill/>
        </p:spPr>
        <p:txBody>
          <a:bodyPr wrap="square" rtlCol="0">
            <a:noAutofit/>
          </a:bodyPr>
          <a:p>
            <a:r>
              <a:rPr lang="en-US" sz="2400">
                <a:solidFill>
                  <a:srgbClr val="002060"/>
                </a:solidFill>
                <a:latin typeface="Cambria" panose="02040503050406030204" charset="0"/>
                <a:cs typeface="Cambria" panose="02040503050406030204" charset="0"/>
              </a:rPr>
              <a:t>QUERY:- </a:t>
            </a:r>
            <a:r>
              <a:rPr lang="en-US" altLang="en-US" sz="2400">
                <a:solidFill>
                  <a:srgbClr val="002060"/>
                </a:solidFill>
                <a:latin typeface="Cambria" panose="02040503050406030204" charset="0"/>
                <a:cs typeface="Cambria" panose="02040503050406030204" charset="0"/>
              </a:rPr>
              <a:t>Find the average ticket price.</a:t>
            </a:r>
            <a:endParaRPr lang="en-US" altLang="en-US" sz="2400">
              <a:solidFill>
                <a:srgbClr val="002060"/>
              </a:solidFill>
              <a:latin typeface="Cambria" panose="02040503050406030204" charset="0"/>
              <a:cs typeface="Cambria" panose="02040503050406030204" charset="0"/>
            </a:endParaRPr>
          </a:p>
          <a:p>
            <a:r>
              <a:rPr lang="en-US" altLang="en-US" sz="2400">
                <a:solidFill>
                  <a:srgbClr val="002060"/>
                </a:solidFill>
                <a:latin typeface="Cambria" panose="02040503050406030204" charset="0"/>
                <a:cs typeface="Cambria" panose="02040503050406030204" charset="0"/>
              </a:rPr>
              <a:t>SYNTAX:- SELECT AVG(ticket_price) AS average_ticket_price FROM Tickets;</a:t>
            </a:r>
            <a:endParaRPr lang="en-US" altLang="en-US" sz="2400">
              <a:solidFill>
                <a:srgbClr val="002060"/>
              </a:solidFill>
              <a:latin typeface="Cambria" panose="02040503050406030204" charset="0"/>
              <a:cs typeface="Cambria" panose="02040503050406030204" charset="0"/>
            </a:endParaRPr>
          </a:p>
        </p:txBody>
      </p:sp>
      <p:sp>
        <p:nvSpPr>
          <p:cNvPr id="6" name="Text Box 5"/>
          <p:cNvSpPr txBox="1"/>
          <p:nvPr/>
        </p:nvSpPr>
        <p:spPr>
          <a:xfrm>
            <a:off x="1270" y="3709035"/>
            <a:ext cx="12190095" cy="827405"/>
          </a:xfrm>
          <a:prstGeom prst="rect">
            <a:avLst/>
          </a:prstGeom>
          <a:noFill/>
        </p:spPr>
        <p:txBody>
          <a:bodyPr wrap="square" rtlCol="0">
            <a:noAutofit/>
          </a:bodyPr>
          <a:p>
            <a:endParaRPr lang="en-US" altLang="en-US" sz="2300">
              <a:solidFill>
                <a:srgbClr val="002060"/>
              </a:solidFill>
              <a:latin typeface="Cambria" panose="02040503050406030204" charset="0"/>
              <a:cs typeface="Cambria" panose="02040503050406030204" charset="0"/>
              <a:sym typeface="+mn-ea"/>
            </a:endParaRPr>
          </a:p>
        </p:txBody>
      </p:sp>
      <p:pic>
        <p:nvPicPr>
          <p:cNvPr id="8" name="Picture 7"/>
          <p:cNvPicPr>
            <a:picLocks noChangeAspect="1"/>
          </p:cNvPicPr>
          <p:nvPr/>
        </p:nvPicPr>
        <p:blipFill>
          <a:blip r:embed="rId2"/>
          <a:stretch>
            <a:fillRect/>
          </a:stretch>
        </p:blipFill>
        <p:spPr>
          <a:xfrm>
            <a:off x="635" y="2122170"/>
            <a:ext cx="12191365" cy="2732405"/>
          </a:xfrm>
          <a:prstGeom prst="rect">
            <a:avLst/>
          </a:prstGeom>
        </p:spPr>
      </p:pic>
      <p:sp>
        <p:nvSpPr>
          <p:cNvPr id="9" name="Text Box 8"/>
          <p:cNvSpPr txBox="1"/>
          <p:nvPr/>
        </p:nvSpPr>
        <p:spPr>
          <a:xfrm>
            <a:off x="1905" y="5132705"/>
            <a:ext cx="12190095" cy="1725295"/>
          </a:xfrm>
          <a:prstGeom prst="rect">
            <a:avLst/>
          </a:prstGeom>
          <a:noFill/>
        </p:spPr>
        <p:txBody>
          <a:bodyPr wrap="square" rtlCol="0">
            <a:noAutofit/>
          </a:bodyPr>
          <a:p>
            <a:r>
              <a:rPr lang="en-US" altLang="en-US" sz="2400">
                <a:solidFill>
                  <a:srgbClr val="002060"/>
                </a:solidFill>
                <a:latin typeface="Cambria" panose="02040503050406030204" charset="0"/>
                <a:cs typeface="Cambria" panose="02040503050406030204" charset="0"/>
              </a:rPr>
              <a:t>Calculates the average value of a numeric column by dividing the total sum by the number of records.(Ignores null values)</a:t>
            </a:r>
            <a:endParaRPr lang="en-US" altLang="en-US" sz="2400">
              <a:solidFill>
                <a:srgbClr val="002060"/>
              </a:solidFill>
              <a:latin typeface="Cambria" panose="02040503050406030204" charset="0"/>
              <a:cs typeface="Cambria" panose="02040503050406030204" charset="0"/>
            </a:endParaRPr>
          </a:p>
        </p:txBody>
      </p:sp>
    </p:spTree>
    <p:custDataLst>
      <p:tags r:id="rId3"/>
    </p:custData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a:xfrm>
            <a:off x="-635" y="-635"/>
            <a:ext cx="12192000" cy="805815"/>
          </a:xfrm>
        </p:spPr>
        <p:style>
          <a:lnRef idx="2">
            <a:schemeClr val="accent1"/>
          </a:lnRef>
          <a:fillRef idx="2">
            <a:schemeClr val="accent1"/>
          </a:fillRef>
          <a:effectRef idx="0">
            <a:srgbClr val="FFFFFF"/>
          </a:effectRef>
          <a:fontRef idx="minor">
            <a:schemeClr val="lt1"/>
          </a:fontRef>
        </p:style>
        <p:txBody>
          <a:bodyPr/>
          <a:p>
            <a:pPr algn="ctr"/>
            <a:r>
              <a:rPr lang="en-US" altLang="en-US" sz="4000" b="1">
                <a:solidFill>
                  <a:srgbClr val="002060"/>
                </a:solidFill>
                <a:latin typeface="Cambria" panose="02040503050406030204" charset="0"/>
                <a:cs typeface="Cambria" panose="02040503050406030204" charset="0"/>
              </a:rPr>
              <a:t>MIN &amp; MAX FUNCTION</a:t>
            </a:r>
            <a:endParaRPr lang="en-US" altLang="en-US" sz="4000" b="1">
              <a:solidFill>
                <a:srgbClr val="002060"/>
              </a:solidFill>
              <a:latin typeface="Cambria" panose="02040503050406030204" charset="0"/>
              <a:cs typeface="Cambria" panose="02040503050406030204" charset="0"/>
            </a:endParaRPr>
          </a:p>
        </p:txBody>
      </p:sp>
      <p:sp>
        <p:nvSpPr>
          <p:cNvPr id="3" name="Text Box 2"/>
          <p:cNvSpPr txBox="1"/>
          <p:nvPr/>
        </p:nvSpPr>
        <p:spPr>
          <a:xfrm>
            <a:off x="6470650" y="1130300"/>
            <a:ext cx="5721350" cy="5727700"/>
          </a:xfrm>
          <a:prstGeom prst="rect">
            <a:avLst/>
          </a:prstGeom>
          <a:noFill/>
        </p:spPr>
        <p:txBody>
          <a:bodyPr wrap="square" rtlCol="0">
            <a:noAutofit/>
          </a:bodyPr>
          <a:p>
            <a:endParaRPr lang="en-US" altLang="en-US" sz="2400">
              <a:solidFill>
                <a:srgbClr val="002060"/>
              </a:solidFill>
              <a:latin typeface="Cambria" panose="02040503050406030204" charset="0"/>
              <a:cs typeface="Cambria" panose="02040503050406030204" charset="0"/>
            </a:endParaRPr>
          </a:p>
        </p:txBody>
      </p:sp>
      <p:sp>
        <p:nvSpPr>
          <p:cNvPr id="5" name="Text Box 4"/>
          <p:cNvSpPr txBox="1"/>
          <p:nvPr/>
        </p:nvSpPr>
        <p:spPr>
          <a:xfrm>
            <a:off x="635" y="988695"/>
            <a:ext cx="12191365" cy="830580"/>
          </a:xfrm>
          <a:prstGeom prst="rect">
            <a:avLst/>
          </a:prstGeom>
          <a:noFill/>
        </p:spPr>
        <p:txBody>
          <a:bodyPr wrap="square" rtlCol="0">
            <a:noAutofit/>
          </a:bodyPr>
          <a:p>
            <a:r>
              <a:rPr lang="en-US" sz="2300">
                <a:solidFill>
                  <a:srgbClr val="002060"/>
                </a:solidFill>
                <a:latin typeface="Cambria" panose="02040503050406030204" charset="0"/>
                <a:cs typeface="Cambria" panose="02040503050406030204" charset="0"/>
              </a:rPr>
              <a:t>QUERY:- </a:t>
            </a:r>
            <a:r>
              <a:rPr lang="en-US" altLang="en-US" sz="2300">
                <a:solidFill>
                  <a:srgbClr val="002060"/>
                </a:solidFill>
                <a:latin typeface="Cambria" panose="02040503050406030204" charset="0"/>
                <a:cs typeface="Cambria" panose="02040503050406030204" charset="0"/>
              </a:rPr>
              <a:t>Find the cheapest flight.</a:t>
            </a:r>
            <a:endParaRPr lang="en-US" altLang="en-US" sz="2300">
              <a:solidFill>
                <a:srgbClr val="002060"/>
              </a:solidFill>
              <a:latin typeface="Cambria" panose="02040503050406030204" charset="0"/>
              <a:cs typeface="Cambria" panose="02040503050406030204" charset="0"/>
            </a:endParaRPr>
          </a:p>
          <a:p>
            <a:r>
              <a:rPr lang="en-US" altLang="en-US" sz="2300">
                <a:solidFill>
                  <a:srgbClr val="002060"/>
                </a:solidFill>
                <a:latin typeface="Cambria" panose="02040503050406030204" charset="0"/>
                <a:cs typeface="Cambria" panose="02040503050406030204" charset="0"/>
              </a:rPr>
              <a:t>SELECT MIN(fare) AS lowest_fare FROM Flights;</a:t>
            </a:r>
            <a:endParaRPr lang="en-US" altLang="en-US" sz="2300">
              <a:solidFill>
                <a:srgbClr val="002060"/>
              </a:solidFill>
              <a:latin typeface="Cambria" panose="02040503050406030204" charset="0"/>
              <a:cs typeface="Cambria" panose="02040503050406030204" charset="0"/>
            </a:endParaRPr>
          </a:p>
        </p:txBody>
      </p:sp>
      <p:sp>
        <p:nvSpPr>
          <p:cNvPr id="6" name="Text Box 5"/>
          <p:cNvSpPr txBox="1"/>
          <p:nvPr/>
        </p:nvSpPr>
        <p:spPr>
          <a:xfrm>
            <a:off x="1270" y="3932555"/>
            <a:ext cx="12190095" cy="816610"/>
          </a:xfrm>
          <a:prstGeom prst="rect">
            <a:avLst/>
          </a:prstGeom>
          <a:noFill/>
        </p:spPr>
        <p:txBody>
          <a:bodyPr wrap="square" rtlCol="0">
            <a:noAutofit/>
          </a:bodyPr>
          <a:p>
            <a:r>
              <a:rPr lang="en-US" sz="2300">
                <a:solidFill>
                  <a:srgbClr val="002060"/>
                </a:solidFill>
                <a:latin typeface="Cambria" panose="02040503050406030204" charset="0"/>
                <a:cs typeface="Cambria" panose="02040503050406030204" charset="0"/>
                <a:sym typeface="+mn-ea"/>
              </a:rPr>
              <a:t>QUERY:- </a:t>
            </a:r>
            <a:r>
              <a:rPr lang="en-US" altLang="en-US" sz="2300">
                <a:solidFill>
                  <a:srgbClr val="002060"/>
                </a:solidFill>
                <a:latin typeface="Cambria" panose="02040503050406030204" charset="0"/>
                <a:cs typeface="Cambria" panose="02040503050406030204" charset="0"/>
                <a:sym typeface="+mn-ea"/>
              </a:rPr>
              <a:t>Find the most expensive flight.</a:t>
            </a:r>
            <a:endParaRPr lang="en-US" altLang="en-US" sz="2300">
              <a:solidFill>
                <a:srgbClr val="002060"/>
              </a:solidFill>
              <a:latin typeface="Cambria" panose="02040503050406030204" charset="0"/>
              <a:cs typeface="Cambria" panose="02040503050406030204" charset="0"/>
              <a:sym typeface="+mn-ea"/>
            </a:endParaRPr>
          </a:p>
          <a:p>
            <a:r>
              <a:rPr lang="en-US" altLang="en-US" sz="2300">
                <a:solidFill>
                  <a:srgbClr val="002060"/>
                </a:solidFill>
                <a:latin typeface="Cambria" panose="02040503050406030204" charset="0"/>
                <a:cs typeface="Cambria" panose="02040503050406030204" charset="0"/>
                <a:sym typeface="+mn-ea"/>
              </a:rPr>
              <a:t>SELECT MAX(fare) AS highest_fare FROM Flights;</a:t>
            </a:r>
            <a:endParaRPr lang="en-US" altLang="en-US" sz="2300">
              <a:solidFill>
                <a:srgbClr val="002060"/>
              </a:solidFill>
              <a:latin typeface="Cambria" panose="02040503050406030204" charset="0"/>
              <a:cs typeface="Cambria" panose="02040503050406030204" charset="0"/>
              <a:sym typeface="+mn-ea"/>
            </a:endParaRPr>
          </a:p>
        </p:txBody>
      </p:sp>
      <p:pic>
        <p:nvPicPr>
          <p:cNvPr id="10" name="Picture 9"/>
          <p:cNvPicPr>
            <a:picLocks noChangeAspect="1"/>
          </p:cNvPicPr>
          <p:nvPr/>
        </p:nvPicPr>
        <p:blipFill>
          <a:blip r:embed="rId2"/>
          <a:srcRect r="5563"/>
          <a:stretch>
            <a:fillRect/>
          </a:stretch>
        </p:blipFill>
        <p:spPr>
          <a:xfrm>
            <a:off x="1270" y="2002790"/>
            <a:ext cx="12189460" cy="1671320"/>
          </a:xfrm>
          <a:prstGeom prst="rect">
            <a:avLst/>
          </a:prstGeom>
        </p:spPr>
      </p:pic>
      <p:pic>
        <p:nvPicPr>
          <p:cNvPr id="12" name="Picture 11"/>
          <p:cNvPicPr>
            <a:picLocks noChangeAspect="1"/>
          </p:cNvPicPr>
          <p:nvPr/>
        </p:nvPicPr>
        <p:blipFill>
          <a:blip r:embed="rId3"/>
          <a:stretch>
            <a:fillRect/>
          </a:stretch>
        </p:blipFill>
        <p:spPr>
          <a:xfrm>
            <a:off x="1905" y="4965700"/>
            <a:ext cx="12188825" cy="1892300"/>
          </a:xfrm>
          <a:prstGeom prst="rect">
            <a:avLst/>
          </a:prstGeom>
        </p:spPr>
      </p:pic>
    </p:spTree>
    <p:custDataLst>
      <p:tags r:id="rId4"/>
    </p:custData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a:xfrm>
            <a:off x="-635" y="-635"/>
            <a:ext cx="12192000" cy="805815"/>
          </a:xfrm>
        </p:spPr>
        <p:style>
          <a:lnRef idx="2">
            <a:schemeClr val="accent1"/>
          </a:lnRef>
          <a:fillRef idx="2">
            <a:schemeClr val="accent1"/>
          </a:fillRef>
          <a:effectRef idx="0">
            <a:srgbClr val="FFFFFF"/>
          </a:effectRef>
          <a:fontRef idx="minor">
            <a:schemeClr val="lt1"/>
          </a:fontRef>
        </p:style>
        <p:txBody>
          <a:bodyPr/>
          <a:p>
            <a:pPr algn="ctr"/>
            <a:r>
              <a:rPr lang="en-US" altLang="en-US" sz="4000" b="1">
                <a:solidFill>
                  <a:srgbClr val="002060"/>
                </a:solidFill>
                <a:latin typeface="Cambria" panose="02040503050406030204" charset="0"/>
                <a:cs typeface="Cambria" panose="02040503050406030204" charset="0"/>
              </a:rPr>
              <a:t> FUNCTIONS WITH CLAUSES</a:t>
            </a:r>
            <a:endParaRPr lang="en-US" altLang="en-US" sz="4000" b="1">
              <a:solidFill>
                <a:srgbClr val="002060"/>
              </a:solidFill>
              <a:latin typeface="Cambria" panose="02040503050406030204" charset="0"/>
              <a:cs typeface="Cambria" panose="02040503050406030204" charset="0"/>
            </a:endParaRPr>
          </a:p>
        </p:txBody>
      </p:sp>
      <p:sp>
        <p:nvSpPr>
          <p:cNvPr id="3" name="Text Box 2"/>
          <p:cNvSpPr txBox="1"/>
          <p:nvPr/>
        </p:nvSpPr>
        <p:spPr>
          <a:xfrm>
            <a:off x="6470650" y="1130300"/>
            <a:ext cx="5721350" cy="5727700"/>
          </a:xfrm>
          <a:prstGeom prst="rect">
            <a:avLst/>
          </a:prstGeom>
          <a:noFill/>
        </p:spPr>
        <p:txBody>
          <a:bodyPr wrap="square" rtlCol="0">
            <a:noAutofit/>
          </a:bodyPr>
          <a:p>
            <a:endParaRPr lang="en-US" altLang="en-US" sz="2400">
              <a:solidFill>
                <a:srgbClr val="002060"/>
              </a:solidFill>
              <a:latin typeface="Cambria" panose="02040503050406030204" charset="0"/>
              <a:cs typeface="Cambria" panose="02040503050406030204" charset="0"/>
            </a:endParaRPr>
          </a:p>
        </p:txBody>
      </p:sp>
      <p:sp>
        <p:nvSpPr>
          <p:cNvPr id="2" name="Text Box 1"/>
          <p:cNvSpPr txBox="1"/>
          <p:nvPr/>
        </p:nvSpPr>
        <p:spPr>
          <a:xfrm>
            <a:off x="-635" y="909320"/>
            <a:ext cx="12192000" cy="723900"/>
          </a:xfrm>
          <a:prstGeom prst="rect">
            <a:avLst/>
          </a:prstGeom>
          <a:noFill/>
        </p:spPr>
        <p:txBody>
          <a:bodyPr wrap="square" rtlCol="0">
            <a:noAutofit/>
          </a:bodyPr>
          <a:p>
            <a:r>
              <a:rPr lang="en-US" altLang="en-US" sz="2000">
                <a:solidFill>
                  <a:srgbClr val="002060"/>
                </a:solidFill>
                <a:latin typeface="Cambria" panose="02040503050406030204" charset="0"/>
                <a:cs typeface="Cambria" panose="02040503050406030204" charset="0"/>
              </a:rPr>
              <a:t>QUERY:- Count passengers by gender.</a:t>
            </a:r>
            <a:endParaRPr lang="en-US" altLang="en-US" sz="2000">
              <a:solidFill>
                <a:srgbClr val="002060"/>
              </a:solidFill>
              <a:latin typeface="Cambria" panose="02040503050406030204" charset="0"/>
              <a:cs typeface="Cambria" panose="02040503050406030204" charset="0"/>
            </a:endParaRPr>
          </a:p>
          <a:p>
            <a:r>
              <a:rPr lang="en-US" altLang="en-US" sz="2000">
                <a:solidFill>
                  <a:srgbClr val="002060"/>
                </a:solidFill>
                <a:latin typeface="Cambria" panose="02040503050406030204" charset="0"/>
                <a:cs typeface="Cambria" panose="02040503050406030204" charset="0"/>
              </a:rPr>
              <a:t>SYNTAX:- SELECT gender, COUNT(*) AS total_passengers FROM Passengers GROUP BY gender;</a:t>
            </a:r>
            <a:endParaRPr lang="en-US" altLang="en-US" sz="2000">
              <a:solidFill>
                <a:srgbClr val="002060"/>
              </a:solidFill>
              <a:latin typeface="Cambria" panose="02040503050406030204" charset="0"/>
              <a:cs typeface="Cambria" panose="02040503050406030204" charset="0"/>
            </a:endParaRPr>
          </a:p>
        </p:txBody>
      </p:sp>
      <p:pic>
        <p:nvPicPr>
          <p:cNvPr id="6" name="Picture 5"/>
          <p:cNvPicPr>
            <a:picLocks noChangeAspect="1"/>
          </p:cNvPicPr>
          <p:nvPr/>
        </p:nvPicPr>
        <p:blipFill>
          <a:blip r:embed="rId2"/>
          <a:stretch>
            <a:fillRect/>
          </a:stretch>
        </p:blipFill>
        <p:spPr>
          <a:xfrm>
            <a:off x="-635" y="1645285"/>
            <a:ext cx="12192635" cy="1831975"/>
          </a:xfrm>
          <a:prstGeom prst="rect">
            <a:avLst/>
          </a:prstGeom>
        </p:spPr>
      </p:pic>
      <p:sp>
        <p:nvSpPr>
          <p:cNvPr id="7" name="Text Box 6"/>
          <p:cNvSpPr txBox="1"/>
          <p:nvPr/>
        </p:nvSpPr>
        <p:spPr>
          <a:xfrm>
            <a:off x="-635" y="3576955"/>
            <a:ext cx="12192635" cy="955040"/>
          </a:xfrm>
          <a:prstGeom prst="rect">
            <a:avLst/>
          </a:prstGeom>
          <a:noFill/>
        </p:spPr>
        <p:txBody>
          <a:bodyPr wrap="square" rtlCol="0">
            <a:noAutofit/>
          </a:bodyPr>
          <a:p>
            <a:r>
              <a:rPr lang="en-US" altLang="en-US" sz="2000">
                <a:solidFill>
                  <a:srgbClr val="002060"/>
                </a:solidFill>
                <a:latin typeface="Cambria" panose="02040503050406030204" charset="0"/>
                <a:cs typeface="Cambria" panose="02040503050406030204" charset="0"/>
              </a:rPr>
              <a:t>QUERY:- Find revenue by payment method.</a:t>
            </a:r>
            <a:endParaRPr lang="en-US" altLang="en-US" sz="2000">
              <a:solidFill>
                <a:srgbClr val="002060"/>
              </a:solidFill>
              <a:latin typeface="Cambria" panose="02040503050406030204" charset="0"/>
              <a:cs typeface="Cambria" panose="02040503050406030204" charset="0"/>
            </a:endParaRPr>
          </a:p>
          <a:p>
            <a:r>
              <a:rPr lang="en-US" altLang="en-US" sz="2000">
                <a:solidFill>
                  <a:srgbClr val="002060"/>
                </a:solidFill>
                <a:latin typeface="Cambria" panose="02040503050406030204" charset="0"/>
                <a:cs typeface="Cambria" panose="02040503050406030204" charset="0"/>
              </a:rPr>
              <a:t>SYNTAX:- SELECT payment_method, SUM(amount) AS total_revenue FROM Payments WHERE payment_status = 'Success' GROUP BY payment_method;</a:t>
            </a:r>
            <a:endParaRPr lang="en-US" altLang="en-US" sz="2000">
              <a:solidFill>
                <a:srgbClr val="002060"/>
              </a:solidFill>
              <a:latin typeface="Cambria" panose="02040503050406030204" charset="0"/>
              <a:cs typeface="Cambria" panose="02040503050406030204" charset="0"/>
            </a:endParaRPr>
          </a:p>
        </p:txBody>
      </p:sp>
      <p:pic>
        <p:nvPicPr>
          <p:cNvPr id="8" name="Picture 7"/>
          <p:cNvPicPr>
            <a:picLocks noChangeAspect="1"/>
          </p:cNvPicPr>
          <p:nvPr/>
        </p:nvPicPr>
        <p:blipFill>
          <a:blip r:embed="rId3"/>
          <a:stretch>
            <a:fillRect/>
          </a:stretch>
        </p:blipFill>
        <p:spPr>
          <a:xfrm>
            <a:off x="0" y="4531995"/>
            <a:ext cx="12191365" cy="2332990"/>
          </a:xfrm>
          <a:prstGeom prst="rect">
            <a:avLst/>
          </a:prstGeom>
        </p:spPr>
      </p:pic>
    </p:spTree>
    <p:custDataLst>
      <p:tags r:id="rId4"/>
    </p:custData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Picture 2" descr="ChatGPT Image Aug 4, 2026, 11_03_12 PM"/>
          <p:cNvPicPr>
            <a:picLocks noChangeAspect="1"/>
          </p:cNvPicPr>
          <p:nvPr/>
        </p:nvPicPr>
        <p:blipFill>
          <a:blip r:embed="rId1"/>
          <a:stretch>
            <a:fillRect/>
          </a:stretch>
        </p:blipFill>
        <p:spPr>
          <a:xfrm>
            <a:off x="-635" y="0"/>
            <a:ext cx="12192000" cy="6858000"/>
          </a:xfrm>
          <a:prstGeom prst="rect">
            <a:avLst/>
          </a:prstGeom>
        </p:spPr>
      </p:pic>
      <p:sp>
        <p:nvSpPr>
          <p:cNvPr id="5" name="Text Box 4"/>
          <p:cNvSpPr txBox="1"/>
          <p:nvPr/>
        </p:nvSpPr>
        <p:spPr>
          <a:xfrm>
            <a:off x="-635" y="5095240"/>
            <a:ext cx="12192000" cy="1266825"/>
          </a:xfrm>
          <a:prstGeom prst="rect">
            <a:avLst/>
          </a:prstGeom>
          <a:noFill/>
        </p:spPr>
        <p:txBody>
          <a:bodyPr wrap="square" rtlCol="0">
            <a:noAutofit/>
          </a:bodyPr>
          <a:p>
            <a:pPr algn="ctr"/>
            <a:r>
              <a:rPr lang="en-US" sz="8500" b="1">
                <a:solidFill>
                  <a:srgbClr val="002060"/>
                </a:solidFill>
                <a:latin typeface="Cambria" panose="02040503050406030204" charset="0"/>
                <a:cs typeface="Cambria" panose="02040503050406030204" charset="0"/>
              </a:rPr>
              <a:t>Window Functions</a:t>
            </a:r>
            <a:endParaRPr lang="en-US" sz="8500" b="1">
              <a:solidFill>
                <a:srgbClr val="002060"/>
              </a:solidFill>
              <a:latin typeface="Cambria" panose="02040503050406030204" charset="0"/>
              <a:cs typeface="Cambria" panose="02040503050406030204" charset="0"/>
            </a:endParaRPr>
          </a:p>
        </p:txBody>
      </p:sp>
    </p:spTree>
    <p:custDataLst>
      <p:tags r:id="rId2"/>
    </p:custData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a:xfrm>
            <a:off x="-635" y="-635"/>
            <a:ext cx="12192000" cy="805815"/>
          </a:xfrm>
        </p:spPr>
        <p:style>
          <a:lnRef idx="2">
            <a:schemeClr val="accent1"/>
          </a:lnRef>
          <a:fillRef idx="2">
            <a:schemeClr val="accent1"/>
          </a:fillRef>
          <a:effectRef idx="0">
            <a:srgbClr val="FFFFFF"/>
          </a:effectRef>
          <a:fontRef idx="minor">
            <a:schemeClr val="lt1"/>
          </a:fontRef>
        </p:style>
        <p:txBody>
          <a:bodyPr/>
          <a:p>
            <a:pPr algn="ctr"/>
            <a:r>
              <a:rPr lang="en-US" altLang="en-US" sz="4000" b="1">
                <a:solidFill>
                  <a:srgbClr val="002060"/>
                </a:solidFill>
                <a:latin typeface="Cambria" panose="02040503050406030204" charset="0"/>
                <a:cs typeface="Cambria" panose="02040503050406030204" charset="0"/>
              </a:rPr>
              <a:t>ROW_NUMBER</a:t>
            </a:r>
            <a:endParaRPr lang="en-US" altLang="en-US" sz="4000" b="1">
              <a:solidFill>
                <a:srgbClr val="002060"/>
              </a:solidFill>
              <a:latin typeface="Cambria" panose="02040503050406030204" charset="0"/>
              <a:cs typeface="Cambria" panose="02040503050406030204" charset="0"/>
            </a:endParaRPr>
          </a:p>
        </p:txBody>
      </p:sp>
      <p:sp>
        <p:nvSpPr>
          <p:cNvPr id="3" name="Text Box 2"/>
          <p:cNvSpPr txBox="1"/>
          <p:nvPr/>
        </p:nvSpPr>
        <p:spPr>
          <a:xfrm>
            <a:off x="6470650" y="1130300"/>
            <a:ext cx="5721350" cy="5727700"/>
          </a:xfrm>
          <a:prstGeom prst="rect">
            <a:avLst/>
          </a:prstGeom>
          <a:noFill/>
        </p:spPr>
        <p:txBody>
          <a:bodyPr wrap="square" rtlCol="0">
            <a:noAutofit/>
          </a:bodyPr>
          <a:p>
            <a:endParaRPr lang="en-US" altLang="en-US" sz="2400">
              <a:solidFill>
                <a:srgbClr val="002060"/>
              </a:solidFill>
              <a:latin typeface="Cambria" panose="02040503050406030204" charset="0"/>
              <a:cs typeface="Cambria" panose="02040503050406030204" charset="0"/>
            </a:endParaRPr>
          </a:p>
        </p:txBody>
      </p:sp>
      <p:sp>
        <p:nvSpPr>
          <p:cNvPr id="2" name="Text Box 1"/>
          <p:cNvSpPr txBox="1"/>
          <p:nvPr/>
        </p:nvSpPr>
        <p:spPr>
          <a:xfrm>
            <a:off x="-635" y="805180"/>
            <a:ext cx="12192000" cy="1496060"/>
          </a:xfrm>
          <a:prstGeom prst="rect">
            <a:avLst/>
          </a:prstGeom>
          <a:noFill/>
        </p:spPr>
        <p:txBody>
          <a:bodyPr wrap="square" rtlCol="0">
            <a:noAutofit/>
          </a:bodyPr>
          <a:p>
            <a:r>
              <a:rPr lang="en-US" altLang="en-US" sz="2300">
                <a:solidFill>
                  <a:srgbClr val="002060"/>
                </a:solidFill>
                <a:latin typeface="Cambria" panose="02040503050406030204" charset="0"/>
                <a:cs typeface="Cambria" panose="02040503050406030204" charset="0"/>
              </a:rPr>
              <a:t>QUERY:- Assign a unique rank to passengers based on ticket price.</a:t>
            </a:r>
            <a:endParaRPr lang="en-US" altLang="en-US" sz="2300">
              <a:solidFill>
                <a:srgbClr val="002060"/>
              </a:solidFill>
              <a:latin typeface="Cambria" panose="02040503050406030204" charset="0"/>
              <a:cs typeface="Cambria" panose="02040503050406030204" charset="0"/>
            </a:endParaRPr>
          </a:p>
          <a:p>
            <a:r>
              <a:rPr lang="en-US" altLang="en-US" sz="2300">
                <a:solidFill>
                  <a:srgbClr val="002060"/>
                </a:solidFill>
                <a:latin typeface="Cambria" panose="02040503050406030204" charset="0"/>
                <a:cs typeface="Cambria" panose="02040503050406030204" charset="0"/>
              </a:rPr>
              <a:t>SYNTAX:- SELECT CONCAT(p.first_name,' ',p.last_name) AS passenger_name, t.ticket_price, ROW_NUMBER() OVER(ORDER BY t.ticket_price DESC) AS Row_No </a:t>
            </a:r>
            <a:endParaRPr lang="en-US" altLang="en-US" sz="2300">
              <a:solidFill>
                <a:srgbClr val="002060"/>
              </a:solidFill>
              <a:latin typeface="Cambria" panose="02040503050406030204" charset="0"/>
              <a:cs typeface="Cambria" panose="02040503050406030204" charset="0"/>
            </a:endParaRPr>
          </a:p>
          <a:p>
            <a:r>
              <a:rPr lang="en-US" altLang="en-US" sz="2300">
                <a:solidFill>
                  <a:srgbClr val="002060"/>
                </a:solidFill>
                <a:latin typeface="Cambria" panose="02040503050406030204" charset="0"/>
                <a:cs typeface="Cambria" panose="02040503050406030204" charset="0"/>
              </a:rPr>
              <a:t>FROM Passengers p INNER JOIN Tickets t ON p.passenger_id=t.passenger_id;</a:t>
            </a:r>
            <a:endParaRPr lang="en-US" altLang="en-US" sz="2300">
              <a:solidFill>
                <a:srgbClr val="002060"/>
              </a:solidFill>
              <a:latin typeface="Cambria" panose="02040503050406030204" charset="0"/>
              <a:cs typeface="Cambria" panose="02040503050406030204" charset="0"/>
            </a:endParaRPr>
          </a:p>
        </p:txBody>
      </p:sp>
      <p:pic>
        <p:nvPicPr>
          <p:cNvPr id="8" name="Picture 7"/>
          <p:cNvPicPr>
            <a:picLocks noChangeAspect="1"/>
          </p:cNvPicPr>
          <p:nvPr/>
        </p:nvPicPr>
        <p:blipFill>
          <a:blip r:embed="rId2"/>
          <a:stretch>
            <a:fillRect/>
          </a:stretch>
        </p:blipFill>
        <p:spPr>
          <a:xfrm>
            <a:off x="0" y="2402840"/>
            <a:ext cx="12192000" cy="4454525"/>
          </a:xfrm>
          <a:prstGeom prst="rect">
            <a:avLst/>
          </a:prstGeom>
        </p:spPr>
      </p:pic>
    </p:spTree>
    <p:custDataLst>
      <p:tags r:id="rId3"/>
    </p:custData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a:xfrm>
            <a:off x="-635" y="-635"/>
            <a:ext cx="12192000" cy="805815"/>
          </a:xfrm>
        </p:spPr>
        <p:style>
          <a:lnRef idx="2">
            <a:schemeClr val="accent1"/>
          </a:lnRef>
          <a:fillRef idx="2">
            <a:schemeClr val="accent1"/>
          </a:fillRef>
          <a:effectRef idx="0">
            <a:srgbClr val="FFFFFF"/>
          </a:effectRef>
          <a:fontRef idx="minor">
            <a:schemeClr val="lt1"/>
          </a:fontRef>
        </p:style>
        <p:txBody>
          <a:bodyPr/>
          <a:p>
            <a:pPr algn="ctr"/>
            <a:r>
              <a:rPr lang="en-US" altLang="en-US" sz="4000" b="1">
                <a:solidFill>
                  <a:srgbClr val="002060"/>
                </a:solidFill>
                <a:latin typeface="Cambria" panose="02040503050406030204" charset="0"/>
                <a:cs typeface="Cambria" panose="02040503050406030204" charset="0"/>
              </a:rPr>
              <a:t>RANK</a:t>
            </a:r>
            <a:endParaRPr lang="en-US" altLang="en-US" sz="4000" b="1">
              <a:solidFill>
                <a:srgbClr val="002060"/>
              </a:solidFill>
              <a:latin typeface="Cambria" panose="02040503050406030204" charset="0"/>
              <a:cs typeface="Cambria" panose="02040503050406030204" charset="0"/>
            </a:endParaRPr>
          </a:p>
        </p:txBody>
      </p:sp>
      <p:sp>
        <p:nvSpPr>
          <p:cNvPr id="3" name="Text Box 2"/>
          <p:cNvSpPr txBox="1"/>
          <p:nvPr/>
        </p:nvSpPr>
        <p:spPr>
          <a:xfrm>
            <a:off x="6470650" y="1130300"/>
            <a:ext cx="5721350" cy="5727700"/>
          </a:xfrm>
          <a:prstGeom prst="rect">
            <a:avLst/>
          </a:prstGeom>
          <a:noFill/>
        </p:spPr>
        <p:txBody>
          <a:bodyPr wrap="square" rtlCol="0">
            <a:noAutofit/>
          </a:bodyPr>
          <a:p>
            <a:endParaRPr lang="en-US" altLang="en-US" sz="2400">
              <a:solidFill>
                <a:srgbClr val="002060"/>
              </a:solidFill>
              <a:latin typeface="Cambria" panose="02040503050406030204" charset="0"/>
              <a:cs typeface="Cambria" panose="02040503050406030204" charset="0"/>
            </a:endParaRPr>
          </a:p>
        </p:txBody>
      </p:sp>
      <p:sp>
        <p:nvSpPr>
          <p:cNvPr id="2" name="Text Box 1"/>
          <p:cNvSpPr txBox="1"/>
          <p:nvPr/>
        </p:nvSpPr>
        <p:spPr>
          <a:xfrm>
            <a:off x="-635" y="935990"/>
            <a:ext cx="12192000" cy="1234440"/>
          </a:xfrm>
          <a:prstGeom prst="rect">
            <a:avLst/>
          </a:prstGeom>
          <a:noFill/>
        </p:spPr>
        <p:txBody>
          <a:bodyPr wrap="square" rtlCol="0">
            <a:noAutofit/>
          </a:bodyPr>
          <a:p>
            <a:r>
              <a:rPr lang="en-US" altLang="en-US" sz="2400">
                <a:solidFill>
                  <a:srgbClr val="002060"/>
                </a:solidFill>
                <a:latin typeface="Cambria" panose="02040503050406030204" charset="0"/>
                <a:cs typeface="Cambria" panose="02040503050406030204" charset="0"/>
              </a:rPr>
              <a:t>QUERY:- Rank flights according to fare.</a:t>
            </a:r>
            <a:endParaRPr lang="en-US" altLang="en-US" sz="2400">
              <a:solidFill>
                <a:srgbClr val="002060"/>
              </a:solidFill>
              <a:latin typeface="Cambria" panose="02040503050406030204" charset="0"/>
              <a:cs typeface="Cambria" panose="02040503050406030204" charset="0"/>
            </a:endParaRPr>
          </a:p>
          <a:p>
            <a:r>
              <a:rPr lang="en-US" altLang="en-US" sz="2400">
                <a:solidFill>
                  <a:srgbClr val="002060"/>
                </a:solidFill>
                <a:latin typeface="Cambria" panose="02040503050406030204" charset="0"/>
                <a:cs typeface="Cambria" panose="02040503050406030204" charset="0"/>
              </a:rPr>
              <a:t>SNTAX:- SELECT flight_number, fare, RANK() OVER(ORDER BY fare DESC) AS Flight_Rank FROM Flights;</a:t>
            </a:r>
            <a:endParaRPr lang="en-US" altLang="en-US" sz="2400">
              <a:solidFill>
                <a:srgbClr val="002060"/>
              </a:solidFill>
              <a:latin typeface="Cambria" panose="02040503050406030204" charset="0"/>
              <a:cs typeface="Cambria" panose="02040503050406030204" charset="0"/>
            </a:endParaRPr>
          </a:p>
        </p:txBody>
      </p:sp>
      <p:pic>
        <p:nvPicPr>
          <p:cNvPr id="5" name="Picture 4"/>
          <p:cNvPicPr>
            <a:picLocks noChangeAspect="1"/>
          </p:cNvPicPr>
          <p:nvPr/>
        </p:nvPicPr>
        <p:blipFill>
          <a:blip r:embed="rId2"/>
          <a:stretch>
            <a:fillRect/>
          </a:stretch>
        </p:blipFill>
        <p:spPr>
          <a:xfrm>
            <a:off x="635" y="2169795"/>
            <a:ext cx="12190730" cy="4688205"/>
          </a:xfrm>
          <a:prstGeom prst="rect">
            <a:avLst/>
          </a:prstGeom>
        </p:spPr>
      </p:pic>
    </p:spTree>
    <p:custDataLst>
      <p:tags r:id="rId3"/>
    </p:custData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a:xfrm>
            <a:off x="-635" y="-635"/>
            <a:ext cx="12192000" cy="805815"/>
          </a:xfrm>
        </p:spPr>
        <p:style>
          <a:lnRef idx="2">
            <a:schemeClr val="accent1"/>
          </a:lnRef>
          <a:fillRef idx="2">
            <a:schemeClr val="accent1"/>
          </a:fillRef>
          <a:effectRef idx="0">
            <a:srgbClr val="FFFFFF"/>
          </a:effectRef>
          <a:fontRef idx="minor">
            <a:schemeClr val="lt1"/>
          </a:fontRef>
        </p:style>
        <p:txBody>
          <a:bodyPr/>
          <a:p>
            <a:pPr algn="ctr"/>
            <a:r>
              <a:rPr lang="en-US" altLang="en-US" sz="4000" b="1">
                <a:solidFill>
                  <a:srgbClr val="002060"/>
                </a:solidFill>
                <a:latin typeface="Cambria" panose="02040503050406030204" charset="0"/>
                <a:cs typeface="Cambria" panose="02040503050406030204" charset="0"/>
              </a:rPr>
              <a:t>DENSE_RANK</a:t>
            </a:r>
            <a:endParaRPr lang="en-US" altLang="en-US" sz="4000" b="1">
              <a:solidFill>
                <a:srgbClr val="002060"/>
              </a:solidFill>
              <a:latin typeface="Cambria" panose="02040503050406030204" charset="0"/>
              <a:cs typeface="Cambria" panose="02040503050406030204" charset="0"/>
            </a:endParaRPr>
          </a:p>
        </p:txBody>
      </p:sp>
      <p:sp>
        <p:nvSpPr>
          <p:cNvPr id="3" name="Text Box 2"/>
          <p:cNvSpPr txBox="1"/>
          <p:nvPr/>
        </p:nvSpPr>
        <p:spPr>
          <a:xfrm>
            <a:off x="6470650" y="1130300"/>
            <a:ext cx="5721350" cy="5727700"/>
          </a:xfrm>
          <a:prstGeom prst="rect">
            <a:avLst/>
          </a:prstGeom>
          <a:noFill/>
        </p:spPr>
        <p:txBody>
          <a:bodyPr wrap="square" rtlCol="0">
            <a:noAutofit/>
          </a:bodyPr>
          <a:p>
            <a:endParaRPr lang="en-US" altLang="en-US" sz="2400">
              <a:solidFill>
                <a:srgbClr val="002060"/>
              </a:solidFill>
              <a:latin typeface="Cambria" panose="02040503050406030204" charset="0"/>
              <a:cs typeface="Cambria" panose="02040503050406030204" charset="0"/>
            </a:endParaRPr>
          </a:p>
        </p:txBody>
      </p:sp>
      <p:sp>
        <p:nvSpPr>
          <p:cNvPr id="2" name="Text Box 1"/>
          <p:cNvSpPr txBox="1"/>
          <p:nvPr/>
        </p:nvSpPr>
        <p:spPr>
          <a:xfrm>
            <a:off x="-635" y="805180"/>
            <a:ext cx="12192000" cy="1496060"/>
          </a:xfrm>
          <a:prstGeom prst="rect">
            <a:avLst/>
          </a:prstGeom>
          <a:noFill/>
        </p:spPr>
        <p:txBody>
          <a:bodyPr wrap="square" rtlCol="0">
            <a:noAutofit/>
          </a:bodyPr>
          <a:p>
            <a:r>
              <a:rPr lang="en-US" altLang="en-US" sz="2300">
                <a:solidFill>
                  <a:srgbClr val="002060"/>
                </a:solidFill>
                <a:latin typeface="Cambria" panose="02040503050406030204" charset="0"/>
                <a:cs typeface="Cambria" panose="02040503050406030204" charset="0"/>
              </a:rPr>
              <a:t>QUERY:- Rank passengers according to ticket price.</a:t>
            </a:r>
            <a:endParaRPr lang="en-US" altLang="en-US" sz="2300">
              <a:solidFill>
                <a:srgbClr val="002060"/>
              </a:solidFill>
              <a:latin typeface="Cambria" panose="02040503050406030204" charset="0"/>
              <a:cs typeface="Cambria" panose="02040503050406030204" charset="0"/>
            </a:endParaRPr>
          </a:p>
          <a:p>
            <a:r>
              <a:rPr lang="en-US" altLang="en-US" sz="2300">
                <a:solidFill>
                  <a:srgbClr val="002060"/>
                </a:solidFill>
                <a:latin typeface="Cambria" panose="02040503050406030204" charset="0"/>
                <a:cs typeface="Cambria" panose="02040503050406030204" charset="0"/>
              </a:rPr>
              <a:t>SYNTAX:- SELECT CONCAT(p.first_name,' ',p.last_name) AS passenger_name, t.ticket_price, </a:t>
            </a:r>
            <a:endParaRPr lang="en-US" altLang="en-US" sz="2300">
              <a:solidFill>
                <a:srgbClr val="002060"/>
              </a:solidFill>
              <a:latin typeface="Cambria" panose="02040503050406030204" charset="0"/>
              <a:cs typeface="Cambria" panose="02040503050406030204" charset="0"/>
            </a:endParaRPr>
          </a:p>
          <a:p>
            <a:r>
              <a:rPr lang="en-US" altLang="en-US" sz="2300">
                <a:solidFill>
                  <a:srgbClr val="002060"/>
                </a:solidFill>
                <a:latin typeface="Cambria" panose="02040503050406030204" charset="0"/>
                <a:cs typeface="Cambria" panose="02040503050406030204" charset="0"/>
              </a:rPr>
              <a:t>DENSE_RANK() OVER(ORDER BY t.ticket_price DESC) AS Passenger_Dense_Rank</a:t>
            </a:r>
            <a:endParaRPr lang="en-US" altLang="en-US" sz="2300">
              <a:solidFill>
                <a:srgbClr val="002060"/>
              </a:solidFill>
              <a:latin typeface="Cambria" panose="02040503050406030204" charset="0"/>
              <a:cs typeface="Cambria" panose="02040503050406030204" charset="0"/>
            </a:endParaRPr>
          </a:p>
          <a:p>
            <a:r>
              <a:rPr lang="en-US" altLang="en-US" sz="2300">
                <a:solidFill>
                  <a:srgbClr val="002060"/>
                </a:solidFill>
                <a:latin typeface="Cambria" panose="02040503050406030204" charset="0"/>
                <a:cs typeface="Cambria" panose="02040503050406030204" charset="0"/>
              </a:rPr>
              <a:t>FROM Passengers p INNER JOIN Tickets t ON p.passenger_id=t.passenger_id;</a:t>
            </a:r>
            <a:endParaRPr lang="en-US" altLang="en-US" sz="2300">
              <a:solidFill>
                <a:srgbClr val="002060"/>
              </a:solidFill>
              <a:latin typeface="Cambria" panose="02040503050406030204" charset="0"/>
              <a:cs typeface="Cambria" panose="02040503050406030204" charset="0"/>
            </a:endParaRPr>
          </a:p>
        </p:txBody>
      </p:sp>
      <p:pic>
        <p:nvPicPr>
          <p:cNvPr id="5" name="Picture 4"/>
          <p:cNvPicPr>
            <a:picLocks noChangeAspect="1"/>
          </p:cNvPicPr>
          <p:nvPr/>
        </p:nvPicPr>
        <p:blipFill>
          <a:blip r:embed="rId2"/>
          <a:stretch>
            <a:fillRect/>
          </a:stretch>
        </p:blipFill>
        <p:spPr>
          <a:xfrm>
            <a:off x="635" y="2448560"/>
            <a:ext cx="12191365" cy="4408805"/>
          </a:xfrm>
          <a:prstGeom prst="rect">
            <a:avLst/>
          </a:prstGeom>
        </p:spPr>
      </p:pic>
    </p:spTree>
    <p:custDataLst>
      <p:tags r:id="rId3"/>
    </p:custData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Picture 2" descr="ChatGPT Image Aug 4, 2026, 11_03_12 PM"/>
          <p:cNvPicPr>
            <a:picLocks noChangeAspect="1"/>
          </p:cNvPicPr>
          <p:nvPr/>
        </p:nvPicPr>
        <p:blipFill>
          <a:blip r:embed="rId1"/>
          <a:stretch>
            <a:fillRect/>
          </a:stretch>
        </p:blipFill>
        <p:spPr>
          <a:xfrm>
            <a:off x="0" y="0"/>
            <a:ext cx="12192000" cy="6858000"/>
          </a:xfrm>
          <a:prstGeom prst="rect">
            <a:avLst/>
          </a:prstGeom>
        </p:spPr>
      </p:pic>
      <p:sp>
        <p:nvSpPr>
          <p:cNvPr id="5" name="Text Box 4"/>
          <p:cNvSpPr txBox="1"/>
          <p:nvPr/>
        </p:nvSpPr>
        <p:spPr>
          <a:xfrm>
            <a:off x="-635" y="4914900"/>
            <a:ext cx="12192635" cy="1562735"/>
          </a:xfrm>
          <a:prstGeom prst="rect">
            <a:avLst/>
          </a:prstGeom>
          <a:noFill/>
        </p:spPr>
        <p:txBody>
          <a:bodyPr wrap="square" rtlCol="0">
            <a:noAutofit/>
          </a:bodyPr>
          <a:p>
            <a:pPr algn="ctr"/>
            <a:r>
              <a:rPr lang="en-US" sz="8500" b="1">
                <a:solidFill>
                  <a:srgbClr val="002060"/>
                </a:solidFill>
                <a:latin typeface="Cambria" panose="02040503050406030204" charset="0"/>
                <a:cs typeface="Cambria" panose="02040503050406030204" charset="0"/>
              </a:rPr>
              <a:t>Joins</a:t>
            </a:r>
            <a:endParaRPr lang="en-US" sz="8500" b="1">
              <a:solidFill>
                <a:srgbClr val="002060"/>
              </a:solidFill>
              <a:latin typeface="Cambria" panose="02040503050406030204" charset="0"/>
              <a:cs typeface="Cambria" panose="02040503050406030204" charset="0"/>
            </a:endParaRPr>
          </a:p>
        </p:txBody>
      </p:sp>
    </p:spTree>
    <p:custDataLst>
      <p:tags r:id="rId2"/>
    </p:custData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a:xfrm>
            <a:off x="-635" y="-635"/>
            <a:ext cx="12192000" cy="805815"/>
          </a:xfrm>
        </p:spPr>
        <p:style>
          <a:lnRef idx="2">
            <a:schemeClr val="accent1"/>
          </a:lnRef>
          <a:fillRef idx="2">
            <a:schemeClr val="accent1"/>
          </a:fillRef>
          <a:effectRef idx="0">
            <a:srgbClr val="FFFFFF"/>
          </a:effectRef>
          <a:fontRef idx="minor">
            <a:schemeClr val="lt1"/>
          </a:fontRef>
        </p:style>
        <p:txBody>
          <a:bodyPr/>
          <a:p>
            <a:pPr algn="ctr"/>
            <a:r>
              <a:rPr lang="en-US" altLang="en-US" sz="4000" b="1">
                <a:solidFill>
                  <a:srgbClr val="002060"/>
                </a:solidFill>
                <a:latin typeface="Cambria" panose="02040503050406030204" charset="0"/>
                <a:cs typeface="Cambria" panose="02040503050406030204" charset="0"/>
              </a:rPr>
              <a:t>INNER JOIN</a:t>
            </a:r>
            <a:endParaRPr lang="en-US" altLang="en-US" sz="4000" b="1">
              <a:solidFill>
                <a:srgbClr val="002060"/>
              </a:solidFill>
              <a:latin typeface="Cambria" panose="02040503050406030204" charset="0"/>
              <a:cs typeface="Cambria" panose="02040503050406030204" charset="0"/>
            </a:endParaRPr>
          </a:p>
        </p:txBody>
      </p:sp>
      <p:sp>
        <p:nvSpPr>
          <p:cNvPr id="3" name="Text Box 2"/>
          <p:cNvSpPr txBox="1"/>
          <p:nvPr/>
        </p:nvSpPr>
        <p:spPr>
          <a:xfrm>
            <a:off x="6470650" y="1130300"/>
            <a:ext cx="5721350" cy="5727700"/>
          </a:xfrm>
          <a:prstGeom prst="rect">
            <a:avLst/>
          </a:prstGeom>
          <a:noFill/>
        </p:spPr>
        <p:txBody>
          <a:bodyPr wrap="square" rtlCol="0">
            <a:noAutofit/>
          </a:bodyPr>
          <a:p>
            <a:endParaRPr lang="en-US" altLang="en-US" sz="2400">
              <a:solidFill>
                <a:srgbClr val="002060"/>
              </a:solidFill>
              <a:latin typeface="Cambria" panose="02040503050406030204" charset="0"/>
              <a:cs typeface="Cambria" panose="02040503050406030204" charset="0"/>
            </a:endParaRPr>
          </a:p>
        </p:txBody>
      </p:sp>
      <p:sp>
        <p:nvSpPr>
          <p:cNvPr id="2" name="Text Box 1"/>
          <p:cNvSpPr txBox="1"/>
          <p:nvPr/>
        </p:nvSpPr>
        <p:spPr>
          <a:xfrm>
            <a:off x="-635" y="805180"/>
            <a:ext cx="12192000" cy="1840230"/>
          </a:xfrm>
          <a:prstGeom prst="rect">
            <a:avLst/>
          </a:prstGeom>
          <a:noFill/>
        </p:spPr>
        <p:txBody>
          <a:bodyPr wrap="square" rtlCol="0">
            <a:noAutofit/>
          </a:bodyPr>
          <a:p>
            <a:r>
              <a:rPr lang="en-US" altLang="en-US" sz="2300">
                <a:solidFill>
                  <a:srgbClr val="002060"/>
                </a:solidFill>
                <a:latin typeface="Cambria" panose="02040503050406030204" charset="0"/>
                <a:cs typeface="Cambria" panose="02040503050406030204" charset="0"/>
              </a:rPr>
              <a:t>QUERY:- Display passenger booking details with airline and flight information.</a:t>
            </a:r>
            <a:endParaRPr lang="en-US" altLang="en-US" sz="2300">
              <a:solidFill>
                <a:srgbClr val="002060"/>
              </a:solidFill>
              <a:latin typeface="Cambria" panose="02040503050406030204" charset="0"/>
              <a:cs typeface="Cambria" panose="02040503050406030204" charset="0"/>
            </a:endParaRPr>
          </a:p>
          <a:p>
            <a:r>
              <a:rPr lang="en-US" altLang="en-US" sz="2300">
                <a:solidFill>
                  <a:srgbClr val="002060"/>
                </a:solidFill>
                <a:latin typeface="Cambria" panose="02040503050406030204" charset="0"/>
                <a:cs typeface="Cambria" panose="02040503050406030204" charset="0"/>
              </a:rPr>
              <a:t>SYNTAX:- SELECT p.passenger_id, CONCAT(p.first_name, ' ', p.last_name) AS passenger_name, a.airline_name, f.flight_number, t.seat_number, t.travel_class FROM Passengers p INNER JOIN Tickets t ON p.passenger_id = t.passenger_id INNER JOIN Flights f ON t.flight_id = f.flight_id  INNER JOIN Airlines a ON f.airline_id = a.airline_id;</a:t>
            </a:r>
            <a:endParaRPr lang="en-US" altLang="en-US" sz="2300">
              <a:solidFill>
                <a:srgbClr val="002060"/>
              </a:solidFill>
              <a:latin typeface="Cambria" panose="02040503050406030204" charset="0"/>
              <a:cs typeface="Cambria" panose="02040503050406030204" charset="0"/>
            </a:endParaRPr>
          </a:p>
        </p:txBody>
      </p:sp>
      <p:pic>
        <p:nvPicPr>
          <p:cNvPr id="5" name="Picture 4"/>
          <p:cNvPicPr>
            <a:picLocks noChangeAspect="1"/>
          </p:cNvPicPr>
          <p:nvPr/>
        </p:nvPicPr>
        <p:blipFill>
          <a:blip r:embed="rId2"/>
          <a:stretch>
            <a:fillRect/>
          </a:stretch>
        </p:blipFill>
        <p:spPr>
          <a:xfrm>
            <a:off x="0" y="2761615"/>
            <a:ext cx="12191365" cy="4097020"/>
          </a:xfrm>
          <a:prstGeom prst="rect">
            <a:avLst/>
          </a:prstGeom>
        </p:spPr>
      </p:pic>
    </p:spTree>
    <p:custDataLst>
      <p:tags r:id="rId3"/>
    </p:custData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a:xfrm>
            <a:off x="-635" y="-635"/>
            <a:ext cx="12192000" cy="805815"/>
          </a:xfrm>
        </p:spPr>
        <p:style>
          <a:lnRef idx="2">
            <a:schemeClr val="accent1"/>
          </a:lnRef>
          <a:fillRef idx="2">
            <a:schemeClr val="accent1"/>
          </a:fillRef>
          <a:effectRef idx="0">
            <a:srgbClr val="FFFFFF"/>
          </a:effectRef>
          <a:fontRef idx="minor">
            <a:schemeClr val="lt1"/>
          </a:fontRef>
        </p:style>
        <p:txBody>
          <a:bodyPr/>
          <a:p>
            <a:pPr algn="ctr"/>
            <a:r>
              <a:rPr lang="en-US" altLang="en-US" sz="4000" b="1">
                <a:solidFill>
                  <a:srgbClr val="002060"/>
                </a:solidFill>
                <a:latin typeface="Cambria" panose="02040503050406030204" charset="0"/>
                <a:cs typeface="Cambria" panose="02040503050406030204" charset="0"/>
              </a:rPr>
              <a:t>JOIN</a:t>
            </a:r>
            <a:endParaRPr lang="en-US" altLang="en-US" sz="4000" b="1">
              <a:solidFill>
                <a:srgbClr val="002060"/>
              </a:solidFill>
              <a:latin typeface="Cambria" panose="02040503050406030204" charset="0"/>
              <a:cs typeface="Cambria" panose="02040503050406030204" charset="0"/>
            </a:endParaRPr>
          </a:p>
        </p:txBody>
      </p:sp>
      <p:sp>
        <p:nvSpPr>
          <p:cNvPr id="3" name="Text Box 2"/>
          <p:cNvSpPr txBox="1"/>
          <p:nvPr/>
        </p:nvSpPr>
        <p:spPr>
          <a:xfrm>
            <a:off x="6470650" y="1130300"/>
            <a:ext cx="5721350" cy="5727700"/>
          </a:xfrm>
          <a:prstGeom prst="rect">
            <a:avLst/>
          </a:prstGeom>
          <a:noFill/>
        </p:spPr>
        <p:txBody>
          <a:bodyPr wrap="square" rtlCol="0">
            <a:noAutofit/>
          </a:bodyPr>
          <a:p>
            <a:endParaRPr lang="en-US" altLang="en-US" sz="2400">
              <a:solidFill>
                <a:srgbClr val="002060"/>
              </a:solidFill>
              <a:latin typeface="Cambria" panose="02040503050406030204" charset="0"/>
              <a:cs typeface="Cambria" panose="02040503050406030204" charset="0"/>
            </a:endParaRPr>
          </a:p>
        </p:txBody>
      </p:sp>
      <p:sp>
        <p:nvSpPr>
          <p:cNvPr id="2" name="Text Box 1"/>
          <p:cNvSpPr txBox="1"/>
          <p:nvPr/>
        </p:nvSpPr>
        <p:spPr>
          <a:xfrm>
            <a:off x="-635" y="805180"/>
            <a:ext cx="12192000" cy="1528445"/>
          </a:xfrm>
          <a:prstGeom prst="rect">
            <a:avLst/>
          </a:prstGeom>
          <a:noFill/>
        </p:spPr>
        <p:txBody>
          <a:bodyPr wrap="square" rtlCol="0">
            <a:noAutofit/>
          </a:bodyPr>
          <a:p>
            <a:r>
              <a:rPr lang="en-US" altLang="en-US" sz="2300">
                <a:solidFill>
                  <a:srgbClr val="002060"/>
                </a:solidFill>
                <a:latin typeface="Cambria" panose="02040503050406030204" charset="0"/>
                <a:cs typeface="Cambria" panose="02040503050406030204" charset="0"/>
              </a:rPr>
              <a:t>QUERY:- Show departure and arrival airports for every flight.</a:t>
            </a:r>
            <a:endParaRPr lang="en-US" altLang="en-US" sz="2300">
              <a:solidFill>
                <a:srgbClr val="002060"/>
              </a:solidFill>
              <a:latin typeface="Cambria" panose="02040503050406030204" charset="0"/>
              <a:cs typeface="Cambria" panose="02040503050406030204" charset="0"/>
            </a:endParaRPr>
          </a:p>
          <a:p>
            <a:r>
              <a:rPr lang="en-US" altLang="en-US" sz="2300">
                <a:solidFill>
                  <a:srgbClr val="002060"/>
                </a:solidFill>
                <a:latin typeface="Cambria" panose="02040503050406030204" charset="0"/>
                <a:cs typeface="Cambria" panose="02040503050406030204" charset="0"/>
              </a:rPr>
              <a:t>SYNTAX:- SELECT f.flight_number, dep.airport_name AS departure_airport, arr.airport_name AS arrival_airport FROM Flights f JOIN Airports dep ON f.departure_airport = dep.airport_id JOIN Airports arr ON f.arrival_airport = arr.airport_id;</a:t>
            </a:r>
            <a:endParaRPr lang="en-US" altLang="en-US" sz="2300">
              <a:solidFill>
                <a:srgbClr val="002060"/>
              </a:solidFill>
              <a:latin typeface="Cambria" panose="02040503050406030204" charset="0"/>
              <a:cs typeface="Cambria" panose="02040503050406030204" charset="0"/>
            </a:endParaRPr>
          </a:p>
        </p:txBody>
      </p:sp>
      <p:pic>
        <p:nvPicPr>
          <p:cNvPr id="6" name="Picture 5"/>
          <p:cNvPicPr>
            <a:picLocks noChangeAspect="1"/>
          </p:cNvPicPr>
          <p:nvPr/>
        </p:nvPicPr>
        <p:blipFill>
          <a:blip r:embed="rId2"/>
          <a:stretch>
            <a:fillRect/>
          </a:stretch>
        </p:blipFill>
        <p:spPr>
          <a:xfrm>
            <a:off x="-635" y="2498725"/>
            <a:ext cx="12192635" cy="4359275"/>
          </a:xfrm>
          <a:prstGeom prst="rect">
            <a:avLst/>
          </a:prstGeom>
        </p:spPr>
      </p:pic>
    </p:spTree>
    <p:custDataLst>
      <p:tags r:id="rId3"/>
    </p:custData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a:xfrm>
            <a:off x="-635" y="-635"/>
            <a:ext cx="12192000" cy="805815"/>
          </a:xfrm>
        </p:spPr>
        <p:style>
          <a:lnRef idx="2">
            <a:schemeClr val="accent1"/>
          </a:lnRef>
          <a:fillRef idx="2">
            <a:schemeClr val="accent1"/>
          </a:fillRef>
          <a:effectRef idx="0">
            <a:srgbClr val="FFFFFF"/>
          </a:effectRef>
          <a:fontRef idx="minor">
            <a:schemeClr val="lt1"/>
          </a:fontRef>
        </p:style>
        <p:txBody>
          <a:bodyPr/>
          <a:p>
            <a:pPr algn="ctr"/>
            <a:r>
              <a:rPr lang="en-US" altLang="en-US" sz="4000" b="1">
                <a:solidFill>
                  <a:srgbClr val="002060"/>
                </a:solidFill>
                <a:latin typeface="Cambria" panose="02040503050406030204" charset="0"/>
                <a:cs typeface="Cambria" panose="02040503050406030204" charset="0"/>
              </a:rPr>
              <a:t>LEFT JOIN</a:t>
            </a:r>
            <a:endParaRPr lang="en-US" altLang="en-US" sz="4000" b="1">
              <a:solidFill>
                <a:srgbClr val="002060"/>
              </a:solidFill>
              <a:latin typeface="Cambria" panose="02040503050406030204" charset="0"/>
              <a:cs typeface="Cambria" panose="02040503050406030204" charset="0"/>
            </a:endParaRPr>
          </a:p>
        </p:txBody>
      </p:sp>
      <p:sp>
        <p:nvSpPr>
          <p:cNvPr id="3" name="Text Box 2"/>
          <p:cNvSpPr txBox="1"/>
          <p:nvPr/>
        </p:nvSpPr>
        <p:spPr>
          <a:xfrm>
            <a:off x="6470650" y="1130300"/>
            <a:ext cx="5721350" cy="5727700"/>
          </a:xfrm>
          <a:prstGeom prst="rect">
            <a:avLst/>
          </a:prstGeom>
          <a:noFill/>
        </p:spPr>
        <p:txBody>
          <a:bodyPr wrap="square" rtlCol="0">
            <a:noAutofit/>
          </a:bodyPr>
          <a:p>
            <a:endParaRPr lang="en-US" altLang="en-US" sz="2400">
              <a:solidFill>
                <a:srgbClr val="002060"/>
              </a:solidFill>
              <a:latin typeface="Cambria" panose="02040503050406030204" charset="0"/>
              <a:cs typeface="Cambria" panose="02040503050406030204" charset="0"/>
            </a:endParaRPr>
          </a:p>
        </p:txBody>
      </p:sp>
      <p:sp>
        <p:nvSpPr>
          <p:cNvPr id="2" name="Text Box 1"/>
          <p:cNvSpPr txBox="1"/>
          <p:nvPr/>
        </p:nvSpPr>
        <p:spPr>
          <a:xfrm>
            <a:off x="-635" y="805180"/>
            <a:ext cx="12192000" cy="1594485"/>
          </a:xfrm>
          <a:prstGeom prst="rect">
            <a:avLst/>
          </a:prstGeom>
          <a:noFill/>
        </p:spPr>
        <p:txBody>
          <a:bodyPr wrap="square" rtlCol="0">
            <a:noAutofit/>
          </a:bodyPr>
          <a:p>
            <a:r>
              <a:rPr lang="en-US" altLang="en-US" sz="2300">
                <a:solidFill>
                  <a:srgbClr val="002060"/>
                </a:solidFill>
                <a:latin typeface="Cambria" panose="02040503050406030204" charset="0"/>
                <a:cs typeface="Cambria" panose="02040503050406030204" charset="0"/>
              </a:rPr>
              <a:t>QUERY:- Display payment details of each passenger.</a:t>
            </a:r>
            <a:endParaRPr lang="en-US" altLang="en-US" sz="2300">
              <a:solidFill>
                <a:srgbClr val="002060"/>
              </a:solidFill>
              <a:latin typeface="Cambria" panose="02040503050406030204" charset="0"/>
              <a:cs typeface="Cambria" panose="02040503050406030204" charset="0"/>
            </a:endParaRPr>
          </a:p>
          <a:p>
            <a:r>
              <a:rPr lang="en-US" altLang="en-US" sz="2300">
                <a:solidFill>
                  <a:srgbClr val="002060"/>
                </a:solidFill>
                <a:latin typeface="Cambria" panose="02040503050406030204" charset="0"/>
                <a:cs typeface="Cambria" panose="02040503050406030204" charset="0"/>
              </a:rPr>
              <a:t>SYNTAX:- SELECT CONCAT(p.first_name, ' ', p.last_name) AS passenger_name, pay.payment_method, pay.amount, pay.payment_status FROM Passengers p  INNER JOIN Tickets t ON p.passenger_id = t.passenger_id LEFT JOIN Payments pay ON t.ticket_id = pay.ticket_id;</a:t>
            </a:r>
            <a:endParaRPr lang="en-US" altLang="en-US" sz="2300">
              <a:solidFill>
                <a:srgbClr val="002060"/>
              </a:solidFill>
              <a:latin typeface="Cambria" panose="02040503050406030204" charset="0"/>
              <a:cs typeface="Cambria" panose="02040503050406030204" charset="0"/>
            </a:endParaRPr>
          </a:p>
        </p:txBody>
      </p:sp>
      <p:pic>
        <p:nvPicPr>
          <p:cNvPr id="6" name="Picture 5"/>
          <p:cNvPicPr>
            <a:picLocks noChangeAspect="1"/>
          </p:cNvPicPr>
          <p:nvPr/>
        </p:nvPicPr>
        <p:blipFill>
          <a:blip r:embed="rId2"/>
          <a:stretch>
            <a:fillRect/>
          </a:stretch>
        </p:blipFill>
        <p:spPr>
          <a:xfrm>
            <a:off x="0" y="2399665"/>
            <a:ext cx="12190730" cy="4458335"/>
          </a:xfrm>
          <a:prstGeom prst="rect">
            <a:avLst/>
          </a:prstGeom>
        </p:spPr>
      </p:pic>
    </p:spTree>
    <p:custDataLst>
      <p:tags r:id="rId3"/>
    </p:custData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a:xfrm>
            <a:off x="-635" y="-635"/>
            <a:ext cx="12192000" cy="805815"/>
          </a:xfrm>
        </p:spPr>
        <p:style>
          <a:lnRef idx="2">
            <a:schemeClr val="accent1"/>
          </a:lnRef>
          <a:fillRef idx="2">
            <a:schemeClr val="accent1"/>
          </a:fillRef>
          <a:effectRef idx="0">
            <a:srgbClr val="FFFFFF"/>
          </a:effectRef>
          <a:fontRef idx="minor">
            <a:schemeClr val="lt1"/>
          </a:fontRef>
        </p:style>
        <p:txBody>
          <a:bodyPr/>
          <a:p>
            <a:pPr algn="ctr"/>
            <a:r>
              <a:rPr lang="en-US" altLang="en-US" sz="4000" b="1">
                <a:solidFill>
                  <a:srgbClr val="002060"/>
                </a:solidFill>
                <a:latin typeface="Cambria" panose="02040503050406030204" charset="0"/>
                <a:cs typeface="Cambria" panose="02040503050406030204" charset="0"/>
              </a:rPr>
              <a:t> JOIN</a:t>
            </a:r>
            <a:endParaRPr lang="en-US" altLang="en-US" sz="4000" b="1">
              <a:solidFill>
                <a:srgbClr val="002060"/>
              </a:solidFill>
              <a:latin typeface="Cambria" panose="02040503050406030204" charset="0"/>
              <a:cs typeface="Cambria" panose="02040503050406030204" charset="0"/>
            </a:endParaRPr>
          </a:p>
        </p:txBody>
      </p:sp>
      <p:sp>
        <p:nvSpPr>
          <p:cNvPr id="3" name="Text Box 2"/>
          <p:cNvSpPr txBox="1"/>
          <p:nvPr/>
        </p:nvSpPr>
        <p:spPr>
          <a:xfrm>
            <a:off x="6470650" y="1130300"/>
            <a:ext cx="5721350" cy="5727700"/>
          </a:xfrm>
          <a:prstGeom prst="rect">
            <a:avLst/>
          </a:prstGeom>
          <a:noFill/>
        </p:spPr>
        <p:txBody>
          <a:bodyPr wrap="square" rtlCol="0">
            <a:noAutofit/>
          </a:bodyPr>
          <a:p>
            <a:endParaRPr lang="en-US" altLang="en-US" sz="2400">
              <a:solidFill>
                <a:srgbClr val="002060"/>
              </a:solidFill>
              <a:latin typeface="Cambria" panose="02040503050406030204" charset="0"/>
              <a:cs typeface="Cambria" panose="02040503050406030204" charset="0"/>
            </a:endParaRPr>
          </a:p>
        </p:txBody>
      </p:sp>
      <p:sp>
        <p:nvSpPr>
          <p:cNvPr id="2" name="Text Box 1"/>
          <p:cNvSpPr txBox="1"/>
          <p:nvPr/>
        </p:nvSpPr>
        <p:spPr>
          <a:xfrm>
            <a:off x="0" y="1026160"/>
            <a:ext cx="12192000" cy="1544955"/>
          </a:xfrm>
          <a:prstGeom prst="rect">
            <a:avLst/>
          </a:prstGeom>
          <a:noFill/>
        </p:spPr>
        <p:txBody>
          <a:bodyPr wrap="square" rtlCol="0">
            <a:noAutofit/>
          </a:bodyPr>
          <a:p>
            <a:r>
              <a:rPr lang="en-US" altLang="en-US" sz="2300">
                <a:solidFill>
                  <a:srgbClr val="002060"/>
                </a:solidFill>
                <a:latin typeface="Cambria" panose="02040503050406030204" charset="0"/>
                <a:cs typeface="Cambria" panose="02040503050406030204" charset="0"/>
              </a:rPr>
              <a:t>QUERY:- Display delayed flights with airline name and delay reason.</a:t>
            </a:r>
            <a:endParaRPr lang="en-US" altLang="en-US" sz="2300">
              <a:solidFill>
                <a:srgbClr val="002060"/>
              </a:solidFill>
              <a:latin typeface="Cambria" panose="02040503050406030204" charset="0"/>
              <a:cs typeface="Cambria" panose="02040503050406030204" charset="0"/>
            </a:endParaRPr>
          </a:p>
          <a:p>
            <a:r>
              <a:rPr lang="en-US" altLang="en-US" sz="2300">
                <a:solidFill>
                  <a:srgbClr val="002060"/>
                </a:solidFill>
                <a:latin typeface="Cambria" panose="02040503050406030204" charset="0"/>
                <a:cs typeface="Cambria" panose="02040503050406030204" charset="0"/>
              </a:rPr>
              <a:t>SYNTAX:- SELECT a.airline_name, f.flight_number, d.delay_minutes, d.delay_reason</a:t>
            </a:r>
            <a:endParaRPr lang="en-US" altLang="en-US" sz="2300">
              <a:solidFill>
                <a:srgbClr val="002060"/>
              </a:solidFill>
              <a:latin typeface="Cambria" panose="02040503050406030204" charset="0"/>
              <a:cs typeface="Cambria" panose="02040503050406030204" charset="0"/>
            </a:endParaRPr>
          </a:p>
          <a:p>
            <a:r>
              <a:rPr lang="en-US" altLang="en-US" sz="2300">
                <a:solidFill>
                  <a:srgbClr val="002060"/>
                </a:solidFill>
                <a:latin typeface="Cambria" panose="02040503050406030204" charset="0"/>
                <a:cs typeface="Cambria" panose="02040503050406030204" charset="0"/>
              </a:rPr>
              <a:t> FROM Delays d JOIN Flights f ON d.flight_id = f.flight_id INNER JOIN Airlines a ON f.airline_id = a.airline_id;</a:t>
            </a:r>
            <a:endParaRPr lang="en-US" altLang="en-US" sz="2300">
              <a:solidFill>
                <a:srgbClr val="002060"/>
              </a:solidFill>
              <a:latin typeface="Cambria" panose="02040503050406030204" charset="0"/>
              <a:cs typeface="Cambria" panose="02040503050406030204" charset="0"/>
            </a:endParaRPr>
          </a:p>
        </p:txBody>
      </p:sp>
      <p:pic>
        <p:nvPicPr>
          <p:cNvPr id="5" name="Picture 4"/>
          <p:cNvPicPr>
            <a:picLocks noChangeAspect="1"/>
          </p:cNvPicPr>
          <p:nvPr/>
        </p:nvPicPr>
        <p:blipFill>
          <a:blip r:embed="rId2"/>
          <a:stretch>
            <a:fillRect/>
          </a:stretch>
        </p:blipFill>
        <p:spPr>
          <a:xfrm>
            <a:off x="-635" y="2948305"/>
            <a:ext cx="12192635" cy="3907155"/>
          </a:xfrm>
          <a:prstGeom prst="rect">
            <a:avLst/>
          </a:prstGeom>
        </p:spPr>
      </p:pic>
    </p:spTree>
    <p:custDataLst>
      <p:tags r:id="rId3"/>
    </p:custData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a:xfrm>
            <a:off x="-635" y="-635"/>
            <a:ext cx="12192000" cy="805815"/>
          </a:xfrm>
        </p:spPr>
        <p:style>
          <a:lnRef idx="2">
            <a:schemeClr val="accent1"/>
          </a:lnRef>
          <a:fillRef idx="2">
            <a:schemeClr val="accent1"/>
          </a:fillRef>
          <a:effectRef idx="0">
            <a:srgbClr val="FFFFFF"/>
          </a:effectRef>
          <a:fontRef idx="minor">
            <a:schemeClr val="lt1"/>
          </a:fontRef>
        </p:style>
        <p:txBody>
          <a:bodyPr/>
          <a:p>
            <a:pPr algn="ctr"/>
            <a:r>
              <a:rPr lang="en-US" altLang="en-US" sz="4000" b="1">
                <a:solidFill>
                  <a:srgbClr val="002060"/>
                </a:solidFill>
                <a:latin typeface="Cambria" panose="02040503050406030204" charset="0"/>
                <a:cs typeface="Cambria" panose="02040503050406030204" charset="0"/>
                <a:sym typeface="+mn-ea"/>
              </a:rPr>
              <a:t>INNER JOIN + GROUP BY</a:t>
            </a:r>
            <a:endParaRPr lang="en-US" altLang="en-US" sz="4000" b="1">
              <a:solidFill>
                <a:srgbClr val="002060"/>
              </a:solidFill>
              <a:latin typeface="Cambria" panose="02040503050406030204" charset="0"/>
              <a:cs typeface="Cambria" panose="02040503050406030204" charset="0"/>
            </a:endParaRPr>
          </a:p>
        </p:txBody>
      </p:sp>
      <p:sp>
        <p:nvSpPr>
          <p:cNvPr id="3" name="Text Box 2"/>
          <p:cNvSpPr txBox="1"/>
          <p:nvPr/>
        </p:nvSpPr>
        <p:spPr>
          <a:xfrm>
            <a:off x="6470650" y="1130300"/>
            <a:ext cx="5721350" cy="5727700"/>
          </a:xfrm>
          <a:prstGeom prst="rect">
            <a:avLst/>
          </a:prstGeom>
          <a:noFill/>
        </p:spPr>
        <p:txBody>
          <a:bodyPr wrap="square" rtlCol="0">
            <a:noAutofit/>
          </a:bodyPr>
          <a:p>
            <a:endParaRPr lang="en-US" altLang="en-US" sz="2400">
              <a:solidFill>
                <a:srgbClr val="002060"/>
              </a:solidFill>
              <a:latin typeface="Cambria" panose="02040503050406030204" charset="0"/>
              <a:cs typeface="Cambria" panose="02040503050406030204" charset="0"/>
            </a:endParaRPr>
          </a:p>
        </p:txBody>
      </p:sp>
      <p:sp>
        <p:nvSpPr>
          <p:cNvPr id="2" name="Text Box 1"/>
          <p:cNvSpPr txBox="1"/>
          <p:nvPr/>
        </p:nvSpPr>
        <p:spPr>
          <a:xfrm>
            <a:off x="-635" y="805180"/>
            <a:ext cx="12192000" cy="1903095"/>
          </a:xfrm>
          <a:prstGeom prst="rect">
            <a:avLst/>
          </a:prstGeom>
          <a:noFill/>
        </p:spPr>
        <p:txBody>
          <a:bodyPr wrap="square" rtlCol="0">
            <a:noAutofit/>
          </a:bodyPr>
          <a:p>
            <a:r>
              <a:rPr lang="en-US" altLang="en-US" sz="2300">
                <a:solidFill>
                  <a:srgbClr val="002060"/>
                </a:solidFill>
                <a:latin typeface="Cambria" panose="02040503050406030204" charset="0"/>
                <a:cs typeface="Cambria" panose="02040503050406030204" charset="0"/>
              </a:rPr>
              <a:t>QUERY:- Which airline earned the highest revenue?</a:t>
            </a:r>
            <a:endParaRPr lang="en-US" altLang="en-US" sz="2300">
              <a:solidFill>
                <a:srgbClr val="002060"/>
              </a:solidFill>
              <a:latin typeface="Cambria" panose="02040503050406030204" charset="0"/>
              <a:cs typeface="Cambria" panose="02040503050406030204" charset="0"/>
            </a:endParaRPr>
          </a:p>
          <a:p>
            <a:r>
              <a:rPr lang="en-US" altLang="en-US" sz="2300">
                <a:solidFill>
                  <a:srgbClr val="002060"/>
                </a:solidFill>
                <a:latin typeface="Cambria" panose="02040503050406030204" charset="0"/>
                <a:cs typeface="Cambria" panose="02040503050406030204" charset="0"/>
              </a:rPr>
              <a:t>SYNTAX:- SELECT a.airline_name, SUM(pay.amount) AS total_revenue FROM Airlines a INNER JOIN Flights f ON a.airline_id = f.airline_id INNER JOIN Tickets t ON f.flight_id = t.flight_id INNER JOIN Payments pay ON t.ticket_id = pay.ticket_id  WHERE pay.payment_status = 'Success' GROUP BY a.airline_name ORDER BY total_revenue DESC;</a:t>
            </a:r>
            <a:endParaRPr lang="en-US" altLang="en-US" sz="2300">
              <a:solidFill>
                <a:srgbClr val="002060"/>
              </a:solidFill>
              <a:latin typeface="Cambria" panose="02040503050406030204" charset="0"/>
              <a:cs typeface="Cambria" panose="02040503050406030204" charset="0"/>
            </a:endParaRPr>
          </a:p>
        </p:txBody>
      </p:sp>
      <p:pic>
        <p:nvPicPr>
          <p:cNvPr id="6" name="Picture 5"/>
          <p:cNvPicPr>
            <a:picLocks noChangeAspect="1"/>
          </p:cNvPicPr>
          <p:nvPr/>
        </p:nvPicPr>
        <p:blipFill>
          <a:blip r:embed="rId2"/>
          <a:srcRect b="1209"/>
          <a:stretch>
            <a:fillRect/>
          </a:stretch>
        </p:blipFill>
        <p:spPr>
          <a:xfrm>
            <a:off x="635" y="2708910"/>
            <a:ext cx="12191365" cy="4164330"/>
          </a:xfrm>
          <a:prstGeom prst="rect">
            <a:avLst/>
          </a:prstGeom>
        </p:spPr>
      </p:pic>
    </p:spTree>
    <p:custDataLst>
      <p:tags r:id="rId3"/>
    </p:custData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Picture 2" descr="ChatGPT Image Aug 4, 2026, 11_03_12 PM"/>
          <p:cNvPicPr>
            <a:picLocks noChangeAspect="1"/>
          </p:cNvPicPr>
          <p:nvPr/>
        </p:nvPicPr>
        <p:blipFill>
          <a:blip r:embed="rId1"/>
          <a:stretch>
            <a:fillRect/>
          </a:stretch>
        </p:blipFill>
        <p:spPr>
          <a:xfrm>
            <a:off x="0" y="0"/>
            <a:ext cx="12192000" cy="6858000"/>
          </a:xfrm>
          <a:prstGeom prst="rect">
            <a:avLst/>
          </a:prstGeom>
        </p:spPr>
      </p:pic>
      <p:sp>
        <p:nvSpPr>
          <p:cNvPr id="5" name="Text Box 4"/>
          <p:cNvSpPr txBox="1"/>
          <p:nvPr/>
        </p:nvSpPr>
        <p:spPr>
          <a:xfrm>
            <a:off x="-635" y="4914900"/>
            <a:ext cx="12192635" cy="1562735"/>
          </a:xfrm>
          <a:prstGeom prst="rect">
            <a:avLst/>
          </a:prstGeom>
          <a:noFill/>
        </p:spPr>
        <p:txBody>
          <a:bodyPr wrap="square" rtlCol="0">
            <a:noAutofit/>
          </a:bodyPr>
          <a:p>
            <a:pPr algn="ctr"/>
            <a:r>
              <a:rPr lang="en-US" sz="8500" b="1">
                <a:solidFill>
                  <a:srgbClr val="002060"/>
                </a:solidFill>
                <a:latin typeface="Cambria" panose="02040503050406030204" charset="0"/>
                <a:cs typeface="Cambria" panose="02040503050406030204" charset="0"/>
              </a:rPr>
              <a:t>Subqueries</a:t>
            </a:r>
            <a:endParaRPr lang="en-US" sz="8500" b="1">
              <a:solidFill>
                <a:srgbClr val="002060"/>
              </a:solidFill>
              <a:latin typeface="Cambria" panose="02040503050406030204" charset="0"/>
              <a:cs typeface="Cambria" panose="02040503050406030204" charset="0"/>
            </a:endParaRPr>
          </a:p>
        </p:txBody>
      </p:sp>
    </p:spTree>
    <p:custDataLst>
      <p:tags r:id="rId2"/>
    </p:custData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a:xfrm>
            <a:off x="-635" y="-635"/>
            <a:ext cx="12192000" cy="805815"/>
          </a:xfrm>
        </p:spPr>
        <p:style>
          <a:lnRef idx="2">
            <a:schemeClr val="accent1"/>
          </a:lnRef>
          <a:fillRef idx="2">
            <a:schemeClr val="accent1"/>
          </a:fillRef>
          <a:effectRef idx="0">
            <a:srgbClr val="FFFFFF"/>
          </a:effectRef>
          <a:fontRef idx="minor">
            <a:schemeClr val="lt1"/>
          </a:fontRef>
        </p:style>
        <p:txBody>
          <a:bodyPr/>
          <a:p>
            <a:pPr algn="ctr"/>
            <a:r>
              <a:rPr lang="en-US" altLang="en-US" sz="4000" b="1">
                <a:solidFill>
                  <a:srgbClr val="002060"/>
                </a:solidFill>
                <a:latin typeface="Cambria" panose="02040503050406030204" charset="0"/>
                <a:cs typeface="Cambria" panose="02040503050406030204" charset="0"/>
              </a:rPr>
              <a:t>SUBQUERY 1</a:t>
            </a:r>
            <a:endParaRPr lang="en-US" altLang="en-US" sz="4000" b="1">
              <a:solidFill>
                <a:srgbClr val="002060"/>
              </a:solidFill>
              <a:latin typeface="Cambria" panose="02040503050406030204" charset="0"/>
              <a:cs typeface="Cambria" panose="02040503050406030204" charset="0"/>
            </a:endParaRPr>
          </a:p>
        </p:txBody>
      </p:sp>
      <p:sp>
        <p:nvSpPr>
          <p:cNvPr id="3" name="Text Box 2"/>
          <p:cNvSpPr txBox="1"/>
          <p:nvPr/>
        </p:nvSpPr>
        <p:spPr>
          <a:xfrm>
            <a:off x="6470650" y="1130300"/>
            <a:ext cx="5721350" cy="5727700"/>
          </a:xfrm>
          <a:prstGeom prst="rect">
            <a:avLst/>
          </a:prstGeom>
          <a:noFill/>
        </p:spPr>
        <p:txBody>
          <a:bodyPr wrap="square" rtlCol="0">
            <a:noAutofit/>
          </a:bodyPr>
          <a:p>
            <a:endParaRPr lang="en-US" altLang="en-US" sz="2400">
              <a:solidFill>
                <a:srgbClr val="002060"/>
              </a:solidFill>
              <a:latin typeface="Cambria" panose="02040503050406030204" charset="0"/>
              <a:cs typeface="Cambria" panose="02040503050406030204" charset="0"/>
            </a:endParaRPr>
          </a:p>
        </p:txBody>
      </p:sp>
      <p:sp>
        <p:nvSpPr>
          <p:cNvPr id="2" name="Text Box 1"/>
          <p:cNvSpPr txBox="1"/>
          <p:nvPr/>
        </p:nvSpPr>
        <p:spPr>
          <a:xfrm>
            <a:off x="-635" y="805180"/>
            <a:ext cx="12192000" cy="1545590"/>
          </a:xfrm>
          <a:prstGeom prst="rect">
            <a:avLst/>
          </a:prstGeom>
          <a:noFill/>
        </p:spPr>
        <p:txBody>
          <a:bodyPr wrap="square" rtlCol="0">
            <a:noAutofit/>
          </a:bodyPr>
          <a:p>
            <a:r>
              <a:rPr lang="en-US" altLang="en-US" sz="2300">
                <a:solidFill>
                  <a:srgbClr val="002060"/>
                </a:solidFill>
                <a:latin typeface="Cambria" panose="02040503050406030204" charset="0"/>
                <a:cs typeface="Cambria" panose="02040503050406030204" charset="0"/>
              </a:rPr>
              <a:t>QUERY:- Find passengers who paid more than the average payment amount.</a:t>
            </a:r>
            <a:endParaRPr lang="en-US" altLang="en-US" sz="2300">
              <a:solidFill>
                <a:srgbClr val="002060"/>
              </a:solidFill>
              <a:latin typeface="Cambria" panose="02040503050406030204" charset="0"/>
              <a:cs typeface="Cambria" panose="02040503050406030204" charset="0"/>
            </a:endParaRPr>
          </a:p>
          <a:p>
            <a:r>
              <a:rPr lang="en-US" altLang="en-US" sz="2300">
                <a:solidFill>
                  <a:srgbClr val="002060"/>
                </a:solidFill>
                <a:latin typeface="Cambria" panose="02040503050406030204" charset="0"/>
                <a:cs typeface="Cambria" panose="02040503050406030204" charset="0"/>
              </a:rPr>
              <a:t>SYNTAX:- SELECT * FROM Passengers WHERE passenger_id IN </a:t>
            </a:r>
            <a:endParaRPr lang="en-US" altLang="en-US" sz="2300">
              <a:solidFill>
                <a:srgbClr val="002060"/>
              </a:solidFill>
              <a:latin typeface="Cambria" panose="02040503050406030204" charset="0"/>
              <a:cs typeface="Cambria" panose="02040503050406030204" charset="0"/>
            </a:endParaRPr>
          </a:p>
          <a:p>
            <a:r>
              <a:rPr lang="en-US" altLang="en-US" sz="2300">
                <a:solidFill>
                  <a:srgbClr val="002060"/>
                </a:solidFill>
                <a:latin typeface="Cambria" panose="02040503050406030204" charset="0"/>
                <a:cs typeface="Cambria" panose="02040503050406030204" charset="0"/>
              </a:rPr>
              <a:t>(SELECT t.passenger_id FROM Tickets t JOIN Payments p ON t.ticket_id = p.ticket_id WHERE p.amount &gt; (SELECT AVG(amount) FROM Payments));</a:t>
            </a:r>
            <a:endParaRPr lang="en-US" altLang="en-US" sz="2300">
              <a:solidFill>
                <a:srgbClr val="002060"/>
              </a:solidFill>
              <a:latin typeface="Cambria" panose="02040503050406030204" charset="0"/>
              <a:cs typeface="Cambria" panose="02040503050406030204" charset="0"/>
            </a:endParaRPr>
          </a:p>
        </p:txBody>
      </p:sp>
      <p:pic>
        <p:nvPicPr>
          <p:cNvPr id="6" name="Picture 5"/>
          <p:cNvPicPr>
            <a:picLocks noChangeAspect="1"/>
          </p:cNvPicPr>
          <p:nvPr/>
        </p:nvPicPr>
        <p:blipFill>
          <a:blip r:embed="rId2"/>
          <a:stretch>
            <a:fillRect/>
          </a:stretch>
        </p:blipFill>
        <p:spPr>
          <a:xfrm>
            <a:off x="-1270" y="2350135"/>
            <a:ext cx="12192000" cy="4519295"/>
          </a:xfrm>
          <a:prstGeom prst="rect">
            <a:avLst/>
          </a:prstGeom>
        </p:spPr>
      </p:pic>
    </p:spTree>
    <p:custDataLst>
      <p:tags r:id="rId3"/>
    </p:custData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a:xfrm>
            <a:off x="-635" y="-635"/>
            <a:ext cx="12192000" cy="805815"/>
          </a:xfrm>
        </p:spPr>
        <p:style>
          <a:lnRef idx="2">
            <a:schemeClr val="accent1"/>
          </a:lnRef>
          <a:fillRef idx="2">
            <a:schemeClr val="accent1"/>
          </a:fillRef>
          <a:effectRef idx="0">
            <a:srgbClr val="FFFFFF"/>
          </a:effectRef>
          <a:fontRef idx="minor">
            <a:schemeClr val="lt1"/>
          </a:fontRef>
        </p:style>
        <p:txBody>
          <a:bodyPr/>
          <a:p>
            <a:pPr algn="ctr"/>
            <a:r>
              <a:rPr lang="en-US" altLang="en-US" sz="4000" b="1">
                <a:solidFill>
                  <a:srgbClr val="002060"/>
                </a:solidFill>
                <a:latin typeface="Cambria" panose="02040503050406030204" charset="0"/>
                <a:cs typeface="Cambria" panose="02040503050406030204" charset="0"/>
              </a:rPr>
              <a:t>SUBQUERY 2 &amp; SUBQUERY 3</a:t>
            </a:r>
            <a:endParaRPr lang="en-US" altLang="en-US" sz="4000" b="1">
              <a:solidFill>
                <a:srgbClr val="002060"/>
              </a:solidFill>
              <a:latin typeface="Cambria" panose="02040503050406030204" charset="0"/>
              <a:cs typeface="Cambria" panose="02040503050406030204" charset="0"/>
            </a:endParaRPr>
          </a:p>
        </p:txBody>
      </p:sp>
      <p:sp>
        <p:nvSpPr>
          <p:cNvPr id="3" name="Text Box 2"/>
          <p:cNvSpPr txBox="1"/>
          <p:nvPr/>
        </p:nvSpPr>
        <p:spPr>
          <a:xfrm>
            <a:off x="6470650" y="1130300"/>
            <a:ext cx="5721350" cy="5727700"/>
          </a:xfrm>
          <a:prstGeom prst="rect">
            <a:avLst/>
          </a:prstGeom>
          <a:noFill/>
        </p:spPr>
        <p:txBody>
          <a:bodyPr wrap="square" rtlCol="0">
            <a:noAutofit/>
          </a:bodyPr>
          <a:p>
            <a:endParaRPr lang="en-US" altLang="en-US" sz="2400">
              <a:solidFill>
                <a:srgbClr val="002060"/>
              </a:solidFill>
              <a:latin typeface="Cambria" panose="02040503050406030204" charset="0"/>
              <a:cs typeface="Cambria" panose="02040503050406030204" charset="0"/>
            </a:endParaRPr>
          </a:p>
        </p:txBody>
      </p:sp>
      <p:sp>
        <p:nvSpPr>
          <p:cNvPr id="2" name="Text Box 1"/>
          <p:cNvSpPr txBox="1"/>
          <p:nvPr/>
        </p:nvSpPr>
        <p:spPr>
          <a:xfrm>
            <a:off x="-635" y="805180"/>
            <a:ext cx="12192000" cy="1544955"/>
          </a:xfrm>
          <a:prstGeom prst="rect">
            <a:avLst/>
          </a:prstGeom>
          <a:noFill/>
        </p:spPr>
        <p:txBody>
          <a:bodyPr wrap="square" rtlCol="0">
            <a:noAutofit/>
          </a:bodyPr>
          <a:p>
            <a:r>
              <a:rPr lang="en-US" altLang="en-US" sz="2300">
                <a:solidFill>
                  <a:srgbClr val="002060"/>
                </a:solidFill>
                <a:latin typeface="Cambria" panose="02040503050406030204" charset="0"/>
                <a:cs typeface="Cambria" panose="02040503050406030204" charset="0"/>
              </a:rPr>
              <a:t>QUERY:- Find the flight with the highest fare.</a:t>
            </a:r>
            <a:endParaRPr lang="en-US" altLang="en-US" sz="2300">
              <a:solidFill>
                <a:srgbClr val="002060"/>
              </a:solidFill>
              <a:latin typeface="Cambria" panose="02040503050406030204" charset="0"/>
              <a:cs typeface="Cambria" panose="02040503050406030204" charset="0"/>
            </a:endParaRPr>
          </a:p>
          <a:p>
            <a:r>
              <a:rPr lang="en-US" altLang="en-US" sz="2300">
                <a:solidFill>
                  <a:srgbClr val="002060"/>
                </a:solidFill>
                <a:latin typeface="Cambria" panose="02040503050406030204" charset="0"/>
                <a:cs typeface="Cambria" panose="02040503050406030204" charset="0"/>
              </a:rPr>
              <a:t>SYNTAX:- SELECT * FROM Flights WHERE fare = (SELECT MAX(fare) FROM Flights);</a:t>
            </a:r>
            <a:endParaRPr lang="en-US" altLang="en-US" sz="2300">
              <a:solidFill>
                <a:srgbClr val="002060"/>
              </a:solidFill>
              <a:latin typeface="Cambria" panose="02040503050406030204" charset="0"/>
              <a:cs typeface="Cambria" panose="02040503050406030204" charset="0"/>
            </a:endParaRPr>
          </a:p>
        </p:txBody>
      </p:sp>
      <p:pic>
        <p:nvPicPr>
          <p:cNvPr id="5" name="Picture 4"/>
          <p:cNvPicPr>
            <a:picLocks noChangeAspect="1"/>
          </p:cNvPicPr>
          <p:nvPr/>
        </p:nvPicPr>
        <p:blipFill>
          <a:blip r:embed="rId2"/>
          <a:srcRect b="10719"/>
          <a:stretch>
            <a:fillRect/>
          </a:stretch>
        </p:blipFill>
        <p:spPr>
          <a:xfrm>
            <a:off x="-635" y="1577340"/>
            <a:ext cx="12191365" cy="1749425"/>
          </a:xfrm>
          <a:prstGeom prst="rect">
            <a:avLst/>
          </a:prstGeom>
        </p:spPr>
      </p:pic>
      <p:sp>
        <p:nvSpPr>
          <p:cNvPr id="7" name="Text Box 6"/>
          <p:cNvSpPr txBox="1"/>
          <p:nvPr/>
        </p:nvSpPr>
        <p:spPr>
          <a:xfrm>
            <a:off x="635" y="3429000"/>
            <a:ext cx="12189460" cy="1183005"/>
          </a:xfrm>
          <a:prstGeom prst="rect">
            <a:avLst/>
          </a:prstGeom>
          <a:noFill/>
        </p:spPr>
        <p:txBody>
          <a:bodyPr wrap="square" rtlCol="0">
            <a:noAutofit/>
          </a:bodyPr>
          <a:p>
            <a:r>
              <a:rPr lang="en-US" sz="2300">
                <a:solidFill>
                  <a:srgbClr val="002060"/>
                </a:solidFill>
                <a:latin typeface="Cambria" panose="02040503050406030204" charset="0"/>
                <a:cs typeface="Cambria" panose="02040503050406030204" charset="0"/>
              </a:rPr>
              <a:t>QUERY:- </a:t>
            </a:r>
            <a:r>
              <a:rPr lang="en-US" altLang="en-US" sz="2300">
                <a:solidFill>
                  <a:srgbClr val="002060"/>
                </a:solidFill>
                <a:latin typeface="Cambria" panose="02040503050406030204" charset="0"/>
                <a:cs typeface="Cambria" panose="02040503050406030204" charset="0"/>
              </a:rPr>
              <a:t>Which airline has the highest-priced flight?</a:t>
            </a:r>
            <a:endParaRPr lang="en-US" altLang="en-US" sz="2300">
              <a:solidFill>
                <a:srgbClr val="002060"/>
              </a:solidFill>
              <a:latin typeface="Cambria" panose="02040503050406030204" charset="0"/>
              <a:cs typeface="Cambria" panose="02040503050406030204" charset="0"/>
            </a:endParaRPr>
          </a:p>
          <a:p>
            <a:r>
              <a:rPr lang="en-US" sz="2300">
                <a:solidFill>
                  <a:srgbClr val="002060"/>
                </a:solidFill>
                <a:latin typeface="Cambria" panose="02040503050406030204" charset="0"/>
                <a:cs typeface="Cambria" panose="02040503050406030204" charset="0"/>
              </a:rPr>
              <a:t>SYNTAX:-</a:t>
            </a:r>
            <a:r>
              <a:rPr lang="en-US" altLang="en-US" sz="2300">
                <a:solidFill>
                  <a:srgbClr val="002060"/>
                </a:solidFill>
                <a:latin typeface="Cambria" panose="02040503050406030204" charset="0"/>
                <a:cs typeface="Cambria" panose="02040503050406030204" charset="0"/>
              </a:rPr>
              <a:t>SELECT airline_name FROM Airlines WHERE airline_id = </a:t>
            </a:r>
            <a:endParaRPr lang="en-US" altLang="en-US" sz="2300">
              <a:solidFill>
                <a:srgbClr val="002060"/>
              </a:solidFill>
              <a:latin typeface="Cambria" panose="02040503050406030204" charset="0"/>
              <a:cs typeface="Cambria" panose="02040503050406030204" charset="0"/>
            </a:endParaRPr>
          </a:p>
          <a:p>
            <a:r>
              <a:rPr lang="en-US" altLang="en-US" sz="2300">
                <a:solidFill>
                  <a:srgbClr val="002060"/>
                </a:solidFill>
                <a:latin typeface="Cambria" panose="02040503050406030204" charset="0"/>
                <a:cs typeface="Cambria" panose="02040503050406030204" charset="0"/>
              </a:rPr>
              <a:t>(SELECT airline_id FROM Flights WHERE fare = (SELECT MAX(fare) FROM Flights));</a:t>
            </a:r>
            <a:endParaRPr lang="en-US" altLang="en-US" sz="2300">
              <a:solidFill>
                <a:srgbClr val="002060"/>
              </a:solidFill>
              <a:latin typeface="Cambria" panose="02040503050406030204" charset="0"/>
              <a:cs typeface="Cambria" panose="02040503050406030204" charset="0"/>
            </a:endParaRPr>
          </a:p>
        </p:txBody>
      </p:sp>
      <p:pic>
        <p:nvPicPr>
          <p:cNvPr id="9" name="Picture 8"/>
          <p:cNvPicPr>
            <a:picLocks noChangeAspect="1"/>
          </p:cNvPicPr>
          <p:nvPr/>
        </p:nvPicPr>
        <p:blipFill>
          <a:blip r:embed="rId3"/>
          <a:stretch>
            <a:fillRect/>
          </a:stretch>
        </p:blipFill>
        <p:spPr>
          <a:xfrm>
            <a:off x="1270" y="4612005"/>
            <a:ext cx="12188825" cy="2245360"/>
          </a:xfrm>
          <a:prstGeom prst="rect">
            <a:avLst/>
          </a:prstGeom>
        </p:spPr>
      </p:pic>
      <p:cxnSp>
        <p:nvCxnSpPr>
          <p:cNvPr id="11" name="Straight Connector 10"/>
          <p:cNvCxnSpPr/>
          <p:nvPr/>
        </p:nvCxnSpPr>
        <p:spPr>
          <a:xfrm flipV="1">
            <a:off x="-22860" y="3400425"/>
            <a:ext cx="12230100" cy="48895"/>
          </a:xfrm>
          <a:prstGeom prst="line">
            <a:avLst/>
          </a:prstGeom>
          <a:ln w="31750" cap="rnd">
            <a:solidFill>
              <a:prstClr val="black"/>
            </a:solidFill>
            <a:round/>
          </a:ln>
        </p:spPr>
        <p:style>
          <a:lnRef idx="0">
            <a:srgbClr val="FFFFFF"/>
          </a:lnRef>
          <a:fillRef idx="0">
            <a:srgbClr val="FFFFFF"/>
          </a:fillRef>
          <a:effectRef idx="0">
            <a:srgbClr val="FFFFFF"/>
          </a:effectRef>
          <a:fontRef idx="minor">
            <a:schemeClr val="tx1"/>
          </a:fontRef>
        </p:style>
      </p:cxnSp>
    </p:spTree>
    <p:custDataLst>
      <p:tags r:id="rId4"/>
    </p:custData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a:xfrm>
            <a:off x="-635" y="-635"/>
            <a:ext cx="12192000" cy="805815"/>
          </a:xfrm>
        </p:spPr>
        <p:style>
          <a:lnRef idx="2">
            <a:schemeClr val="accent1"/>
          </a:lnRef>
          <a:fillRef idx="2">
            <a:schemeClr val="accent1"/>
          </a:fillRef>
          <a:effectRef idx="0">
            <a:srgbClr val="FFFFFF"/>
          </a:effectRef>
          <a:fontRef idx="minor">
            <a:schemeClr val="lt1"/>
          </a:fontRef>
        </p:style>
        <p:txBody>
          <a:bodyPr/>
          <a:p>
            <a:pPr algn="ctr"/>
            <a:r>
              <a:rPr lang="en-US" altLang="en-US" sz="4000" b="1">
                <a:solidFill>
                  <a:srgbClr val="002060"/>
                </a:solidFill>
                <a:latin typeface="Cambria" panose="02040503050406030204" charset="0"/>
                <a:cs typeface="Cambria" panose="02040503050406030204" charset="0"/>
              </a:rPr>
              <a:t>SUBQUERY 4</a:t>
            </a:r>
            <a:endParaRPr lang="en-US" altLang="en-US" sz="4000" b="1">
              <a:solidFill>
                <a:srgbClr val="002060"/>
              </a:solidFill>
              <a:latin typeface="Cambria" panose="02040503050406030204" charset="0"/>
              <a:cs typeface="Cambria" panose="02040503050406030204" charset="0"/>
            </a:endParaRPr>
          </a:p>
        </p:txBody>
      </p:sp>
      <p:sp>
        <p:nvSpPr>
          <p:cNvPr id="3" name="Text Box 2"/>
          <p:cNvSpPr txBox="1"/>
          <p:nvPr/>
        </p:nvSpPr>
        <p:spPr>
          <a:xfrm>
            <a:off x="6470650" y="1130300"/>
            <a:ext cx="5721350" cy="5727700"/>
          </a:xfrm>
          <a:prstGeom prst="rect">
            <a:avLst/>
          </a:prstGeom>
          <a:noFill/>
        </p:spPr>
        <p:txBody>
          <a:bodyPr wrap="square" rtlCol="0">
            <a:noAutofit/>
          </a:bodyPr>
          <a:p>
            <a:endParaRPr lang="en-US" altLang="en-US" sz="2400">
              <a:solidFill>
                <a:srgbClr val="002060"/>
              </a:solidFill>
              <a:latin typeface="Cambria" panose="02040503050406030204" charset="0"/>
              <a:cs typeface="Cambria" panose="02040503050406030204" charset="0"/>
            </a:endParaRPr>
          </a:p>
        </p:txBody>
      </p:sp>
      <p:sp>
        <p:nvSpPr>
          <p:cNvPr id="2" name="Text Box 1"/>
          <p:cNvSpPr txBox="1"/>
          <p:nvPr/>
        </p:nvSpPr>
        <p:spPr>
          <a:xfrm>
            <a:off x="-635" y="805180"/>
            <a:ext cx="12192000" cy="1682115"/>
          </a:xfrm>
          <a:prstGeom prst="rect">
            <a:avLst/>
          </a:prstGeom>
          <a:noFill/>
        </p:spPr>
        <p:txBody>
          <a:bodyPr wrap="square" rtlCol="0">
            <a:noAutofit/>
          </a:bodyPr>
          <a:p>
            <a:r>
              <a:rPr lang="en-US" altLang="en-US" sz="2400">
                <a:solidFill>
                  <a:srgbClr val="002060"/>
                </a:solidFill>
                <a:latin typeface="Cambria" panose="02040503050406030204" charset="0"/>
                <a:cs typeface="Cambria" panose="02040503050406030204" charset="0"/>
              </a:rPr>
              <a:t>QUERY:- Find passengers who paid more than the average payment amount.</a:t>
            </a:r>
            <a:endParaRPr lang="en-US" altLang="en-US" sz="2400">
              <a:solidFill>
                <a:srgbClr val="002060"/>
              </a:solidFill>
              <a:latin typeface="Cambria" panose="02040503050406030204" charset="0"/>
              <a:cs typeface="Cambria" panose="02040503050406030204" charset="0"/>
            </a:endParaRPr>
          </a:p>
          <a:p>
            <a:r>
              <a:rPr lang="en-US" altLang="en-US" sz="2400">
                <a:solidFill>
                  <a:srgbClr val="002060"/>
                </a:solidFill>
                <a:latin typeface="Cambria" panose="02040503050406030204" charset="0"/>
                <a:cs typeface="Cambria" panose="02040503050406030204" charset="0"/>
              </a:rPr>
              <a:t>SYNTAX:- SELECT * FROM Passengers WHERE passenger_id IN </a:t>
            </a:r>
            <a:endParaRPr lang="en-US" altLang="en-US" sz="2400">
              <a:solidFill>
                <a:srgbClr val="002060"/>
              </a:solidFill>
              <a:latin typeface="Cambria" panose="02040503050406030204" charset="0"/>
              <a:cs typeface="Cambria" panose="02040503050406030204" charset="0"/>
            </a:endParaRPr>
          </a:p>
          <a:p>
            <a:r>
              <a:rPr lang="en-US" altLang="en-US" sz="2400">
                <a:solidFill>
                  <a:srgbClr val="002060"/>
                </a:solidFill>
                <a:latin typeface="Cambria" panose="02040503050406030204" charset="0"/>
                <a:cs typeface="Cambria" panose="02040503050406030204" charset="0"/>
              </a:rPr>
              <a:t>(SELECT t.passenger_id FROM Tickets t JOIN Payments p ON t.ticket_id = p.ticket_id WHERE p.amount &gt; (SELECT AVG(amount) FROM Payments));</a:t>
            </a:r>
            <a:endParaRPr lang="en-US" altLang="en-US" sz="2400">
              <a:solidFill>
                <a:srgbClr val="002060"/>
              </a:solidFill>
              <a:latin typeface="Cambria" panose="02040503050406030204" charset="0"/>
              <a:cs typeface="Cambria" panose="02040503050406030204" charset="0"/>
            </a:endParaRPr>
          </a:p>
        </p:txBody>
      </p:sp>
      <p:pic>
        <p:nvPicPr>
          <p:cNvPr id="5" name="Picture 4"/>
          <p:cNvPicPr>
            <a:picLocks noChangeAspect="1"/>
          </p:cNvPicPr>
          <p:nvPr/>
        </p:nvPicPr>
        <p:blipFill>
          <a:blip r:embed="rId2"/>
          <a:stretch>
            <a:fillRect/>
          </a:stretch>
        </p:blipFill>
        <p:spPr>
          <a:xfrm>
            <a:off x="-635" y="2487295"/>
            <a:ext cx="12192000" cy="4370070"/>
          </a:xfrm>
          <a:prstGeom prst="rect">
            <a:avLst/>
          </a:prstGeom>
        </p:spPr>
      </p:pic>
      <p:sp>
        <p:nvSpPr>
          <p:cNvPr id="7" name="Text Box 6"/>
          <p:cNvSpPr txBox="1"/>
          <p:nvPr/>
        </p:nvSpPr>
        <p:spPr>
          <a:xfrm>
            <a:off x="0" y="2510790"/>
            <a:ext cx="12191365" cy="2827655"/>
          </a:xfrm>
          <a:prstGeom prst="rect">
            <a:avLst/>
          </a:prstGeom>
          <a:noFill/>
        </p:spPr>
        <p:txBody>
          <a:bodyPr wrap="square" rtlCol="0">
            <a:noAutofit/>
          </a:bodyPr>
          <a:p>
            <a:endParaRPr lang="en-US" sz="2100">
              <a:solidFill>
                <a:srgbClr val="002060"/>
              </a:solidFill>
              <a:latin typeface="Cambria" panose="02040503050406030204" charset="0"/>
              <a:cs typeface="Cambria" panose="02040503050406030204" charset="0"/>
            </a:endParaRPr>
          </a:p>
        </p:txBody>
      </p:sp>
    </p:spTree>
    <p:custDataLst>
      <p:tags r:id="rId3"/>
    </p:custData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a:xfrm>
            <a:off x="-635" y="-635"/>
            <a:ext cx="12192000" cy="805815"/>
          </a:xfrm>
        </p:spPr>
        <p:style>
          <a:lnRef idx="2">
            <a:schemeClr val="accent1"/>
          </a:lnRef>
          <a:fillRef idx="2">
            <a:schemeClr val="accent1"/>
          </a:fillRef>
          <a:effectRef idx="0">
            <a:srgbClr val="FFFFFF"/>
          </a:effectRef>
          <a:fontRef idx="minor">
            <a:schemeClr val="lt1"/>
          </a:fontRef>
        </p:style>
        <p:txBody>
          <a:bodyPr/>
          <a:p>
            <a:pPr algn="ctr"/>
            <a:r>
              <a:rPr lang="en-US" altLang="en-US" sz="4000" b="1">
                <a:solidFill>
                  <a:srgbClr val="002060"/>
                </a:solidFill>
                <a:latin typeface="Cambria" panose="02040503050406030204" charset="0"/>
                <a:cs typeface="Cambria" panose="02040503050406030204" charset="0"/>
              </a:rPr>
              <a:t>SUBQUERY 5</a:t>
            </a:r>
            <a:endParaRPr lang="en-US" altLang="en-US" sz="4000" b="1">
              <a:solidFill>
                <a:srgbClr val="002060"/>
              </a:solidFill>
              <a:latin typeface="Cambria" panose="02040503050406030204" charset="0"/>
              <a:cs typeface="Cambria" panose="02040503050406030204" charset="0"/>
            </a:endParaRPr>
          </a:p>
        </p:txBody>
      </p:sp>
      <p:sp>
        <p:nvSpPr>
          <p:cNvPr id="3" name="Text Box 2"/>
          <p:cNvSpPr txBox="1"/>
          <p:nvPr/>
        </p:nvSpPr>
        <p:spPr>
          <a:xfrm>
            <a:off x="6470650" y="1130300"/>
            <a:ext cx="5721350" cy="5727700"/>
          </a:xfrm>
          <a:prstGeom prst="rect">
            <a:avLst/>
          </a:prstGeom>
          <a:noFill/>
        </p:spPr>
        <p:txBody>
          <a:bodyPr wrap="square" rtlCol="0">
            <a:noAutofit/>
          </a:bodyPr>
          <a:p>
            <a:endParaRPr lang="en-US" altLang="en-US" sz="2400">
              <a:solidFill>
                <a:srgbClr val="002060"/>
              </a:solidFill>
              <a:latin typeface="Cambria" panose="02040503050406030204" charset="0"/>
              <a:cs typeface="Cambria" panose="02040503050406030204" charset="0"/>
            </a:endParaRPr>
          </a:p>
        </p:txBody>
      </p:sp>
      <p:sp>
        <p:nvSpPr>
          <p:cNvPr id="2" name="Text Box 1"/>
          <p:cNvSpPr txBox="1"/>
          <p:nvPr/>
        </p:nvSpPr>
        <p:spPr>
          <a:xfrm>
            <a:off x="-635" y="805180"/>
            <a:ext cx="12192000" cy="1544955"/>
          </a:xfrm>
          <a:prstGeom prst="rect">
            <a:avLst/>
          </a:prstGeom>
          <a:noFill/>
        </p:spPr>
        <p:txBody>
          <a:bodyPr wrap="square" rtlCol="0">
            <a:noAutofit/>
          </a:bodyPr>
          <a:p>
            <a:r>
              <a:rPr lang="en-US" sz="2400">
                <a:solidFill>
                  <a:srgbClr val="002060"/>
                </a:solidFill>
                <a:latin typeface="Cambria" panose="02040503050406030204" charset="0"/>
                <a:cs typeface="Cambria" panose="02040503050406030204" charset="0"/>
                <a:sym typeface="+mn-ea"/>
              </a:rPr>
              <a:t>QUERY:- </a:t>
            </a:r>
            <a:r>
              <a:rPr lang="en-US" altLang="en-US" sz="2400">
                <a:solidFill>
                  <a:srgbClr val="002060"/>
                </a:solidFill>
                <a:latin typeface="Cambria" panose="02040503050406030204" charset="0"/>
                <a:cs typeface="Cambria" panose="02040503050406030204" charset="0"/>
                <a:sym typeface="+mn-ea"/>
              </a:rPr>
              <a:t>Find passengers whose ticket price is greater than the average ticket price.</a:t>
            </a:r>
            <a:endParaRPr lang="en-US" altLang="en-US" sz="2400">
              <a:solidFill>
                <a:srgbClr val="002060"/>
              </a:solidFill>
              <a:latin typeface="Cambria" panose="02040503050406030204" charset="0"/>
              <a:cs typeface="Cambria" panose="02040503050406030204" charset="0"/>
            </a:endParaRPr>
          </a:p>
          <a:p>
            <a:r>
              <a:rPr lang="en-US" altLang="en-US" sz="2400">
                <a:solidFill>
                  <a:srgbClr val="002060"/>
                </a:solidFill>
                <a:latin typeface="Cambria" panose="02040503050406030204" charset="0"/>
                <a:cs typeface="Cambria" panose="02040503050406030204" charset="0"/>
                <a:sym typeface="+mn-ea"/>
              </a:rPr>
              <a:t>SYNTAX:- SELECT CONCAT(p.first_name," ",p.last_name) as passenger_name, t.ticket_price FROM Passengers p JOIN Tickets t ON p.passenger_id = t.passenger_id WHERE t.ticket_price &gt; (SELECT AVG(ticket_price) FROM Tickets);</a:t>
            </a:r>
            <a:r>
              <a:rPr lang="en-US" sz="2400">
                <a:solidFill>
                  <a:srgbClr val="002060"/>
                </a:solidFill>
                <a:latin typeface="Cambria" panose="02040503050406030204" charset="0"/>
                <a:cs typeface="Cambria" panose="02040503050406030204" charset="0"/>
                <a:sym typeface="+mn-ea"/>
              </a:rPr>
              <a:t> </a:t>
            </a:r>
            <a:endParaRPr lang="en-US" altLang="en-US" sz="2400">
              <a:solidFill>
                <a:srgbClr val="002060"/>
              </a:solidFill>
              <a:latin typeface="Cambria" panose="02040503050406030204" charset="0"/>
              <a:cs typeface="Cambria" panose="02040503050406030204" charset="0"/>
              <a:sym typeface="+mn-ea"/>
            </a:endParaRPr>
          </a:p>
        </p:txBody>
      </p:sp>
      <p:pic>
        <p:nvPicPr>
          <p:cNvPr id="8" name="Picture 7"/>
          <p:cNvPicPr>
            <a:picLocks noChangeAspect="1"/>
          </p:cNvPicPr>
          <p:nvPr/>
        </p:nvPicPr>
        <p:blipFill>
          <a:blip r:embed="rId2"/>
          <a:stretch>
            <a:fillRect/>
          </a:stretch>
        </p:blipFill>
        <p:spPr>
          <a:xfrm>
            <a:off x="16510" y="2448560"/>
            <a:ext cx="12190730" cy="4406265"/>
          </a:xfrm>
          <a:prstGeom prst="rect">
            <a:avLst/>
          </a:prstGeom>
        </p:spPr>
      </p:pic>
    </p:spTree>
    <p:custDataLst>
      <p:tags r:id="rId3"/>
    </p:custData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Content Placeholder 2" descr="ChatGPT Image Aug 4, 2026, 11_03_12 PM"/>
          <p:cNvPicPr>
            <a:picLocks noChangeAspect="1"/>
          </p:cNvPicPr>
          <p:nvPr>
            <p:ph sz="quarter" idx="13"/>
            <p:custDataLst>
              <p:tags r:id="rId1"/>
            </p:custDataLst>
          </p:nvPr>
        </p:nvPicPr>
        <p:blipFill>
          <a:blip r:embed="rId2"/>
          <a:srcRect t="5610" b="5610"/>
          <a:stretch>
            <a:fillRect/>
          </a:stretch>
        </p:blipFill>
        <p:spPr>
          <a:xfrm>
            <a:off x="0" y="-635"/>
            <a:ext cx="12191365" cy="6858000"/>
          </a:xfrm>
        </p:spPr>
      </p:pic>
      <p:sp>
        <p:nvSpPr>
          <p:cNvPr id="4" name="Text Box 3"/>
          <p:cNvSpPr txBox="1"/>
          <p:nvPr/>
        </p:nvSpPr>
        <p:spPr>
          <a:xfrm>
            <a:off x="-635" y="5045710"/>
            <a:ext cx="12192635" cy="1464945"/>
          </a:xfrm>
          <a:prstGeom prst="rect">
            <a:avLst/>
          </a:prstGeom>
          <a:noFill/>
        </p:spPr>
        <p:txBody>
          <a:bodyPr wrap="square" rtlCol="0">
            <a:noAutofit/>
          </a:bodyPr>
          <a:p>
            <a:pPr algn="ctr"/>
            <a:r>
              <a:rPr lang="en-US" sz="8500" b="1">
                <a:solidFill>
                  <a:srgbClr val="002060"/>
                </a:solidFill>
                <a:latin typeface="Cambria" panose="02040503050406030204" charset="0"/>
                <a:cs typeface="Cambria" panose="02040503050406030204" charset="0"/>
              </a:rPr>
              <a:t>Views</a:t>
            </a:r>
            <a:endParaRPr lang="en-US" sz="8500" b="1">
              <a:solidFill>
                <a:srgbClr val="002060"/>
              </a:solidFill>
              <a:latin typeface="Cambria" panose="02040503050406030204" charset="0"/>
              <a:cs typeface="Cambria" panose="02040503050406030204" charset="0"/>
            </a:endParaRPr>
          </a:p>
        </p:txBody>
      </p:sp>
    </p:spTree>
    <p:custDataLst>
      <p:tags r:id="rId3"/>
    </p:custData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a:xfrm>
            <a:off x="-635" y="-635"/>
            <a:ext cx="12192000" cy="805815"/>
          </a:xfrm>
        </p:spPr>
        <p:style>
          <a:lnRef idx="2">
            <a:schemeClr val="accent1"/>
          </a:lnRef>
          <a:fillRef idx="2">
            <a:schemeClr val="accent1"/>
          </a:fillRef>
          <a:effectRef idx="0">
            <a:srgbClr val="FFFFFF"/>
          </a:effectRef>
          <a:fontRef idx="minor">
            <a:schemeClr val="lt1"/>
          </a:fontRef>
        </p:style>
        <p:txBody>
          <a:bodyPr/>
          <a:p>
            <a:pPr algn="ctr"/>
            <a:r>
              <a:rPr lang="en-US" altLang="en-US" sz="4000" b="1">
                <a:solidFill>
                  <a:srgbClr val="002060"/>
                </a:solidFill>
                <a:latin typeface="Cambria" panose="02040503050406030204" charset="0"/>
                <a:cs typeface="Cambria" panose="02040503050406030204" charset="0"/>
              </a:rPr>
              <a:t>VIEW 1</a:t>
            </a:r>
            <a:endParaRPr lang="en-US" altLang="en-US" sz="4000" b="1">
              <a:solidFill>
                <a:srgbClr val="002060"/>
              </a:solidFill>
              <a:latin typeface="Cambria" panose="02040503050406030204" charset="0"/>
              <a:cs typeface="Cambria" panose="02040503050406030204" charset="0"/>
            </a:endParaRPr>
          </a:p>
        </p:txBody>
      </p:sp>
      <p:sp>
        <p:nvSpPr>
          <p:cNvPr id="3" name="Text Box 2"/>
          <p:cNvSpPr txBox="1"/>
          <p:nvPr/>
        </p:nvSpPr>
        <p:spPr>
          <a:xfrm>
            <a:off x="6470650" y="1130300"/>
            <a:ext cx="5721350" cy="5727700"/>
          </a:xfrm>
          <a:prstGeom prst="rect">
            <a:avLst/>
          </a:prstGeom>
          <a:noFill/>
        </p:spPr>
        <p:txBody>
          <a:bodyPr wrap="square" rtlCol="0">
            <a:noAutofit/>
          </a:bodyPr>
          <a:p>
            <a:endParaRPr lang="en-US" altLang="en-US" sz="2400">
              <a:solidFill>
                <a:srgbClr val="002060"/>
              </a:solidFill>
              <a:latin typeface="Cambria" panose="02040503050406030204" charset="0"/>
              <a:cs typeface="Cambria" panose="02040503050406030204" charset="0"/>
            </a:endParaRPr>
          </a:p>
        </p:txBody>
      </p:sp>
      <p:sp>
        <p:nvSpPr>
          <p:cNvPr id="2" name="Text Box 1"/>
          <p:cNvSpPr txBox="1"/>
          <p:nvPr/>
        </p:nvSpPr>
        <p:spPr>
          <a:xfrm>
            <a:off x="-635" y="805180"/>
            <a:ext cx="12192000" cy="2480310"/>
          </a:xfrm>
          <a:prstGeom prst="rect">
            <a:avLst/>
          </a:prstGeom>
          <a:noFill/>
        </p:spPr>
        <p:txBody>
          <a:bodyPr wrap="square" rtlCol="0">
            <a:noAutofit/>
          </a:bodyPr>
          <a:p>
            <a:r>
              <a:rPr lang="en-US" altLang="en-US" sz="2100">
                <a:solidFill>
                  <a:srgbClr val="002060"/>
                </a:solidFill>
                <a:latin typeface="Cambria" panose="02040503050406030204" charset="0"/>
                <a:cs typeface="Cambria" panose="02040503050406030204" charset="0"/>
              </a:rPr>
              <a:t>QUERY:- Create a view to display complete passenger booking details.</a:t>
            </a:r>
            <a:endParaRPr lang="en-US" altLang="en-US" sz="2100">
              <a:solidFill>
                <a:srgbClr val="002060"/>
              </a:solidFill>
              <a:latin typeface="Cambria" panose="02040503050406030204" charset="0"/>
              <a:cs typeface="Cambria" panose="02040503050406030204" charset="0"/>
            </a:endParaRPr>
          </a:p>
          <a:p>
            <a:r>
              <a:rPr lang="en-US" altLang="en-US" sz="2100">
                <a:solidFill>
                  <a:srgbClr val="002060"/>
                </a:solidFill>
                <a:latin typeface="Cambria" panose="02040503050406030204" charset="0"/>
                <a:cs typeface="Cambria" panose="02040503050406030204" charset="0"/>
              </a:rPr>
              <a:t>SYNTAX:- CREATE VIEW Passenger_Booking_Details AS</a:t>
            </a:r>
            <a:endParaRPr lang="en-US" altLang="en-US" sz="2100">
              <a:solidFill>
                <a:srgbClr val="002060"/>
              </a:solidFill>
              <a:latin typeface="Cambria" panose="02040503050406030204" charset="0"/>
              <a:cs typeface="Cambria" panose="02040503050406030204" charset="0"/>
            </a:endParaRPr>
          </a:p>
          <a:p>
            <a:r>
              <a:rPr lang="en-US" altLang="en-US" sz="2100">
                <a:solidFill>
                  <a:srgbClr val="002060"/>
                </a:solidFill>
                <a:latin typeface="Cambria" panose="02040503050406030204" charset="0"/>
                <a:cs typeface="Cambria" panose="02040503050406030204" charset="0"/>
              </a:rPr>
              <a:t>SELECT CONCAT(p.first_name, ' ', p.last_name) AS passenger_name, a.airline_name, f.flight_number, t.travel_class, t.booking_status FROM Passengers p INNER JOIN Tickets t ON p.passenger_id = t.passenger_id INNER JOIN Flights f ON t.flight_id = f.flight_id INNER JOIN Airlines a ON f.airline_id = a.airline_id;</a:t>
            </a:r>
            <a:endParaRPr lang="en-US" altLang="en-US" sz="2100">
              <a:solidFill>
                <a:srgbClr val="002060"/>
              </a:solidFill>
              <a:latin typeface="Cambria" panose="02040503050406030204" charset="0"/>
              <a:cs typeface="Cambria" panose="02040503050406030204" charset="0"/>
            </a:endParaRPr>
          </a:p>
          <a:p>
            <a:r>
              <a:rPr lang="en-US" altLang="en-US" sz="2100" u="sng">
                <a:solidFill>
                  <a:srgbClr val="002060"/>
                </a:solidFill>
                <a:latin typeface="Cambria" panose="02040503050406030204" charset="0"/>
                <a:cs typeface="Cambria" panose="02040503050406030204" charset="0"/>
              </a:rPr>
              <a:t>SELECT * FROM Passenger_Booking_Details;</a:t>
            </a:r>
            <a:endParaRPr lang="en-US" altLang="en-US" sz="2100" u="sng">
              <a:solidFill>
                <a:srgbClr val="002060"/>
              </a:solidFill>
              <a:latin typeface="Cambria" panose="02040503050406030204" charset="0"/>
              <a:cs typeface="Cambria" panose="02040503050406030204" charset="0"/>
            </a:endParaRPr>
          </a:p>
        </p:txBody>
      </p:sp>
      <p:pic>
        <p:nvPicPr>
          <p:cNvPr id="5" name="Picture 4"/>
          <p:cNvPicPr>
            <a:picLocks noChangeAspect="1"/>
          </p:cNvPicPr>
          <p:nvPr/>
        </p:nvPicPr>
        <p:blipFill>
          <a:blip r:embed="rId2"/>
          <a:stretch>
            <a:fillRect/>
          </a:stretch>
        </p:blipFill>
        <p:spPr>
          <a:xfrm>
            <a:off x="635" y="3073400"/>
            <a:ext cx="12191365" cy="3784600"/>
          </a:xfrm>
          <a:prstGeom prst="rect">
            <a:avLst/>
          </a:prstGeom>
        </p:spPr>
      </p:pic>
    </p:spTree>
    <p:custDataLst>
      <p:tags r:id="rId3"/>
    </p:custData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a:xfrm>
            <a:off x="-635" y="-635"/>
            <a:ext cx="12192000" cy="805815"/>
          </a:xfrm>
        </p:spPr>
        <p:style>
          <a:lnRef idx="2">
            <a:schemeClr val="accent1"/>
          </a:lnRef>
          <a:fillRef idx="2">
            <a:schemeClr val="accent1"/>
          </a:fillRef>
          <a:effectRef idx="0">
            <a:srgbClr val="FFFFFF"/>
          </a:effectRef>
          <a:fontRef idx="minor">
            <a:schemeClr val="lt1"/>
          </a:fontRef>
        </p:style>
        <p:txBody>
          <a:bodyPr/>
          <a:p>
            <a:pPr algn="ctr"/>
            <a:r>
              <a:rPr lang="en-US" altLang="en-US" sz="4000" b="1">
                <a:solidFill>
                  <a:srgbClr val="002060"/>
                </a:solidFill>
                <a:latin typeface="Cambria" panose="02040503050406030204" charset="0"/>
                <a:cs typeface="Cambria" panose="02040503050406030204" charset="0"/>
              </a:rPr>
              <a:t>VIEW 2</a:t>
            </a:r>
            <a:endParaRPr lang="en-US" altLang="en-US" sz="4000" b="1">
              <a:solidFill>
                <a:srgbClr val="002060"/>
              </a:solidFill>
              <a:latin typeface="Cambria" panose="02040503050406030204" charset="0"/>
              <a:cs typeface="Cambria" panose="02040503050406030204" charset="0"/>
            </a:endParaRPr>
          </a:p>
        </p:txBody>
      </p:sp>
      <p:sp>
        <p:nvSpPr>
          <p:cNvPr id="3" name="Text Box 2"/>
          <p:cNvSpPr txBox="1"/>
          <p:nvPr/>
        </p:nvSpPr>
        <p:spPr>
          <a:xfrm>
            <a:off x="6470650" y="1130300"/>
            <a:ext cx="5721350" cy="5727700"/>
          </a:xfrm>
          <a:prstGeom prst="rect">
            <a:avLst/>
          </a:prstGeom>
          <a:noFill/>
        </p:spPr>
        <p:txBody>
          <a:bodyPr wrap="square" rtlCol="0">
            <a:noAutofit/>
          </a:bodyPr>
          <a:p>
            <a:endParaRPr lang="en-US" altLang="en-US" sz="2400">
              <a:solidFill>
                <a:srgbClr val="002060"/>
              </a:solidFill>
              <a:latin typeface="Cambria" panose="02040503050406030204" charset="0"/>
              <a:cs typeface="Cambria" panose="02040503050406030204" charset="0"/>
            </a:endParaRPr>
          </a:p>
        </p:txBody>
      </p:sp>
      <p:sp>
        <p:nvSpPr>
          <p:cNvPr id="2" name="Text Box 1"/>
          <p:cNvSpPr txBox="1"/>
          <p:nvPr/>
        </p:nvSpPr>
        <p:spPr>
          <a:xfrm>
            <a:off x="-635" y="805180"/>
            <a:ext cx="12192000" cy="2480310"/>
          </a:xfrm>
          <a:prstGeom prst="rect">
            <a:avLst/>
          </a:prstGeom>
          <a:noFill/>
        </p:spPr>
        <p:txBody>
          <a:bodyPr wrap="square" rtlCol="0">
            <a:noAutofit/>
          </a:bodyPr>
          <a:p>
            <a:r>
              <a:rPr lang="en-US" altLang="en-US" sz="2100">
                <a:solidFill>
                  <a:srgbClr val="002060"/>
                </a:solidFill>
                <a:latin typeface="Cambria" panose="02040503050406030204" charset="0"/>
                <a:cs typeface="Cambria" panose="02040503050406030204" charset="0"/>
              </a:rPr>
              <a:t>QUERY:- Create a view to display the total successful revenue generated by each airline.</a:t>
            </a:r>
            <a:endParaRPr lang="en-US" altLang="en-US" sz="2100">
              <a:solidFill>
                <a:srgbClr val="002060"/>
              </a:solidFill>
              <a:latin typeface="Cambria" panose="02040503050406030204" charset="0"/>
              <a:cs typeface="Cambria" panose="02040503050406030204" charset="0"/>
            </a:endParaRPr>
          </a:p>
          <a:p>
            <a:r>
              <a:rPr lang="en-US" altLang="en-US" sz="2100">
                <a:solidFill>
                  <a:srgbClr val="002060"/>
                </a:solidFill>
                <a:latin typeface="Cambria" panose="02040503050406030204" charset="0"/>
                <a:cs typeface="Cambria" panose="02040503050406030204" charset="0"/>
              </a:rPr>
              <a:t>SYNTAX:- CREATE VIEW Airline_Revenue_Report AS</a:t>
            </a:r>
            <a:endParaRPr lang="en-US" altLang="en-US" sz="2100">
              <a:solidFill>
                <a:srgbClr val="002060"/>
              </a:solidFill>
              <a:latin typeface="Cambria" panose="02040503050406030204" charset="0"/>
              <a:cs typeface="Cambria" panose="02040503050406030204" charset="0"/>
            </a:endParaRPr>
          </a:p>
          <a:p>
            <a:r>
              <a:rPr lang="en-US" altLang="en-US" sz="2100">
                <a:solidFill>
                  <a:srgbClr val="002060"/>
                </a:solidFill>
                <a:latin typeface="Cambria" panose="02040503050406030204" charset="0"/>
                <a:cs typeface="Cambria" panose="02040503050406030204" charset="0"/>
              </a:rPr>
              <a:t>SELECT a.airline_name, SUM(pay.amount) AS total_revenue FROM Airlines a INNER JOIN Flights f ON a.airline_id = f.airline_id INNER JOIN Tickets t ON f.flight_id = t.flight_id INNER JOIN Payments pay ON t.ticket_id = pay.ticket_id WHERE pay.payment_status = 'Success' GROUP BY a.airline_name;</a:t>
            </a:r>
            <a:endParaRPr lang="en-US" altLang="en-US" sz="2100">
              <a:solidFill>
                <a:srgbClr val="002060"/>
              </a:solidFill>
              <a:latin typeface="Cambria" panose="02040503050406030204" charset="0"/>
              <a:cs typeface="Cambria" panose="02040503050406030204" charset="0"/>
            </a:endParaRPr>
          </a:p>
          <a:p>
            <a:r>
              <a:rPr lang="en-US" altLang="en-US" sz="2100" u="sng">
                <a:solidFill>
                  <a:srgbClr val="002060"/>
                </a:solidFill>
                <a:latin typeface="Cambria" panose="02040503050406030204" charset="0"/>
                <a:cs typeface="Cambria" panose="02040503050406030204" charset="0"/>
              </a:rPr>
              <a:t>SELECT * FROM Airline_Revenue_Report;</a:t>
            </a:r>
            <a:endParaRPr lang="en-US" altLang="en-US" sz="2100" u="sng">
              <a:solidFill>
                <a:srgbClr val="002060"/>
              </a:solidFill>
              <a:latin typeface="Cambria" panose="02040503050406030204" charset="0"/>
              <a:cs typeface="Cambria" panose="02040503050406030204" charset="0"/>
            </a:endParaRPr>
          </a:p>
        </p:txBody>
      </p:sp>
      <p:pic>
        <p:nvPicPr>
          <p:cNvPr id="6" name="Picture 5"/>
          <p:cNvPicPr>
            <a:picLocks noChangeAspect="1"/>
          </p:cNvPicPr>
          <p:nvPr/>
        </p:nvPicPr>
        <p:blipFill>
          <a:blip r:embed="rId2"/>
          <a:stretch>
            <a:fillRect/>
          </a:stretch>
        </p:blipFill>
        <p:spPr>
          <a:xfrm>
            <a:off x="0" y="2807970"/>
            <a:ext cx="12190730" cy="4050030"/>
          </a:xfrm>
          <a:prstGeom prst="rect">
            <a:avLst/>
          </a:prstGeom>
        </p:spPr>
      </p:pic>
    </p:spTree>
    <p:custDataLst>
      <p:tags r:id="rId3"/>
    </p:custData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a:xfrm>
            <a:off x="-635" y="-635"/>
            <a:ext cx="12192000" cy="805815"/>
          </a:xfrm>
        </p:spPr>
        <p:style>
          <a:lnRef idx="2">
            <a:schemeClr val="accent1"/>
          </a:lnRef>
          <a:fillRef idx="2">
            <a:schemeClr val="accent1"/>
          </a:fillRef>
          <a:effectRef idx="0">
            <a:srgbClr val="FFFFFF"/>
          </a:effectRef>
          <a:fontRef idx="minor">
            <a:schemeClr val="lt1"/>
          </a:fontRef>
        </p:style>
        <p:txBody>
          <a:bodyPr/>
          <a:p>
            <a:pPr algn="ctr"/>
            <a:r>
              <a:rPr lang="en-US" altLang="en-US" sz="4000" b="1">
                <a:solidFill>
                  <a:srgbClr val="002060"/>
                </a:solidFill>
                <a:latin typeface="Cambria" panose="02040503050406030204" charset="0"/>
                <a:cs typeface="Cambria" panose="02040503050406030204" charset="0"/>
              </a:rPr>
              <a:t>VIEW 3</a:t>
            </a:r>
            <a:endParaRPr lang="en-US" altLang="en-US" sz="4000" b="1">
              <a:solidFill>
                <a:srgbClr val="002060"/>
              </a:solidFill>
              <a:latin typeface="Cambria" panose="02040503050406030204" charset="0"/>
              <a:cs typeface="Cambria" panose="02040503050406030204" charset="0"/>
            </a:endParaRPr>
          </a:p>
        </p:txBody>
      </p:sp>
      <p:sp>
        <p:nvSpPr>
          <p:cNvPr id="3" name="Text Box 2"/>
          <p:cNvSpPr txBox="1"/>
          <p:nvPr/>
        </p:nvSpPr>
        <p:spPr>
          <a:xfrm>
            <a:off x="6470650" y="1130300"/>
            <a:ext cx="5721350" cy="5727700"/>
          </a:xfrm>
          <a:prstGeom prst="rect">
            <a:avLst/>
          </a:prstGeom>
          <a:noFill/>
        </p:spPr>
        <p:txBody>
          <a:bodyPr wrap="square" rtlCol="0">
            <a:noAutofit/>
          </a:bodyPr>
          <a:p>
            <a:endParaRPr lang="en-US" altLang="en-US" sz="2400">
              <a:solidFill>
                <a:srgbClr val="002060"/>
              </a:solidFill>
              <a:latin typeface="Cambria" panose="02040503050406030204" charset="0"/>
              <a:cs typeface="Cambria" panose="02040503050406030204" charset="0"/>
            </a:endParaRPr>
          </a:p>
        </p:txBody>
      </p:sp>
      <p:sp>
        <p:nvSpPr>
          <p:cNvPr id="2" name="Text Box 1"/>
          <p:cNvSpPr txBox="1"/>
          <p:nvPr/>
        </p:nvSpPr>
        <p:spPr>
          <a:xfrm>
            <a:off x="-635" y="805180"/>
            <a:ext cx="12192000" cy="2480310"/>
          </a:xfrm>
          <a:prstGeom prst="rect">
            <a:avLst/>
          </a:prstGeom>
          <a:noFill/>
        </p:spPr>
        <p:txBody>
          <a:bodyPr wrap="square" rtlCol="0">
            <a:noAutofit/>
          </a:bodyPr>
          <a:p>
            <a:r>
              <a:rPr lang="en-US" altLang="en-US" sz="2100">
                <a:solidFill>
                  <a:srgbClr val="002060"/>
                </a:solidFill>
                <a:latin typeface="Cambria" panose="02040503050406030204" charset="0"/>
                <a:cs typeface="Cambria" panose="02040503050406030204" charset="0"/>
              </a:rPr>
              <a:t>QUERY:- Create a view to display delayed flights with airline name and delay reason.</a:t>
            </a:r>
            <a:endParaRPr lang="en-US" altLang="en-US" sz="2100">
              <a:solidFill>
                <a:srgbClr val="002060"/>
              </a:solidFill>
              <a:latin typeface="Cambria" panose="02040503050406030204" charset="0"/>
              <a:cs typeface="Cambria" panose="02040503050406030204" charset="0"/>
            </a:endParaRPr>
          </a:p>
          <a:p>
            <a:r>
              <a:rPr lang="en-US" altLang="en-US" sz="2100">
                <a:solidFill>
                  <a:srgbClr val="002060"/>
                </a:solidFill>
                <a:latin typeface="Cambria" panose="02040503050406030204" charset="0"/>
                <a:cs typeface="Cambria" panose="02040503050406030204" charset="0"/>
              </a:rPr>
              <a:t>SYNTAX:- CREATE VIEW Flight_Delay_Report AS</a:t>
            </a:r>
            <a:endParaRPr lang="en-US" altLang="en-US" sz="2100">
              <a:solidFill>
                <a:srgbClr val="002060"/>
              </a:solidFill>
              <a:latin typeface="Cambria" panose="02040503050406030204" charset="0"/>
              <a:cs typeface="Cambria" panose="02040503050406030204" charset="0"/>
            </a:endParaRPr>
          </a:p>
          <a:p>
            <a:r>
              <a:rPr lang="en-US" altLang="en-US" sz="2100">
                <a:solidFill>
                  <a:srgbClr val="002060"/>
                </a:solidFill>
                <a:latin typeface="Cambria" panose="02040503050406030204" charset="0"/>
                <a:cs typeface="Cambria" panose="02040503050406030204" charset="0"/>
              </a:rPr>
              <a:t>SELECT a.airline_name, f.flight_number, d.delay_minutes, d.delay_reason FROM Delays d</a:t>
            </a:r>
            <a:endParaRPr lang="en-US" altLang="en-US" sz="2100">
              <a:solidFill>
                <a:srgbClr val="002060"/>
              </a:solidFill>
              <a:latin typeface="Cambria" panose="02040503050406030204" charset="0"/>
              <a:cs typeface="Cambria" panose="02040503050406030204" charset="0"/>
            </a:endParaRPr>
          </a:p>
          <a:p>
            <a:r>
              <a:rPr lang="en-US" altLang="en-US" sz="2100">
                <a:solidFill>
                  <a:srgbClr val="002060"/>
                </a:solidFill>
                <a:latin typeface="Cambria" panose="02040503050406030204" charset="0"/>
                <a:cs typeface="Cambria" panose="02040503050406030204" charset="0"/>
              </a:rPr>
              <a:t>INNER JOIN Flights f ON d.flight_id = f.flight_id </a:t>
            </a:r>
            <a:endParaRPr lang="en-US" altLang="en-US" sz="2100">
              <a:solidFill>
                <a:srgbClr val="002060"/>
              </a:solidFill>
              <a:latin typeface="Cambria" panose="02040503050406030204" charset="0"/>
              <a:cs typeface="Cambria" panose="02040503050406030204" charset="0"/>
            </a:endParaRPr>
          </a:p>
          <a:p>
            <a:r>
              <a:rPr lang="en-US" altLang="en-US" sz="2100">
                <a:solidFill>
                  <a:srgbClr val="002060"/>
                </a:solidFill>
                <a:latin typeface="Cambria" panose="02040503050406030204" charset="0"/>
                <a:cs typeface="Cambria" panose="02040503050406030204" charset="0"/>
              </a:rPr>
              <a:t>INNER JOIN Airlines a ON f.airline_id = a.airline_id;</a:t>
            </a:r>
            <a:endParaRPr lang="en-US" altLang="en-US" sz="2100">
              <a:solidFill>
                <a:srgbClr val="002060"/>
              </a:solidFill>
              <a:latin typeface="Cambria" panose="02040503050406030204" charset="0"/>
              <a:cs typeface="Cambria" panose="02040503050406030204" charset="0"/>
            </a:endParaRPr>
          </a:p>
          <a:p>
            <a:r>
              <a:rPr lang="en-US" altLang="en-US" sz="2100" u="sng">
                <a:solidFill>
                  <a:srgbClr val="002060"/>
                </a:solidFill>
                <a:latin typeface="Cambria" panose="02040503050406030204" charset="0"/>
                <a:cs typeface="Cambria" panose="02040503050406030204" charset="0"/>
              </a:rPr>
              <a:t>SELECT * FROM Flight_Delay_Report;</a:t>
            </a:r>
            <a:endParaRPr lang="en-US" altLang="en-US" sz="2100" u="sng">
              <a:solidFill>
                <a:srgbClr val="002060"/>
              </a:solidFill>
              <a:latin typeface="Cambria" panose="02040503050406030204" charset="0"/>
              <a:cs typeface="Cambria" panose="02040503050406030204" charset="0"/>
            </a:endParaRPr>
          </a:p>
        </p:txBody>
      </p:sp>
      <p:pic>
        <p:nvPicPr>
          <p:cNvPr id="6" name="Picture 5"/>
          <p:cNvPicPr>
            <a:picLocks noChangeAspect="1"/>
          </p:cNvPicPr>
          <p:nvPr/>
        </p:nvPicPr>
        <p:blipFill>
          <a:blip r:embed="rId2"/>
          <a:stretch>
            <a:fillRect/>
          </a:stretch>
        </p:blipFill>
        <p:spPr>
          <a:xfrm>
            <a:off x="0" y="2825750"/>
            <a:ext cx="12192000" cy="4032250"/>
          </a:xfrm>
          <a:prstGeom prst="rect">
            <a:avLst/>
          </a:prstGeom>
        </p:spPr>
      </p:pic>
    </p:spTree>
    <p:custDataLst>
      <p:tags r:id="rId3"/>
    </p:custData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descr="ChatGPT Image Aug 5, 2026, 11_40_51 PM"/>
          <p:cNvPicPr>
            <a:picLocks noChangeAspect="1"/>
          </p:cNvPicPr>
          <p:nvPr/>
        </p:nvPicPr>
        <p:blipFill>
          <a:blip r:embed="rId1"/>
          <a:stretch>
            <a:fillRect/>
          </a:stretch>
        </p:blipFill>
        <p:spPr>
          <a:xfrm>
            <a:off x="0" y="1905"/>
            <a:ext cx="12192635" cy="6854190"/>
          </a:xfrm>
          <a:prstGeom prst="rect">
            <a:avLst/>
          </a:prstGeom>
        </p:spPr>
      </p:pic>
    </p:spTree>
    <p:custDataLst>
      <p:tags r:id="rId2"/>
    </p:custData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Picture 2" descr="ChatGPT Image Aug 5, 2026, 11_29_12 PM"/>
          <p:cNvPicPr>
            <a:picLocks noChangeAspect="1"/>
          </p:cNvPicPr>
          <p:nvPr/>
        </p:nvPicPr>
        <p:blipFill>
          <a:blip r:embed="rId1"/>
          <a:stretch>
            <a:fillRect/>
          </a:stretch>
        </p:blipFill>
        <p:spPr>
          <a:xfrm>
            <a:off x="0" y="0"/>
            <a:ext cx="12192635" cy="6858000"/>
          </a:xfrm>
          <a:prstGeom prst="rect">
            <a:avLst/>
          </a:prstGeom>
        </p:spPr>
      </p:pic>
      <p:sp>
        <p:nvSpPr>
          <p:cNvPr id="4" name="Text Box 3"/>
          <p:cNvSpPr txBox="1"/>
          <p:nvPr/>
        </p:nvSpPr>
        <p:spPr>
          <a:xfrm>
            <a:off x="247015" y="2910205"/>
            <a:ext cx="5154930" cy="1047115"/>
          </a:xfrm>
          <a:prstGeom prst="rect">
            <a:avLst/>
          </a:prstGeom>
          <a:noFill/>
        </p:spPr>
        <p:txBody>
          <a:bodyPr wrap="square" rtlCol="0">
            <a:noAutofit/>
          </a:bodyPr>
          <a:p>
            <a:pPr algn="l"/>
            <a:r>
              <a:rPr lang="en-US" sz="6500" b="1">
                <a:solidFill>
                  <a:schemeClr val="bg1"/>
                </a:solidFill>
                <a:latin typeface="Cambria" panose="02040503050406030204" charset="0"/>
                <a:cs typeface="Cambria" panose="02040503050406030204" charset="0"/>
              </a:rPr>
              <a:t>THANK YOU!</a:t>
            </a:r>
            <a:endParaRPr lang="en-US" sz="6500" b="1">
              <a:solidFill>
                <a:schemeClr val="bg1"/>
              </a:solidFill>
              <a:latin typeface="Cambria" panose="02040503050406030204" charset="0"/>
              <a:cs typeface="Cambria" panose="02040503050406030204" charset="0"/>
            </a:endParaRPr>
          </a:p>
        </p:txBody>
      </p:sp>
    </p:spTree>
    <p:custDataLst>
      <p:tags r:id="rId2"/>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4.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12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26.xml><?xml version="1.0" encoding="utf-8"?>
<p:tagLst xmlns:p="http://schemas.openxmlformats.org/presentationml/2006/main">
  <p:tag name="KSO_WM_BEAUTIFY_FLAG" val="#wm#"/>
  <p:tag name="KSO_WM_TEMPLATE_CATEGORY" val="custom"/>
  <p:tag name="KSO_WM_TEMPLATE_INDEX" val="20205081"/>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9.xml><?xml version="1.0" encoding="utf-8"?>
<p:tagLst xmlns:p="http://schemas.openxmlformats.org/presentationml/2006/main">
  <p:tag name="KSO_WM_BEAUTIFY_FLAG" val="#wm#"/>
  <p:tag name="KSO_WM_TEMPLATE_CATEGORY" val="custom"/>
  <p:tag name="KSO_WM_TEMPLATE_INDEX" val="20205081"/>
</p:tagLst>
</file>

<file path=ppt/tags/tag130.xml><?xml version="1.0" encoding="utf-8"?>
<p:tagLst xmlns:p="http://schemas.openxmlformats.org/presentationml/2006/main">
  <p:tag name="KSO_WM_BEAUTIFY_FLAG" val="#wm#"/>
  <p:tag name="KSO_WM_TEMPLATE_CATEGORY" val="custom"/>
  <p:tag name="KSO_WM_TEMPLATE_INDEX" val="20205081"/>
  <p:tag name="KSO_WM_AICARD_INVALID" val="Invalid"/>
</p:tagLst>
</file>

<file path=ppt/tags/tag1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32.xml><?xml version="1.0" encoding="utf-8"?>
<p:tagLst xmlns:p="http://schemas.openxmlformats.org/presentationml/2006/main">
  <p:tag name="KSO_WM_BEAUTIFY_FLAG" val="#wm#"/>
  <p:tag name="KSO_WM_TEMPLATE_CATEGORY" val="custom"/>
  <p:tag name="KSO_WM_TEMPLATE_INDEX" val="20205081"/>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34.xml><?xml version="1.0" encoding="utf-8"?>
<p:tagLst xmlns:p="http://schemas.openxmlformats.org/presentationml/2006/main">
  <p:tag name="KSO_WM_BEAUTIFY_FLAG" val="#wm#"/>
  <p:tag name="KSO_WM_TEMPLATE_CATEGORY" val="custom"/>
  <p:tag name="KSO_WM_TEMPLATE_INDEX" val="20205081"/>
</p:tagLst>
</file>

<file path=ppt/tags/tag1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36.xml><?xml version="1.0" encoding="utf-8"?>
<p:tagLst xmlns:p="http://schemas.openxmlformats.org/presentationml/2006/main">
  <p:tag name="KSO_WM_BEAUTIFY_FLAG" val="#wm#"/>
  <p:tag name="KSO_WM_TEMPLATE_CATEGORY" val="custom"/>
  <p:tag name="KSO_WM_TEMPLATE_INDEX" val="20205081"/>
</p:tagLst>
</file>

<file path=ppt/tags/tag1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38.xml><?xml version="1.0" encoding="utf-8"?>
<p:tagLst xmlns:p="http://schemas.openxmlformats.org/presentationml/2006/main">
  <p:tag name="KSO_WM_BEAUTIFY_FLAG" val="#wm#"/>
  <p:tag name="KSO_WM_TEMPLATE_CATEGORY" val="custom"/>
  <p:tag name="KSO_WM_TEMPLATE_INDEX" val="20205081"/>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40.xml><?xml version="1.0" encoding="utf-8"?>
<p:tagLst xmlns:p="http://schemas.openxmlformats.org/presentationml/2006/main">
  <p:tag name="KSO_WM_BEAUTIFY_FLAG" val="#wm#"/>
  <p:tag name="KSO_WM_TEMPLATE_CATEGORY" val="custom"/>
  <p:tag name="KSO_WM_TEMPLATE_INDEX" val="20205081"/>
</p:tagLst>
</file>

<file path=ppt/tags/tag1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42.xml><?xml version="1.0" encoding="utf-8"?>
<p:tagLst xmlns:p="http://schemas.openxmlformats.org/presentationml/2006/main">
  <p:tag name="KSO_WM_BEAUTIFY_FLAG" val="#wm#"/>
  <p:tag name="KSO_WM_TEMPLATE_CATEGORY" val="custom"/>
  <p:tag name="KSO_WM_TEMPLATE_INDEX" val="20205081"/>
</p:tagLst>
</file>

<file path=ppt/tags/tag1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44.xml><?xml version="1.0" encoding="utf-8"?>
<p:tagLst xmlns:p="http://schemas.openxmlformats.org/presentationml/2006/main">
  <p:tag name="KSO_WM_BEAUTIFY_FLAG" val="#wm#"/>
  <p:tag name="KSO_WM_TEMPLATE_CATEGORY" val="custom"/>
  <p:tag name="KSO_WM_TEMPLATE_INDEX" val="20205081"/>
</p:tagLst>
</file>

<file path=ppt/tags/tag1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46.xml><?xml version="1.0" encoding="utf-8"?>
<p:tagLst xmlns:p="http://schemas.openxmlformats.org/presentationml/2006/main">
  <p:tag name="KSO_WM_BEAUTIFY_FLAG" val="#wm#"/>
  <p:tag name="KSO_WM_TEMPLATE_CATEGORY" val="custom"/>
  <p:tag name="KSO_WM_TEMPLATE_INDEX" val="20205081"/>
</p:tagLst>
</file>

<file path=ppt/tags/tag1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48.xml><?xml version="1.0" encoding="utf-8"?>
<p:tagLst xmlns:p="http://schemas.openxmlformats.org/presentationml/2006/main">
  <p:tag name="KSO_WM_BEAUTIFY_FLAG" val="#wm#"/>
  <p:tag name="KSO_WM_TEMPLATE_CATEGORY" val="custom"/>
  <p:tag name="KSO_WM_TEMPLATE_INDEX" val="20205081"/>
</p:tagLst>
</file>

<file path=ppt/tags/tag1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50.xml><?xml version="1.0" encoding="utf-8"?>
<p:tagLst xmlns:p="http://schemas.openxmlformats.org/presentationml/2006/main">
  <p:tag name="KSO_WM_BEAUTIFY_FLAG" val="#wm#"/>
  <p:tag name="KSO_WM_TEMPLATE_CATEGORY" val="custom"/>
  <p:tag name="KSO_WM_TEMPLATE_INDEX" val="20205081"/>
</p:tagLst>
</file>

<file path=ppt/tags/tag151.xml><?xml version="1.0" encoding="utf-8"?>
<p:tagLst xmlns:p="http://schemas.openxmlformats.org/presentationml/2006/main">
  <p:tag name="KSO_WM_BEAUTIFY_FLAG" val="#wm#"/>
  <p:tag name="KSO_WM_TEMPLATE_CATEGORY" val="custom"/>
  <p:tag name="KSO_WM_TEMPLATE_INDEX" val="20205081"/>
  <p:tag name="KSO_WM_AICARD_INVALID" val="Invalid"/>
</p:tagLst>
</file>

<file path=ppt/tags/tag1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53.xml><?xml version="1.0" encoding="utf-8"?>
<p:tagLst xmlns:p="http://schemas.openxmlformats.org/presentationml/2006/main">
  <p:tag name="KSO_WM_BEAUTIFY_FLAG" val="#wm#"/>
  <p:tag name="KSO_WM_TEMPLATE_CATEGORY" val="custom"/>
  <p:tag name="KSO_WM_TEMPLATE_INDEX" val="20205081"/>
</p:tagLst>
</file>

<file path=ppt/tags/tag1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55.xml><?xml version="1.0" encoding="utf-8"?>
<p:tagLst xmlns:p="http://schemas.openxmlformats.org/presentationml/2006/main">
  <p:tag name="KSO_WM_BEAUTIFY_FLAG" val="#wm#"/>
  <p:tag name="KSO_WM_TEMPLATE_CATEGORY" val="custom"/>
  <p:tag name="KSO_WM_TEMPLATE_INDEX" val="20205081"/>
</p:tagLst>
</file>

<file path=ppt/tags/tag1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57.xml><?xml version="1.0" encoding="utf-8"?>
<p:tagLst xmlns:p="http://schemas.openxmlformats.org/presentationml/2006/main">
  <p:tag name="KSO_WM_BEAUTIFY_FLAG" val="#wm#"/>
  <p:tag name="KSO_WM_TEMPLATE_CATEGORY" val="custom"/>
  <p:tag name="KSO_WM_TEMPLATE_INDEX" val="20205081"/>
</p:tagLst>
</file>

<file path=ppt/tags/tag1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59.xml><?xml version="1.0" encoding="utf-8"?>
<p:tagLst xmlns:p="http://schemas.openxmlformats.org/presentationml/2006/main">
  <p:tag name="KSO_WM_BEAUTIFY_FLAG" val="#wm#"/>
  <p:tag name="KSO_WM_TEMPLATE_CATEGORY" val="custom"/>
  <p:tag name="KSO_WM_TEMPLATE_INDEX" val="20205081"/>
</p:tagLst>
</file>

<file path=ppt/tags/tag1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61.xml><?xml version="1.0" encoding="utf-8"?>
<p:tagLst xmlns:p="http://schemas.openxmlformats.org/presentationml/2006/main">
  <p:tag name="KSO_WM_BEAUTIFY_FLAG" val="#wm#"/>
  <p:tag name="KSO_WM_TEMPLATE_CATEGORY" val="custom"/>
  <p:tag name="KSO_WM_TEMPLATE_INDEX" val="20205081"/>
</p:tagLst>
</file>

<file path=ppt/tags/tag1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63.xml><?xml version="1.0" encoding="utf-8"?>
<p:tagLst xmlns:p="http://schemas.openxmlformats.org/presentationml/2006/main">
  <p:tag name="KSO_WM_BEAUTIFY_FLAG" val="#wm#"/>
  <p:tag name="KSO_WM_TEMPLATE_CATEGORY" val="custom"/>
  <p:tag name="KSO_WM_TEMPLATE_INDEX" val="20205081"/>
</p:tagLst>
</file>

<file path=ppt/tags/tag1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65.xml><?xml version="1.0" encoding="utf-8"?>
<p:tagLst xmlns:p="http://schemas.openxmlformats.org/presentationml/2006/main">
  <p:tag name="KSO_WM_BEAUTIFY_FLAG" val="#wm#"/>
  <p:tag name="KSO_WM_TEMPLATE_CATEGORY" val="custom"/>
  <p:tag name="KSO_WM_TEMPLATE_INDEX" val="20205081"/>
</p:tagLst>
</file>

<file path=ppt/tags/tag1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67.xml><?xml version="1.0" encoding="utf-8"?>
<p:tagLst xmlns:p="http://schemas.openxmlformats.org/presentationml/2006/main">
  <p:tag name="KSO_WM_BEAUTIFY_FLAG" val="#wm#"/>
  <p:tag name="KSO_WM_TEMPLATE_CATEGORY" val="custom"/>
  <p:tag name="KSO_WM_TEMPLATE_INDEX" val="20205081"/>
</p:tagLst>
</file>

<file path=ppt/tags/tag1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69.xml><?xml version="1.0" encoding="utf-8"?>
<p:tagLst xmlns:p="http://schemas.openxmlformats.org/presentationml/2006/main">
  <p:tag name="KSO_WM_BEAUTIFY_FLAG" val="#wm#"/>
  <p:tag name="KSO_WM_TEMPLATE_CATEGORY" val="custom"/>
  <p:tag name="KSO_WM_TEMPLATE_INDEX" val="20205081"/>
</p:tagLst>
</file>

<file path=ppt/tags/tag1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71.xml><?xml version="1.0" encoding="utf-8"?>
<p:tagLst xmlns:p="http://schemas.openxmlformats.org/presentationml/2006/main">
  <p:tag name="KSO_WM_BEAUTIFY_FLAG" val="#wm#"/>
  <p:tag name="KSO_WM_TEMPLATE_CATEGORY" val="custom"/>
  <p:tag name="KSO_WM_TEMPLATE_INDEX" val="20205081"/>
</p:tagLst>
</file>

<file path=ppt/tags/tag172.xml><?xml version="1.0" encoding="utf-8"?>
<p:tagLst xmlns:p="http://schemas.openxmlformats.org/presentationml/2006/main">
  <p:tag name="KSO_WM_BEAUTIFY_FLAG" val="#wm#"/>
  <p:tag name="KSO_WM_TEMPLATE_CATEGORY" val="custom"/>
  <p:tag name="KSO_WM_TEMPLATE_INDEX" val="20205081"/>
  <p:tag name="KSO_WM_AICARD_INVALID" val="Invalid"/>
</p:tagLst>
</file>

<file path=ppt/tags/tag1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74.xml><?xml version="1.0" encoding="utf-8"?>
<p:tagLst xmlns:p="http://schemas.openxmlformats.org/presentationml/2006/main">
  <p:tag name="KSO_WM_BEAUTIFY_FLAG" val="#wm#"/>
  <p:tag name="KSO_WM_TEMPLATE_CATEGORY" val="custom"/>
  <p:tag name="KSO_WM_TEMPLATE_INDEX" val="20205081"/>
</p:tagLst>
</file>

<file path=ppt/tags/tag1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76.xml><?xml version="1.0" encoding="utf-8"?>
<p:tagLst xmlns:p="http://schemas.openxmlformats.org/presentationml/2006/main">
  <p:tag name="KSO_WM_BEAUTIFY_FLAG" val="#wm#"/>
  <p:tag name="KSO_WM_TEMPLATE_CATEGORY" val="custom"/>
  <p:tag name="KSO_WM_TEMPLATE_INDEX" val="20205081"/>
</p:tagLst>
</file>

<file path=ppt/tags/tag1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78.xml><?xml version="1.0" encoding="utf-8"?>
<p:tagLst xmlns:p="http://schemas.openxmlformats.org/presentationml/2006/main">
  <p:tag name="KSO_WM_BEAUTIFY_FLAG" val="#wm#"/>
  <p:tag name="KSO_WM_TEMPLATE_CATEGORY" val="custom"/>
  <p:tag name="KSO_WM_TEMPLATE_INDEX" val="20205081"/>
</p:tagLst>
</file>

<file path=ppt/tags/tag1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80.xml><?xml version="1.0" encoding="utf-8"?>
<p:tagLst xmlns:p="http://schemas.openxmlformats.org/presentationml/2006/main">
  <p:tag name="KSO_WM_BEAUTIFY_FLAG" val="#wm#"/>
  <p:tag name="KSO_WM_TEMPLATE_CATEGORY" val="custom"/>
  <p:tag name="KSO_WM_TEMPLATE_INDEX" val="20205081"/>
</p:tagLst>
</file>

<file path=ppt/tags/tag1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82.xml><?xml version="1.0" encoding="utf-8"?>
<p:tagLst xmlns:p="http://schemas.openxmlformats.org/presentationml/2006/main">
  <p:tag name="KSO_WM_BEAUTIFY_FLAG" val="#wm#"/>
  <p:tag name="KSO_WM_TEMPLATE_CATEGORY" val="custom"/>
  <p:tag name="KSO_WM_TEMPLATE_INDEX" val="20205081"/>
</p:tagLst>
</file>

<file path=ppt/tags/tag1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84.xml><?xml version="1.0" encoding="utf-8"?>
<p:tagLst xmlns:p="http://schemas.openxmlformats.org/presentationml/2006/main">
  <p:tag name="KSO_WM_BEAUTIFY_FLAG" val="#wm#"/>
  <p:tag name="KSO_WM_TEMPLATE_CATEGORY" val="custom"/>
  <p:tag name="KSO_WM_TEMPLATE_INDEX" val="20205081"/>
</p:tagLst>
</file>

<file path=ppt/tags/tag1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86.xml><?xml version="1.0" encoding="utf-8"?>
<p:tagLst xmlns:p="http://schemas.openxmlformats.org/presentationml/2006/main">
  <p:tag name="KSO_WM_BEAUTIFY_FLAG" val="#wm#"/>
  <p:tag name="KSO_WM_TEMPLATE_CATEGORY" val="custom"/>
  <p:tag name="KSO_WM_TEMPLATE_INDEX" val="20205081"/>
</p:tagLst>
</file>

<file path=ppt/tags/tag1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88.xml><?xml version="1.0" encoding="utf-8"?>
<p:tagLst xmlns:p="http://schemas.openxmlformats.org/presentationml/2006/main">
  <p:tag name="KSO_WM_BEAUTIFY_FLAG" val="#wm#"/>
  <p:tag name="KSO_WM_TEMPLATE_CATEGORY" val="custom"/>
  <p:tag name="KSO_WM_TEMPLATE_INDEX" val="20205081"/>
</p:tagLst>
</file>

<file path=ppt/tags/tag1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90.xml><?xml version="1.0" encoding="utf-8"?>
<p:tagLst xmlns:p="http://schemas.openxmlformats.org/presentationml/2006/main">
  <p:tag name="KSO_WM_BEAUTIFY_FLAG" val="#wm#"/>
  <p:tag name="KSO_WM_TEMPLATE_CATEGORY" val="custom"/>
  <p:tag name="KSO_WM_TEMPLATE_INDEX" val="20205081"/>
</p:tagLst>
</file>

<file path=ppt/tags/tag1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92.xml><?xml version="1.0" encoding="utf-8"?>
<p:tagLst xmlns:p="http://schemas.openxmlformats.org/presentationml/2006/main">
  <p:tag name="KSO_WM_BEAUTIFY_FLAG" val="#wm#"/>
  <p:tag name="KSO_WM_TEMPLATE_CATEGORY" val="custom"/>
  <p:tag name="KSO_WM_TEMPLATE_INDEX" val="20205081"/>
</p:tagLst>
</file>

<file path=ppt/tags/tag1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94.xml><?xml version="1.0" encoding="utf-8"?>
<p:tagLst xmlns:p="http://schemas.openxmlformats.org/presentationml/2006/main">
  <p:tag name="KSO_WM_BEAUTIFY_FLAG" val="#wm#"/>
  <p:tag name="KSO_WM_TEMPLATE_CATEGORY" val="custom"/>
  <p:tag name="KSO_WM_TEMPLATE_INDEX" val="20205081"/>
</p:tagLst>
</file>

<file path=ppt/tags/tag195.xml><?xml version="1.0" encoding="utf-8"?>
<p:tagLst xmlns:p="http://schemas.openxmlformats.org/presentationml/2006/main">
  <p:tag name="KSO_WM_BEAUTIFY_FLAG" val="#wm#"/>
  <p:tag name="KSO_WM_TEMPLATE_CATEGORY" val="custom"/>
  <p:tag name="KSO_WM_TEMPLATE_INDEX" val="20205081"/>
  <p:tag name="KSO_WM_AICARD_INVALID" val="Invalid"/>
</p:tagLst>
</file>

<file path=ppt/tags/tag1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97.xml><?xml version="1.0" encoding="utf-8"?>
<p:tagLst xmlns:p="http://schemas.openxmlformats.org/presentationml/2006/main">
  <p:tag name="KSO_WM_BEAUTIFY_FLAG" val="#wm#"/>
  <p:tag name="KSO_WM_TEMPLATE_CATEGORY" val="custom"/>
  <p:tag name="KSO_WM_TEMPLATE_INDEX" val="20205081"/>
</p:tagLst>
</file>

<file path=ppt/tags/tag1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99.xml><?xml version="1.0" encoding="utf-8"?>
<p:tagLst xmlns:p="http://schemas.openxmlformats.org/presentationml/2006/main">
  <p:tag name="KSO_WM_BEAUTIFY_FLAG" val="#wm#"/>
  <p:tag name="KSO_WM_TEMPLATE_CATEGORY" val="custom"/>
  <p:tag name="KSO_WM_TEMPLATE_INDEX" val="20205081"/>
</p:tagLst>
</file>

<file path=ppt/tags/tag2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01.xml><?xml version="1.0" encoding="utf-8"?>
<p:tagLst xmlns:p="http://schemas.openxmlformats.org/presentationml/2006/main">
  <p:tag name="KSO_WM_BEAUTIFY_FLAG" val="#wm#"/>
  <p:tag name="KSO_WM_TEMPLATE_CATEGORY" val="custom"/>
  <p:tag name="KSO_WM_TEMPLATE_INDEX" val="20205081"/>
</p:tagLst>
</file>

<file path=ppt/tags/tag2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03.xml><?xml version="1.0" encoding="utf-8"?>
<p:tagLst xmlns:p="http://schemas.openxmlformats.org/presentationml/2006/main">
  <p:tag name="KSO_WM_BEAUTIFY_FLAG" val="#wm#"/>
  <p:tag name="KSO_WM_TEMPLATE_CATEGORY" val="custom"/>
  <p:tag name="KSO_WM_TEMPLATE_INDEX" val="20205081"/>
</p:tagLst>
</file>

<file path=ppt/tags/tag204.xml><?xml version="1.0" encoding="utf-8"?>
<p:tagLst xmlns:p="http://schemas.openxmlformats.org/presentationml/2006/main">
  <p:tag name="KSO_WM_BEAUTIFY_FLAG" val="#wm#"/>
  <p:tag name="KSO_WM_TEMPLATE_CATEGORY" val="custom"/>
  <p:tag name="KSO_WM_TEMPLATE_INDEX" val="20205081"/>
  <p:tag name="KSO_WM_AICARD_INVALID" val="Invalid"/>
</p:tagLst>
</file>

<file path=ppt/tags/tag2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06.xml><?xml version="1.0" encoding="utf-8"?>
<p:tagLst xmlns:p="http://schemas.openxmlformats.org/presentationml/2006/main">
  <p:tag name="KSO_WM_BEAUTIFY_FLAG" val="#wm#"/>
  <p:tag name="KSO_WM_TEMPLATE_CATEGORY" val="custom"/>
  <p:tag name="KSO_WM_TEMPLATE_INDEX" val="20205081"/>
</p:tagLst>
</file>

<file path=ppt/tags/tag2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08.xml><?xml version="1.0" encoding="utf-8"?>
<p:tagLst xmlns:p="http://schemas.openxmlformats.org/presentationml/2006/main">
  <p:tag name="KSO_WM_BEAUTIFY_FLAG" val="#wm#"/>
  <p:tag name="KSO_WM_TEMPLATE_CATEGORY" val="custom"/>
  <p:tag name="KSO_WM_TEMPLATE_INDEX" val="20205081"/>
</p:tagLst>
</file>

<file path=ppt/tags/tag2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10.xml><?xml version="1.0" encoding="utf-8"?>
<p:tagLst xmlns:p="http://schemas.openxmlformats.org/presentationml/2006/main">
  <p:tag name="KSO_WM_BEAUTIFY_FLAG" val="#wm#"/>
  <p:tag name="KSO_WM_TEMPLATE_CATEGORY" val="custom"/>
  <p:tag name="KSO_WM_TEMPLATE_INDEX" val="20205081"/>
</p:tagLst>
</file>

<file path=ppt/tags/tag211.xml><?xml version="1.0" encoding="utf-8"?>
<p:tagLst xmlns:p="http://schemas.openxmlformats.org/presentationml/2006/main">
  <p:tag name="KSO_WM_BEAUTIFY_FLAG" val="#wm#"/>
  <p:tag name="KSO_WM_TEMPLATE_CATEGORY" val="custom"/>
  <p:tag name="KSO_WM_TEMPLATE_INDEX" val="20205081"/>
  <p:tag name="KSO_WM_AICARD_INVALID" val="Invalid"/>
</p:tagLst>
</file>

<file path=ppt/tags/tag2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13.xml><?xml version="1.0" encoding="utf-8"?>
<p:tagLst xmlns:p="http://schemas.openxmlformats.org/presentationml/2006/main">
  <p:tag name="KSO_WM_BEAUTIFY_FLAG" val="#wm#"/>
  <p:tag name="KSO_WM_TEMPLATE_CATEGORY" val="custom"/>
  <p:tag name="KSO_WM_TEMPLATE_INDEX" val="20205081"/>
</p:tagLst>
</file>

<file path=ppt/tags/tag2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15.xml><?xml version="1.0" encoding="utf-8"?>
<p:tagLst xmlns:p="http://schemas.openxmlformats.org/presentationml/2006/main">
  <p:tag name="KSO_WM_BEAUTIFY_FLAG" val="#wm#"/>
  <p:tag name="KSO_WM_TEMPLATE_CATEGORY" val="custom"/>
  <p:tag name="KSO_WM_TEMPLATE_INDEX" val="20205081"/>
</p:tagLst>
</file>

<file path=ppt/tags/tag2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17.xml><?xml version="1.0" encoding="utf-8"?>
<p:tagLst xmlns:p="http://schemas.openxmlformats.org/presentationml/2006/main">
  <p:tag name="KSO_WM_BEAUTIFY_FLAG" val="#wm#"/>
  <p:tag name="KSO_WM_TEMPLATE_CATEGORY" val="custom"/>
  <p:tag name="KSO_WM_TEMPLATE_INDEX" val="20205081"/>
</p:tagLst>
</file>

<file path=ppt/tags/tag2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19.xml><?xml version="1.0" encoding="utf-8"?>
<p:tagLst xmlns:p="http://schemas.openxmlformats.org/presentationml/2006/main">
  <p:tag name="KSO_WM_BEAUTIFY_FLAG" val="#wm#"/>
  <p:tag name="KSO_WM_TEMPLATE_CATEGORY" val="custom"/>
  <p:tag name="KSO_WM_TEMPLATE_INDEX" val="20205081"/>
</p:tagLst>
</file>

<file path=ppt/tags/tag2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21.xml><?xml version="1.0" encoding="utf-8"?>
<p:tagLst xmlns:p="http://schemas.openxmlformats.org/presentationml/2006/main">
  <p:tag name="KSO_WM_BEAUTIFY_FLAG" val="#wm#"/>
  <p:tag name="KSO_WM_TEMPLATE_CATEGORY" val="custom"/>
  <p:tag name="KSO_WM_TEMPLATE_INDEX" val="20205081"/>
</p:tagLst>
</file>

<file path=ppt/tags/tag222.xml><?xml version="1.0" encoding="utf-8"?>
<p:tagLst xmlns:p="http://schemas.openxmlformats.org/presentationml/2006/main">
  <p:tag name="KSO_WM_BEAUTIFY_FLAG" val="#wm#"/>
  <p:tag name="KSO_WM_TEMPLATE_CATEGORY" val="custom"/>
  <p:tag name="KSO_WM_TEMPLATE_INDEX" val="20205081"/>
  <p:tag name="KSO_WM_AICARD_INVALID" val="Invalid"/>
</p:tagLst>
</file>

<file path=ppt/tags/tag2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24.xml><?xml version="1.0" encoding="utf-8"?>
<p:tagLst xmlns:p="http://schemas.openxmlformats.org/presentationml/2006/main">
  <p:tag name="KSO_WM_BEAUTIFY_FLAG" val="#wm#"/>
  <p:tag name="KSO_WM_TEMPLATE_CATEGORY" val="custom"/>
  <p:tag name="KSO_WM_TEMPLATE_INDEX" val="20205081"/>
</p:tagLst>
</file>

<file path=ppt/tags/tag2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26.xml><?xml version="1.0" encoding="utf-8"?>
<p:tagLst xmlns:p="http://schemas.openxmlformats.org/presentationml/2006/main">
  <p:tag name="KSO_WM_BEAUTIFY_FLAG" val="#wm#"/>
  <p:tag name="KSO_WM_TEMPLATE_CATEGORY" val="custom"/>
  <p:tag name="KSO_WM_TEMPLATE_INDEX" val="20205081"/>
</p:tagLst>
</file>

<file path=ppt/tags/tag2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28.xml><?xml version="1.0" encoding="utf-8"?>
<p:tagLst xmlns:p="http://schemas.openxmlformats.org/presentationml/2006/main">
  <p:tag name="KSO_WM_BEAUTIFY_FLAG" val="#wm#"/>
  <p:tag name="KSO_WM_TEMPLATE_CATEGORY" val="custom"/>
  <p:tag name="KSO_WM_TEMPLATE_INDEX" val="20205081"/>
</p:tagLst>
</file>

<file path=ppt/tags/tag2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30.xml><?xml version="1.0" encoding="utf-8"?>
<p:tagLst xmlns:p="http://schemas.openxmlformats.org/presentationml/2006/main">
  <p:tag name="KSO_WM_BEAUTIFY_FLAG" val="#wm#"/>
  <p:tag name="KSO_WM_TEMPLATE_CATEGORY" val="custom"/>
  <p:tag name="KSO_WM_TEMPLATE_INDEX" val="20205081"/>
</p:tagLst>
</file>

<file path=ppt/tags/tag2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232.xml><?xml version="1.0" encoding="utf-8"?>
<p:tagLst xmlns:p="http://schemas.openxmlformats.org/presentationml/2006/main">
  <p:tag name="KSO_WM_BEAUTIFY_FLAG" val="#wm#"/>
  <p:tag name="KSO_WM_TEMPLATE_CATEGORY" val="custom"/>
  <p:tag name="KSO_WM_TEMPLATE_INDEX" val="20205081"/>
</p:tagLst>
</file>

<file path=ppt/tags/tag2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34.xml><?xml version="1.0" encoding="utf-8"?>
<p:tagLst xmlns:p="http://schemas.openxmlformats.org/presentationml/2006/main">
  <p:tag name="KSO_WM_BEAUTIFY_FLAG" val="#wm#"/>
  <p:tag name="KSO_WM_TEMPLATE_CATEGORY" val="custom"/>
  <p:tag name="KSO_WM_TEMPLATE_INDEX" val="20205081"/>
</p:tagLst>
</file>

<file path=ppt/tags/tag2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36.xml><?xml version="1.0" encoding="utf-8"?>
<p:tagLst xmlns:p="http://schemas.openxmlformats.org/presentationml/2006/main">
  <p:tag name="KSO_WM_BEAUTIFY_FLAG" val="#wm#"/>
  <p:tag name="KSO_WM_TEMPLATE_CATEGORY" val="custom"/>
  <p:tag name="KSO_WM_TEMPLATE_INDEX" val="20205081"/>
</p:tagLst>
</file>

<file path=ppt/tags/tag2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38.xml><?xml version="1.0" encoding="utf-8"?>
<p:tagLst xmlns:p="http://schemas.openxmlformats.org/presentationml/2006/main">
  <p:tag name="KSO_WM_BEAUTIFY_FLAG" val="#wm#"/>
  <p:tag name="KSO_WM_TEMPLATE_CATEGORY" val="custom"/>
  <p:tag name="KSO_WM_TEMPLATE_INDEX" val="20205081"/>
</p:tagLst>
</file>

<file path=ppt/tags/tag239.xml><?xml version="1.0" encoding="utf-8"?>
<p:tagLst xmlns:p="http://schemas.openxmlformats.org/presentationml/2006/main">
  <p:tag name="KSO_WM_BEAUTIFY_FLAG" val="#wm#"/>
  <p:tag name="KSO_WM_TEMPLATE_CATEGORY" val="custom"/>
  <p:tag name="KSO_WM_TEMPLATE_INDEX" val="20205081"/>
  <p:tag name="KSO_WM_AICARD_INVALID" val="Invalid"/>
</p:tagLst>
</file>

<file path=ppt/tags/tag240.xml><?xml version="1.0" encoding="utf-8"?>
<p:tagLst xmlns:p="http://schemas.openxmlformats.org/presentationml/2006/main">
  <p:tag name="KSO_WM_BEAUTIFY_FLAG" val="#wm#"/>
  <p:tag name="KSO_WM_TEMPLATE_CATEGORY" val="custom"/>
  <p:tag name="KSO_WM_TEMPLATE_INDEX" val="20205081"/>
  <p:tag name="KSO_WM_AICARD_INVALID" val="Invalid"/>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12444</Words>
  <Application>WPS Presentation</Application>
  <PresentationFormat>Widescreen</PresentationFormat>
  <Paragraphs>309</Paragraphs>
  <Slides>63</Slides>
  <Notes>0</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63</vt:i4>
      </vt:variant>
    </vt:vector>
  </HeadingPairs>
  <TitlesOfParts>
    <vt:vector size="73" baseType="lpstr">
      <vt:lpstr>Arial</vt:lpstr>
      <vt:lpstr>SimSun</vt:lpstr>
      <vt:lpstr>Wingdings</vt:lpstr>
      <vt:lpstr>Wingdings</vt:lpstr>
      <vt:lpstr>Cambria</vt:lpstr>
      <vt:lpstr>Microsoft YaHei</vt:lpstr>
      <vt:lpstr>Arial Unicode MS</vt:lpstr>
      <vt:lpstr>Calibri</vt:lpstr>
      <vt:lpstr>WPS</vt:lpstr>
      <vt:lpstr>1_WPS</vt:lpstr>
      <vt:lpstr>PowerPoint 演示文稿</vt:lpstr>
      <vt:lpstr>PowerPoint 演示文稿</vt:lpstr>
      <vt:lpstr>ER-Diagram</vt:lpstr>
      <vt:lpstr>PowerPoint 演示文稿</vt:lpstr>
      <vt:lpstr>Table 1: Airlines</vt:lpstr>
      <vt:lpstr>Table 2: Airports</vt:lpstr>
      <vt:lpstr>Table 3: Flights</vt:lpstr>
      <vt:lpstr>Table 4: Passengers</vt:lpstr>
      <vt:lpstr>Table 5: Tickets</vt:lpstr>
      <vt:lpstr>Table 6: Crew</vt:lpstr>
      <vt:lpstr>Table 7: Fight_Status</vt:lpstr>
      <vt:lpstr>Table 8: Delays</vt:lpstr>
      <vt:lpstr>Table 9: Payments</vt:lpstr>
      <vt:lpstr>Table 10: Baggage</vt:lpstr>
      <vt:lpstr>PowerPoint 演示文稿</vt:lpstr>
      <vt:lpstr>Table 1: Airlines</vt:lpstr>
      <vt:lpstr>Table 2: Airports</vt:lpstr>
      <vt:lpstr>Table 3: Flights</vt:lpstr>
      <vt:lpstr>Table 4: Passengers</vt:lpstr>
      <vt:lpstr>Table 5: Tickets</vt:lpstr>
      <vt:lpstr>Table 6: Crew</vt:lpstr>
      <vt:lpstr>Table 7: Fight_Status</vt:lpstr>
      <vt:lpstr>Table 8: Delays</vt:lpstr>
      <vt:lpstr>Table 9: Payments</vt:lpstr>
      <vt:lpstr>Table 10: Baggage</vt:lpstr>
      <vt:lpstr>PowerPoint 演示文稿</vt:lpstr>
      <vt:lpstr>SELECT CLAUSE</vt:lpstr>
      <vt:lpstr>SELECT CLAUSE</vt:lpstr>
      <vt:lpstr>WHERE CLAUSE</vt:lpstr>
      <vt:lpstr>ORDER BY CLAUSE</vt:lpstr>
      <vt:lpstr>ORDER BY CLAUSE</vt:lpstr>
      <vt:lpstr>LIMIT CLAUSE</vt:lpstr>
      <vt:lpstr>DISTINCT CLAUSE</vt:lpstr>
      <vt:lpstr>LIKE CLAUSE</vt:lpstr>
      <vt:lpstr>BETWEEN CLAUSE</vt:lpstr>
      <vt:lpstr>IN CLAUSE</vt:lpstr>
      <vt:lpstr>HAVING CLAUSE</vt:lpstr>
      <vt:lpstr>PowerPoint 演示文稿</vt:lpstr>
      <vt:lpstr>COUNT &amp; SUM FUNCTION</vt:lpstr>
      <vt:lpstr>AVERAGE FUNCTION</vt:lpstr>
      <vt:lpstr>MIN &amp; MAX FUNCTION</vt:lpstr>
      <vt:lpstr> FUNCTIONS WITH CLAUSES</vt:lpstr>
      <vt:lpstr>PowerPoint 演示文稿</vt:lpstr>
      <vt:lpstr>ROW_NUMBER</vt:lpstr>
      <vt:lpstr>RANK</vt:lpstr>
      <vt:lpstr>DENSE_RANK</vt:lpstr>
      <vt:lpstr>PowerPoint 演示文稿</vt:lpstr>
      <vt:lpstr>INNER JOIN</vt:lpstr>
      <vt:lpstr>JOIN</vt:lpstr>
      <vt:lpstr>LEFT JOIN</vt:lpstr>
      <vt:lpstr>RIGHT JOIN</vt:lpstr>
      <vt:lpstr>INNER JOIN + GROUP BY</vt:lpstr>
      <vt:lpstr>PowerPoint 演示文稿</vt:lpstr>
      <vt:lpstr>SUBQUERY 1</vt:lpstr>
      <vt:lpstr>SUBQUERY 2 &amp; SUBQUERY 3</vt:lpstr>
      <vt:lpstr>SUBQUERY 4</vt:lpstr>
      <vt:lpstr>SUBQUERY 5</vt:lpstr>
      <vt:lpstr>PowerPoint 演示文稿</vt:lpstr>
      <vt:lpstr>VIEW 1</vt:lpstr>
      <vt:lpstr>VIEW 2</vt:lpstr>
      <vt:lpstr>VIEW 3</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Blank Presentation</dc:title>
  <dc:creator>X260</dc:creator>
  <cp:lastModifiedBy>Prashant Khare</cp:lastModifiedBy>
  <cp:revision>14</cp:revision>
  <dcterms:created xsi:type="dcterms:W3CDTF">2026-07-30T15:45:00Z</dcterms:created>
  <dcterms:modified xsi:type="dcterms:W3CDTF">2026-09-07T06:51:14Z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01D53DEBF3C94290BE4ABAFCB60C654D_11</vt:lpwstr>
  </property>
</Properties>
</file>